
<file path=[Content_Types].xml><?xml version="1.0" encoding="utf-8"?>
<Types xmlns="http://schemas.openxmlformats.org/package/2006/content-types">
  <Default Extension="emf" ContentType="image/x-emf"/>
  <Default Extension="jfif" ContentType="image/jpeg"/>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59"/>
  </p:notesMasterIdLst>
  <p:sldIdLst>
    <p:sldId id="315" r:id="rId5"/>
    <p:sldId id="471" r:id="rId6"/>
    <p:sldId id="473" r:id="rId7"/>
    <p:sldId id="445" r:id="rId8"/>
    <p:sldId id="447" r:id="rId9"/>
    <p:sldId id="455" r:id="rId10"/>
    <p:sldId id="483" r:id="rId11"/>
    <p:sldId id="484" r:id="rId12"/>
    <p:sldId id="485" r:id="rId13"/>
    <p:sldId id="501" r:id="rId14"/>
    <p:sldId id="502" r:id="rId15"/>
    <p:sldId id="500" r:id="rId16"/>
    <p:sldId id="457" r:id="rId17"/>
    <p:sldId id="459" r:id="rId18"/>
    <p:sldId id="465" r:id="rId19"/>
    <p:sldId id="466" r:id="rId20"/>
    <p:sldId id="467" r:id="rId21"/>
    <p:sldId id="468" r:id="rId22"/>
    <p:sldId id="469" r:id="rId23"/>
    <p:sldId id="477" r:id="rId24"/>
    <p:sldId id="478" r:id="rId25"/>
    <p:sldId id="479" r:id="rId26"/>
    <p:sldId id="449" r:id="rId27"/>
    <p:sldId id="451" r:id="rId28"/>
    <p:sldId id="453" r:id="rId29"/>
    <p:sldId id="489" r:id="rId30"/>
    <p:sldId id="521" r:id="rId31"/>
    <p:sldId id="522" r:id="rId32"/>
    <p:sldId id="523" r:id="rId33"/>
    <p:sldId id="524" r:id="rId34"/>
    <p:sldId id="525" r:id="rId35"/>
    <p:sldId id="526" r:id="rId36"/>
    <p:sldId id="527" r:id="rId37"/>
    <p:sldId id="528" r:id="rId38"/>
    <p:sldId id="513" r:id="rId39"/>
    <p:sldId id="514" r:id="rId40"/>
    <p:sldId id="515" r:id="rId41"/>
    <p:sldId id="516" r:id="rId42"/>
    <p:sldId id="517" r:id="rId43"/>
    <p:sldId id="435" r:id="rId44"/>
    <p:sldId id="519" r:id="rId45"/>
    <p:sldId id="520" r:id="rId46"/>
    <p:sldId id="518" r:id="rId47"/>
    <p:sldId id="438" r:id="rId48"/>
    <p:sldId id="436" r:id="rId49"/>
    <p:sldId id="437" r:id="rId50"/>
    <p:sldId id="439" r:id="rId51"/>
    <p:sldId id="440" r:id="rId52"/>
    <p:sldId id="441" r:id="rId53"/>
    <p:sldId id="442" r:id="rId54"/>
    <p:sldId id="353" r:id="rId55"/>
    <p:sldId id="486" r:id="rId56"/>
    <p:sldId id="499" r:id="rId57"/>
    <p:sldId id="347" r:id="rId58"/>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p:defaultTextStyle>
  <p:extLst>
    <p:ext uri="{EFAFB233-063F-42B5-8137-9DF3F51BA10A}">
      <p15:sldGuideLst xmlns:p15="http://schemas.microsoft.com/office/powerpoint/2012/main">
        <p15:guide id="1" pos="7401">
          <p15:clr>
            <a:srgbClr val="A4A3A4"/>
          </p15:clr>
        </p15:guide>
        <p15:guide id="2" orient="horz" pos="41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a Radini" initials="RR" lastIdx="1" clrIdx="0">
    <p:extLst>
      <p:ext uri="{19B8F6BF-5375-455C-9EA6-DF929625EA0E}">
        <p15:presenceInfo xmlns:p15="http://schemas.microsoft.com/office/powerpoint/2012/main" userId="S::radini@istat.it::7d25cf42-785d-4e77-b32e-cb8e020b9c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2A2A"/>
    <a:srgbClr val="199CFF"/>
    <a:srgbClr val="0CE4CF"/>
    <a:srgbClr val="79FFB6"/>
    <a:srgbClr val="2BF57D"/>
    <a:srgbClr val="7B7C7E"/>
    <a:srgbClr val="932338"/>
    <a:srgbClr val="6364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Stile chiaro 2 - Colore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Stile chiaro 2 - Colore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Stile 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Stile chi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9" autoAdjust="0"/>
    <p:restoredTop sz="80759" autoAdjust="0"/>
  </p:normalViewPr>
  <p:slideViewPr>
    <p:cSldViewPr snapToGrid="0" showGuides="1">
      <p:cViewPr varScale="1">
        <p:scale>
          <a:sx n="88" d="100"/>
          <a:sy n="88" d="100"/>
        </p:scale>
        <p:origin x="1008" y="84"/>
      </p:cViewPr>
      <p:guideLst>
        <p:guide pos="7401"/>
        <p:guide orient="horz" pos="4178"/>
      </p:guideLst>
    </p:cSldViewPr>
  </p:slideViewPr>
  <p:outlineViewPr>
    <p:cViewPr>
      <p:scale>
        <a:sx n="33" d="100"/>
        <a:sy n="33" d="100"/>
      </p:scale>
      <p:origin x="0" y="0"/>
    </p:cViewPr>
  </p:outlineViewPr>
  <p:notesTextViewPr>
    <p:cViewPr>
      <p:scale>
        <a:sx n="1" d="1"/>
        <a:sy n="1" d="1"/>
      </p:scale>
      <p:origin x="0" y="0"/>
    </p:cViewPr>
  </p:notesTextViewPr>
  <p:gridSpacing cx="54000" cy="540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1EB9E31-9469-4894-88D3-0429EFEF1A3B}"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it-IT"/>
        </a:p>
      </dgm:t>
    </dgm:pt>
    <dgm:pt modelId="{C72BB470-A99F-46AB-88F2-0CC689DDF926}">
      <dgm:prSet phldrT="[Testo]" custT="1"/>
      <dgm:spPr>
        <a:solidFill>
          <a:schemeClr val="tx1">
            <a:lumMod val="65000"/>
            <a:lumOff val="35000"/>
          </a:schemeClr>
        </a:solidFill>
      </dgm:spPr>
      <dgm:t>
        <a:bodyPr/>
        <a:lstStyle/>
        <a:p>
          <a:r>
            <a:rPr lang="it-IT" sz="1200" b="1" dirty="0"/>
            <a:t>GPU</a:t>
          </a:r>
          <a:endParaRPr lang="it-IT" sz="1400" b="1" dirty="0"/>
        </a:p>
      </dgm:t>
    </dgm:pt>
    <dgm:pt modelId="{9346A62D-7047-482F-ADFC-EF7791FB9666}" type="parTrans" cxnId="{FFC8536E-1181-4F6E-A732-A723EB897D99}">
      <dgm:prSet/>
      <dgm:spPr/>
      <dgm:t>
        <a:bodyPr/>
        <a:lstStyle/>
        <a:p>
          <a:endParaRPr lang="it-IT"/>
        </a:p>
      </dgm:t>
    </dgm:pt>
    <dgm:pt modelId="{27314EA5-2B81-4C0F-83E0-05AFDE4E3574}" type="sibTrans" cxnId="{FFC8536E-1181-4F6E-A732-A723EB897D99}">
      <dgm:prSet/>
      <dgm:spPr/>
      <dgm:t>
        <a:bodyPr/>
        <a:lstStyle/>
        <a:p>
          <a:endParaRPr lang="it-IT"/>
        </a:p>
      </dgm:t>
    </dgm:pt>
    <dgm:pt modelId="{E3BA5F4E-E8CE-4666-AEDE-413B0154BE21}">
      <dgm:prSet phldrT="[Testo]" custT="1"/>
      <dgm:spPr/>
      <dgm:t>
        <a:bodyPr/>
        <a:lstStyle/>
        <a:p>
          <a:r>
            <a:rPr lang="en-US" sz="1200" b="1" dirty="0"/>
            <a:t>The advent of GPUs makes possible the training of very large neural networks with even more than 150 millions of parameters. </a:t>
          </a:r>
          <a:endParaRPr lang="it-IT" sz="1200" b="1" dirty="0"/>
        </a:p>
      </dgm:t>
    </dgm:pt>
    <dgm:pt modelId="{AEAD0E30-03D2-40C2-BBF1-8A5C727D9DDD}" type="parTrans" cxnId="{D9C351ED-C418-4FB0-BA1B-FF8EE9ED0BE4}">
      <dgm:prSet/>
      <dgm:spPr/>
      <dgm:t>
        <a:bodyPr/>
        <a:lstStyle/>
        <a:p>
          <a:endParaRPr lang="it-IT"/>
        </a:p>
      </dgm:t>
    </dgm:pt>
    <dgm:pt modelId="{6F0D53B5-D5AC-4D1B-9840-18C12B47AAFD}" type="sibTrans" cxnId="{D9C351ED-C418-4FB0-BA1B-FF8EE9ED0BE4}">
      <dgm:prSet/>
      <dgm:spPr/>
      <dgm:t>
        <a:bodyPr/>
        <a:lstStyle/>
        <a:p>
          <a:endParaRPr lang="it-IT"/>
        </a:p>
      </dgm:t>
    </dgm:pt>
    <dgm:pt modelId="{A9857E8F-5400-4781-9E3E-3AB5FDB0DEC3}">
      <dgm:prSet phldrT="[Testo]" custT="1"/>
      <dgm:spPr>
        <a:solidFill>
          <a:schemeClr val="tx1">
            <a:lumMod val="65000"/>
            <a:lumOff val="35000"/>
          </a:schemeClr>
        </a:solidFill>
      </dgm:spPr>
      <dgm:t>
        <a:bodyPr/>
        <a:lstStyle/>
        <a:p>
          <a:r>
            <a:rPr lang="it-IT" sz="1200" b="1" dirty="0"/>
            <a:t>BIG </a:t>
          </a:r>
        </a:p>
        <a:p>
          <a:r>
            <a:rPr lang="it-IT" sz="1200" b="1" dirty="0"/>
            <a:t>DATA</a:t>
          </a:r>
        </a:p>
      </dgm:t>
    </dgm:pt>
    <dgm:pt modelId="{4FCE0F21-E69D-4F21-8B29-C3D9DB05C911}" type="parTrans" cxnId="{E1CFAE3B-81D8-4B8F-BB18-6BE60EE07211}">
      <dgm:prSet/>
      <dgm:spPr/>
      <dgm:t>
        <a:bodyPr/>
        <a:lstStyle/>
        <a:p>
          <a:endParaRPr lang="it-IT"/>
        </a:p>
      </dgm:t>
    </dgm:pt>
    <dgm:pt modelId="{F26E9C3F-8EAE-4B63-A623-EF03159620DD}" type="sibTrans" cxnId="{E1CFAE3B-81D8-4B8F-BB18-6BE60EE07211}">
      <dgm:prSet/>
      <dgm:spPr/>
      <dgm:t>
        <a:bodyPr/>
        <a:lstStyle/>
        <a:p>
          <a:endParaRPr lang="it-IT"/>
        </a:p>
      </dgm:t>
    </dgm:pt>
    <dgm:pt modelId="{94100253-07B9-438C-BB3C-128D6536D578}">
      <dgm:prSet phldrT="[Testo]" custT="1"/>
      <dgm:spPr/>
      <dgm:t>
        <a:bodyPr/>
        <a:lstStyle/>
        <a:p>
          <a:r>
            <a:rPr lang="en-US" sz="1200" b="1" dirty="0"/>
            <a:t>A new generation </a:t>
          </a:r>
          <a:r>
            <a:rPr lang="en-GB" sz="1200" b="1" dirty="0"/>
            <a:t>of larger training and test sets.</a:t>
          </a:r>
          <a:endParaRPr lang="it-IT" sz="1200" b="1" dirty="0"/>
        </a:p>
      </dgm:t>
    </dgm:pt>
    <dgm:pt modelId="{DD752A52-1907-4BEF-9377-854375FFECC1}" type="parTrans" cxnId="{A877294A-F841-47BC-90B4-FA9DF2C32819}">
      <dgm:prSet/>
      <dgm:spPr/>
      <dgm:t>
        <a:bodyPr/>
        <a:lstStyle/>
        <a:p>
          <a:endParaRPr lang="it-IT"/>
        </a:p>
      </dgm:t>
    </dgm:pt>
    <dgm:pt modelId="{3BDBC16C-8106-4A86-BA44-2CDD1B37254D}" type="sibTrans" cxnId="{A877294A-F841-47BC-90B4-FA9DF2C32819}">
      <dgm:prSet/>
      <dgm:spPr/>
      <dgm:t>
        <a:bodyPr/>
        <a:lstStyle/>
        <a:p>
          <a:endParaRPr lang="it-IT"/>
        </a:p>
      </dgm:t>
    </dgm:pt>
    <dgm:pt modelId="{783A5FA0-797E-4B60-A818-A5816D981125}">
      <dgm:prSet phldrT="[Testo]" custT="1"/>
      <dgm:spPr>
        <a:solidFill>
          <a:schemeClr val="tx1">
            <a:lumMod val="65000"/>
            <a:lumOff val="35000"/>
          </a:schemeClr>
        </a:solidFill>
      </dgm:spPr>
      <dgm:t>
        <a:bodyPr/>
        <a:lstStyle/>
        <a:p>
          <a:r>
            <a:rPr lang="it-IT" sz="1200" b="1" dirty="0"/>
            <a:t>DROPOUT</a:t>
          </a:r>
          <a:endParaRPr lang="it-IT" sz="1600" b="1" dirty="0"/>
        </a:p>
      </dgm:t>
    </dgm:pt>
    <dgm:pt modelId="{7F2B155B-459D-430E-9B20-3EB31F274ADB}" type="parTrans" cxnId="{FF6C0F8A-3520-40FF-906C-3316ED8E57F1}">
      <dgm:prSet/>
      <dgm:spPr/>
      <dgm:t>
        <a:bodyPr/>
        <a:lstStyle/>
        <a:p>
          <a:endParaRPr lang="it-IT"/>
        </a:p>
      </dgm:t>
    </dgm:pt>
    <dgm:pt modelId="{9652F025-3282-4317-A5CC-CB2B49B6C576}" type="sibTrans" cxnId="{FF6C0F8A-3520-40FF-906C-3316ED8E57F1}">
      <dgm:prSet/>
      <dgm:spPr/>
      <dgm:t>
        <a:bodyPr/>
        <a:lstStyle/>
        <a:p>
          <a:endParaRPr lang="it-IT"/>
        </a:p>
      </dgm:t>
    </dgm:pt>
    <dgm:pt modelId="{8AF22C03-B7F5-4635-B392-2ACEBB59CF03}">
      <dgm:prSet phldrT="[Testo]" custT="1"/>
      <dgm:spPr/>
      <dgm:t>
        <a:bodyPr/>
        <a:lstStyle/>
        <a:p>
          <a:r>
            <a:rPr lang="en-US" sz="1200" b="1" dirty="0"/>
            <a:t>Better model regularization techniques have been discovered </a:t>
          </a:r>
          <a:r>
            <a:rPr lang="en-GB" sz="1200" b="1" dirty="0"/>
            <a:t>such as </a:t>
          </a:r>
          <a:r>
            <a:rPr lang="en-GB" sz="1200" b="1" i="1" dirty="0"/>
            <a:t>“Dropout”</a:t>
          </a:r>
          <a:r>
            <a:rPr lang="en-GB" sz="1200" b="1" dirty="0"/>
            <a:t>  or </a:t>
          </a:r>
          <a:r>
            <a:rPr lang="en-GB" sz="1200" b="1" i="1" dirty="0"/>
            <a:t>“Data Augmentation”</a:t>
          </a:r>
          <a:endParaRPr lang="it-IT" sz="1200" b="1" dirty="0"/>
        </a:p>
      </dgm:t>
    </dgm:pt>
    <dgm:pt modelId="{8EFD1501-89A0-4048-9241-CDC26D4E998C}" type="parTrans" cxnId="{7B378649-4722-4B37-9456-458FE38553BC}">
      <dgm:prSet/>
      <dgm:spPr/>
      <dgm:t>
        <a:bodyPr/>
        <a:lstStyle/>
        <a:p>
          <a:endParaRPr lang="it-IT"/>
        </a:p>
      </dgm:t>
    </dgm:pt>
    <dgm:pt modelId="{90068042-0212-431F-8BD8-C26952A272EB}" type="sibTrans" cxnId="{7B378649-4722-4B37-9456-458FE38553BC}">
      <dgm:prSet/>
      <dgm:spPr/>
      <dgm:t>
        <a:bodyPr/>
        <a:lstStyle/>
        <a:p>
          <a:endParaRPr lang="it-IT"/>
        </a:p>
      </dgm:t>
    </dgm:pt>
    <dgm:pt modelId="{9E3EB476-9587-4897-80F4-D259676B0014}" type="pres">
      <dgm:prSet presAssocID="{81EB9E31-9469-4894-88D3-0429EFEF1A3B}" presName="linearFlow" presStyleCnt="0">
        <dgm:presLayoutVars>
          <dgm:dir/>
          <dgm:animLvl val="lvl"/>
          <dgm:resizeHandles val="exact"/>
        </dgm:presLayoutVars>
      </dgm:prSet>
      <dgm:spPr/>
    </dgm:pt>
    <dgm:pt modelId="{E3D3A775-5D43-4D1E-8F03-F84DA478EFF3}" type="pres">
      <dgm:prSet presAssocID="{C72BB470-A99F-46AB-88F2-0CC689DDF926}" presName="composite" presStyleCnt="0"/>
      <dgm:spPr/>
    </dgm:pt>
    <dgm:pt modelId="{B2CBE468-7921-4D43-88D8-BA6C758E059C}" type="pres">
      <dgm:prSet presAssocID="{C72BB470-A99F-46AB-88F2-0CC689DDF926}" presName="parentText" presStyleLbl="alignNode1" presStyleIdx="0" presStyleCnt="3">
        <dgm:presLayoutVars>
          <dgm:chMax val="1"/>
          <dgm:bulletEnabled val="1"/>
        </dgm:presLayoutVars>
      </dgm:prSet>
      <dgm:spPr/>
    </dgm:pt>
    <dgm:pt modelId="{4C27F3E0-4825-450C-A7A8-2947A93D95A5}" type="pres">
      <dgm:prSet presAssocID="{C72BB470-A99F-46AB-88F2-0CC689DDF926}" presName="descendantText" presStyleLbl="alignAcc1" presStyleIdx="0" presStyleCnt="3">
        <dgm:presLayoutVars>
          <dgm:bulletEnabled val="1"/>
        </dgm:presLayoutVars>
      </dgm:prSet>
      <dgm:spPr/>
    </dgm:pt>
    <dgm:pt modelId="{2A669A46-ACFC-4FC8-950A-7FEF4AC56247}" type="pres">
      <dgm:prSet presAssocID="{27314EA5-2B81-4C0F-83E0-05AFDE4E3574}" presName="sp" presStyleCnt="0"/>
      <dgm:spPr/>
    </dgm:pt>
    <dgm:pt modelId="{91D8B875-30B0-4D0E-A4B1-10A2DEDAD6E0}" type="pres">
      <dgm:prSet presAssocID="{A9857E8F-5400-4781-9E3E-3AB5FDB0DEC3}" presName="composite" presStyleCnt="0"/>
      <dgm:spPr/>
    </dgm:pt>
    <dgm:pt modelId="{EFF8265E-9F5F-42E1-9460-0C41B00A73C0}" type="pres">
      <dgm:prSet presAssocID="{A9857E8F-5400-4781-9E3E-3AB5FDB0DEC3}" presName="parentText" presStyleLbl="alignNode1" presStyleIdx="1" presStyleCnt="3" custLinFactNeighborY="-722">
        <dgm:presLayoutVars>
          <dgm:chMax val="1"/>
          <dgm:bulletEnabled val="1"/>
        </dgm:presLayoutVars>
      </dgm:prSet>
      <dgm:spPr/>
    </dgm:pt>
    <dgm:pt modelId="{A794BD79-3BCA-4E41-8D5D-9344D65E9136}" type="pres">
      <dgm:prSet presAssocID="{A9857E8F-5400-4781-9E3E-3AB5FDB0DEC3}" presName="descendantText" presStyleLbl="alignAcc1" presStyleIdx="1" presStyleCnt="3">
        <dgm:presLayoutVars>
          <dgm:bulletEnabled val="1"/>
        </dgm:presLayoutVars>
      </dgm:prSet>
      <dgm:spPr/>
    </dgm:pt>
    <dgm:pt modelId="{EC2E3BB8-A6CD-4BC7-ACC0-A79839A36148}" type="pres">
      <dgm:prSet presAssocID="{F26E9C3F-8EAE-4B63-A623-EF03159620DD}" presName="sp" presStyleCnt="0"/>
      <dgm:spPr/>
    </dgm:pt>
    <dgm:pt modelId="{10A6CA25-FFB9-433F-8A08-ECD4D578F502}" type="pres">
      <dgm:prSet presAssocID="{783A5FA0-797E-4B60-A818-A5816D981125}" presName="composite" presStyleCnt="0"/>
      <dgm:spPr/>
    </dgm:pt>
    <dgm:pt modelId="{F63296C1-0788-445F-9A33-4D1DAC2E7CD7}" type="pres">
      <dgm:prSet presAssocID="{783A5FA0-797E-4B60-A818-A5816D981125}" presName="parentText" presStyleLbl="alignNode1" presStyleIdx="2" presStyleCnt="3">
        <dgm:presLayoutVars>
          <dgm:chMax val="1"/>
          <dgm:bulletEnabled val="1"/>
        </dgm:presLayoutVars>
      </dgm:prSet>
      <dgm:spPr/>
    </dgm:pt>
    <dgm:pt modelId="{1FB6035A-B0A2-43D0-A23B-42AE243EB73D}" type="pres">
      <dgm:prSet presAssocID="{783A5FA0-797E-4B60-A818-A5816D981125}" presName="descendantText" presStyleLbl="alignAcc1" presStyleIdx="2" presStyleCnt="3" custLinFactNeighborY="3026">
        <dgm:presLayoutVars>
          <dgm:bulletEnabled val="1"/>
        </dgm:presLayoutVars>
      </dgm:prSet>
      <dgm:spPr/>
    </dgm:pt>
  </dgm:ptLst>
  <dgm:cxnLst>
    <dgm:cxn modelId="{664EAF36-F92A-45A9-8FEC-900E2060F3F6}" type="presOf" srcId="{81EB9E31-9469-4894-88D3-0429EFEF1A3B}" destId="{9E3EB476-9587-4897-80F4-D259676B0014}" srcOrd="0" destOrd="0" presId="urn:microsoft.com/office/officeart/2005/8/layout/chevron2"/>
    <dgm:cxn modelId="{E1CFAE3B-81D8-4B8F-BB18-6BE60EE07211}" srcId="{81EB9E31-9469-4894-88D3-0429EFEF1A3B}" destId="{A9857E8F-5400-4781-9E3E-3AB5FDB0DEC3}" srcOrd="1" destOrd="0" parTransId="{4FCE0F21-E69D-4F21-8B29-C3D9DB05C911}" sibTransId="{F26E9C3F-8EAE-4B63-A623-EF03159620DD}"/>
    <dgm:cxn modelId="{D91C5263-0A8E-45CD-B51C-5004056FFB3B}" type="presOf" srcId="{783A5FA0-797E-4B60-A818-A5816D981125}" destId="{F63296C1-0788-445F-9A33-4D1DAC2E7CD7}" srcOrd="0" destOrd="0" presId="urn:microsoft.com/office/officeart/2005/8/layout/chevron2"/>
    <dgm:cxn modelId="{7B378649-4722-4B37-9456-458FE38553BC}" srcId="{783A5FA0-797E-4B60-A818-A5816D981125}" destId="{8AF22C03-B7F5-4635-B392-2ACEBB59CF03}" srcOrd="0" destOrd="0" parTransId="{8EFD1501-89A0-4048-9241-CDC26D4E998C}" sibTransId="{90068042-0212-431F-8BD8-C26952A272EB}"/>
    <dgm:cxn modelId="{A877294A-F841-47BC-90B4-FA9DF2C32819}" srcId="{A9857E8F-5400-4781-9E3E-3AB5FDB0DEC3}" destId="{94100253-07B9-438C-BB3C-128D6536D578}" srcOrd="0" destOrd="0" parTransId="{DD752A52-1907-4BEF-9377-854375FFECC1}" sibTransId="{3BDBC16C-8106-4A86-BA44-2CDD1B37254D}"/>
    <dgm:cxn modelId="{FFC8536E-1181-4F6E-A732-A723EB897D99}" srcId="{81EB9E31-9469-4894-88D3-0429EFEF1A3B}" destId="{C72BB470-A99F-46AB-88F2-0CC689DDF926}" srcOrd="0" destOrd="0" parTransId="{9346A62D-7047-482F-ADFC-EF7791FB9666}" sibTransId="{27314EA5-2B81-4C0F-83E0-05AFDE4E3574}"/>
    <dgm:cxn modelId="{FF6C0F8A-3520-40FF-906C-3316ED8E57F1}" srcId="{81EB9E31-9469-4894-88D3-0429EFEF1A3B}" destId="{783A5FA0-797E-4B60-A818-A5816D981125}" srcOrd="2" destOrd="0" parTransId="{7F2B155B-459D-430E-9B20-3EB31F274ADB}" sibTransId="{9652F025-3282-4317-A5CC-CB2B49B6C576}"/>
    <dgm:cxn modelId="{AD20398C-28ED-41F3-B984-3C437E1C25FF}" type="presOf" srcId="{C72BB470-A99F-46AB-88F2-0CC689DDF926}" destId="{B2CBE468-7921-4D43-88D8-BA6C758E059C}" srcOrd="0" destOrd="0" presId="urn:microsoft.com/office/officeart/2005/8/layout/chevron2"/>
    <dgm:cxn modelId="{AB8BD291-8999-4EAA-9242-E441B78B80C2}" type="presOf" srcId="{8AF22C03-B7F5-4635-B392-2ACEBB59CF03}" destId="{1FB6035A-B0A2-43D0-A23B-42AE243EB73D}" srcOrd="0" destOrd="0" presId="urn:microsoft.com/office/officeart/2005/8/layout/chevron2"/>
    <dgm:cxn modelId="{CFCEF091-6AC5-4DCE-AFBD-501F24566394}" type="presOf" srcId="{94100253-07B9-438C-BB3C-128D6536D578}" destId="{A794BD79-3BCA-4E41-8D5D-9344D65E9136}" srcOrd="0" destOrd="0" presId="urn:microsoft.com/office/officeart/2005/8/layout/chevron2"/>
    <dgm:cxn modelId="{2E400ADA-A9F9-4422-9575-458179C1FA32}" type="presOf" srcId="{E3BA5F4E-E8CE-4666-AEDE-413B0154BE21}" destId="{4C27F3E0-4825-450C-A7A8-2947A93D95A5}" srcOrd="0" destOrd="0" presId="urn:microsoft.com/office/officeart/2005/8/layout/chevron2"/>
    <dgm:cxn modelId="{493A69DE-BBAF-4E24-9A6B-FC148A9DF0E0}" type="presOf" srcId="{A9857E8F-5400-4781-9E3E-3AB5FDB0DEC3}" destId="{EFF8265E-9F5F-42E1-9460-0C41B00A73C0}" srcOrd="0" destOrd="0" presId="urn:microsoft.com/office/officeart/2005/8/layout/chevron2"/>
    <dgm:cxn modelId="{D9C351ED-C418-4FB0-BA1B-FF8EE9ED0BE4}" srcId="{C72BB470-A99F-46AB-88F2-0CC689DDF926}" destId="{E3BA5F4E-E8CE-4666-AEDE-413B0154BE21}" srcOrd="0" destOrd="0" parTransId="{AEAD0E30-03D2-40C2-BBF1-8A5C727D9DDD}" sibTransId="{6F0D53B5-D5AC-4D1B-9840-18C12B47AAFD}"/>
    <dgm:cxn modelId="{CAAEB033-6790-4976-B7BC-4D38AA400F7B}" type="presParOf" srcId="{9E3EB476-9587-4897-80F4-D259676B0014}" destId="{E3D3A775-5D43-4D1E-8F03-F84DA478EFF3}" srcOrd="0" destOrd="0" presId="urn:microsoft.com/office/officeart/2005/8/layout/chevron2"/>
    <dgm:cxn modelId="{D3D0DA23-4DDA-4FF6-A88B-83A96AA185C2}" type="presParOf" srcId="{E3D3A775-5D43-4D1E-8F03-F84DA478EFF3}" destId="{B2CBE468-7921-4D43-88D8-BA6C758E059C}" srcOrd="0" destOrd="0" presId="urn:microsoft.com/office/officeart/2005/8/layout/chevron2"/>
    <dgm:cxn modelId="{D573F1E2-A9D1-4C2C-B5D7-18302C76B6EB}" type="presParOf" srcId="{E3D3A775-5D43-4D1E-8F03-F84DA478EFF3}" destId="{4C27F3E0-4825-450C-A7A8-2947A93D95A5}" srcOrd="1" destOrd="0" presId="urn:microsoft.com/office/officeart/2005/8/layout/chevron2"/>
    <dgm:cxn modelId="{074001B0-7933-40CB-AF3C-93A1A4ED700E}" type="presParOf" srcId="{9E3EB476-9587-4897-80F4-D259676B0014}" destId="{2A669A46-ACFC-4FC8-950A-7FEF4AC56247}" srcOrd="1" destOrd="0" presId="urn:microsoft.com/office/officeart/2005/8/layout/chevron2"/>
    <dgm:cxn modelId="{CBB7734F-A0D7-4E3B-8AF2-F0116C053183}" type="presParOf" srcId="{9E3EB476-9587-4897-80F4-D259676B0014}" destId="{91D8B875-30B0-4D0E-A4B1-10A2DEDAD6E0}" srcOrd="2" destOrd="0" presId="urn:microsoft.com/office/officeart/2005/8/layout/chevron2"/>
    <dgm:cxn modelId="{E502D6F5-CAF6-4BAD-977F-022CDB248B32}" type="presParOf" srcId="{91D8B875-30B0-4D0E-A4B1-10A2DEDAD6E0}" destId="{EFF8265E-9F5F-42E1-9460-0C41B00A73C0}" srcOrd="0" destOrd="0" presId="urn:microsoft.com/office/officeart/2005/8/layout/chevron2"/>
    <dgm:cxn modelId="{E99468AE-6EBB-4CA6-98B2-F4ABC3EB66DE}" type="presParOf" srcId="{91D8B875-30B0-4D0E-A4B1-10A2DEDAD6E0}" destId="{A794BD79-3BCA-4E41-8D5D-9344D65E9136}" srcOrd="1" destOrd="0" presId="urn:microsoft.com/office/officeart/2005/8/layout/chevron2"/>
    <dgm:cxn modelId="{0470A17E-06F0-4950-9AEF-F5C4454026A6}" type="presParOf" srcId="{9E3EB476-9587-4897-80F4-D259676B0014}" destId="{EC2E3BB8-A6CD-4BC7-ACC0-A79839A36148}" srcOrd="3" destOrd="0" presId="urn:microsoft.com/office/officeart/2005/8/layout/chevron2"/>
    <dgm:cxn modelId="{34724886-6CA2-4B8E-852E-0A3B007FB10D}" type="presParOf" srcId="{9E3EB476-9587-4897-80F4-D259676B0014}" destId="{10A6CA25-FFB9-433F-8A08-ECD4D578F502}" srcOrd="4" destOrd="0" presId="urn:microsoft.com/office/officeart/2005/8/layout/chevron2"/>
    <dgm:cxn modelId="{289A57BA-41DE-4BAF-9F80-09ED3A136D8C}" type="presParOf" srcId="{10A6CA25-FFB9-433F-8A08-ECD4D578F502}" destId="{F63296C1-0788-445F-9A33-4D1DAC2E7CD7}" srcOrd="0" destOrd="0" presId="urn:microsoft.com/office/officeart/2005/8/layout/chevron2"/>
    <dgm:cxn modelId="{AFB96205-46A8-4CDD-BC30-476060D56738}" type="presParOf" srcId="{10A6CA25-FFB9-433F-8A08-ECD4D578F502}" destId="{1FB6035A-B0A2-43D0-A23B-42AE243EB73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18EB56-4EDB-4D9A-B01D-6F5EF1D3E01D}"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it-IT"/>
        </a:p>
      </dgm:t>
    </dgm:pt>
    <dgm:pt modelId="{DAD6EFDB-7F60-4140-AE1C-08506B47C335}">
      <dgm:prSet phldrT="[Testo]"/>
      <dgm:spPr>
        <a:solidFill>
          <a:schemeClr val="accent3">
            <a:lumMod val="75000"/>
            <a:alpha val="50000"/>
          </a:schemeClr>
        </a:solidFill>
      </dgm:spPr>
      <dgm:t>
        <a:bodyPr/>
        <a:lstStyle/>
        <a:p>
          <a:r>
            <a:rPr lang="it-IT" dirty="0" err="1"/>
            <a:t>Conv</a:t>
          </a:r>
          <a:r>
            <a:rPr lang="it-IT" dirty="0"/>
            <a:t> </a:t>
          </a:r>
          <a:r>
            <a:rPr lang="it-IT" dirty="0" err="1"/>
            <a:t>Nets</a:t>
          </a:r>
          <a:r>
            <a:rPr lang="it-IT" dirty="0"/>
            <a:t> </a:t>
          </a:r>
        </a:p>
      </dgm:t>
    </dgm:pt>
    <dgm:pt modelId="{BCCC5F5A-3A8D-41CE-AF61-7AC85F237EEE}" type="parTrans" cxnId="{29190B7D-041D-41BA-8910-9B64C0FA9462}">
      <dgm:prSet/>
      <dgm:spPr/>
      <dgm:t>
        <a:bodyPr/>
        <a:lstStyle/>
        <a:p>
          <a:endParaRPr lang="it-IT"/>
        </a:p>
      </dgm:t>
    </dgm:pt>
    <dgm:pt modelId="{0E648F4C-C654-4202-A5E7-1C3BE3E5C3A0}" type="sibTrans" cxnId="{29190B7D-041D-41BA-8910-9B64C0FA9462}">
      <dgm:prSet/>
      <dgm:spPr/>
      <dgm:t>
        <a:bodyPr/>
        <a:lstStyle/>
        <a:p>
          <a:endParaRPr lang="it-IT"/>
        </a:p>
      </dgm:t>
    </dgm:pt>
    <dgm:pt modelId="{F8003197-F4F8-4BA8-859B-AC64A60D62B9}">
      <dgm:prSet phldrT="[Testo]" custT="1"/>
      <dgm:spPr>
        <a:solidFill>
          <a:schemeClr val="accent3">
            <a:lumMod val="50000"/>
            <a:alpha val="50000"/>
          </a:schemeClr>
        </a:solidFill>
      </dgm:spPr>
      <dgm:t>
        <a:bodyPr/>
        <a:lstStyle/>
        <a:p>
          <a:r>
            <a:rPr lang="it-IT" sz="1800" b="1" u="sng" dirty="0" err="1"/>
            <a:t>AlexNet</a:t>
          </a:r>
          <a:endParaRPr lang="it-IT" sz="1800" b="1" u="sng" dirty="0"/>
        </a:p>
        <a:p>
          <a:r>
            <a:rPr lang="it-IT" sz="1800" b="1" dirty="0"/>
            <a:t>(2012)</a:t>
          </a:r>
        </a:p>
      </dgm:t>
    </dgm:pt>
    <dgm:pt modelId="{444B14AB-AB6A-44E4-90F4-553527D2F733}" type="parTrans" cxnId="{EC4C3FA8-AF46-4E6D-84C9-353B1DE7B18F}">
      <dgm:prSet/>
      <dgm:spPr/>
      <dgm:t>
        <a:bodyPr/>
        <a:lstStyle/>
        <a:p>
          <a:endParaRPr lang="it-IT"/>
        </a:p>
      </dgm:t>
    </dgm:pt>
    <dgm:pt modelId="{66B05B7D-A342-438F-B1BE-228C0CDA2DDE}" type="sibTrans" cxnId="{EC4C3FA8-AF46-4E6D-84C9-353B1DE7B18F}">
      <dgm:prSet/>
      <dgm:spPr/>
      <dgm:t>
        <a:bodyPr/>
        <a:lstStyle/>
        <a:p>
          <a:endParaRPr lang="it-IT"/>
        </a:p>
      </dgm:t>
    </dgm:pt>
    <dgm:pt modelId="{F51C3870-7236-4755-BED7-171593618349}">
      <dgm:prSet phldrT="[Testo]"/>
      <dgm:spPr>
        <a:solidFill>
          <a:schemeClr val="accent3">
            <a:lumMod val="50000"/>
            <a:alpha val="50000"/>
          </a:schemeClr>
        </a:solidFill>
      </dgm:spPr>
      <dgm:t>
        <a:bodyPr/>
        <a:lstStyle/>
        <a:p>
          <a:r>
            <a:rPr lang="it-IT" b="1" dirty="0" err="1"/>
            <a:t>GoogleNet</a:t>
          </a:r>
          <a:r>
            <a:rPr lang="it-IT" b="1" dirty="0"/>
            <a:t> (2014)</a:t>
          </a:r>
        </a:p>
      </dgm:t>
    </dgm:pt>
    <dgm:pt modelId="{52BBF5DF-BAE3-46C0-BA74-A7A3DF3BA295}" type="parTrans" cxnId="{855DAF57-D7CF-4FEC-8349-FEAA7487560E}">
      <dgm:prSet/>
      <dgm:spPr/>
      <dgm:t>
        <a:bodyPr/>
        <a:lstStyle/>
        <a:p>
          <a:endParaRPr lang="it-IT"/>
        </a:p>
      </dgm:t>
    </dgm:pt>
    <dgm:pt modelId="{D3A13FAB-ED57-4297-8A73-0EBEEF8682EF}" type="sibTrans" cxnId="{855DAF57-D7CF-4FEC-8349-FEAA7487560E}">
      <dgm:prSet/>
      <dgm:spPr/>
      <dgm:t>
        <a:bodyPr/>
        <a:lstStyle/>
        <a:p>
          <a:endParaRPr lang="it-IT"/>
        </a:p>
      </dgm:t>
    </dgm:pt>
    <dgm:pt modelId="{685A9558-C2BF-4083-932C-60794A3CFBB1}">
      <dgm:prSet phldrT="[Testo]"/>
      <dgm:spPr>
        <a:solidFill>
          <a:schemeClr val="accent3">
            <a:lumMod val="50000"/>
            <a:alpha val="50000"/>
          </a:schemeClr>
        </a:solidFill>
      </dgm:spPr>
      <dgm:t>
        <a:bodyPr/>
        <a:lstStyle/>
        <a:p>
          <a:r>
            <a:rPr lang="it-IT" b="1" dirty="0" err="1"/>
            <a:t>Residual</a:t>
          </a:r>
          <a:r>
            <a:rPr lang="it-IT" b="1" dirty="0"/>
            <a:t> </a:t>
          </a:r>
          <a:r>
            <a:rPr lang="it-IT" b="1" dirty="0" err="1"/>
            <a:t>Nets</a:t>
          </a:r>
          <a:r>
            <a:rPr lang="it-IT" b="1" dirty="0"/>
            <a:t> </a:t>
          </a:r>
        </a:p>
        <a:p>
          <a:r>
            <a:rPr lang="it-IT" b="1" dirty="0"/>
            <a:t>(2015) </a:t>
          </a:r>
        </a:p>
      </dgm:t>
    </dgm:pt>
    <dgm:pt modelId="{FABD5CF9-E57B-4344-BCB3-9BCB01F67BCF}" type="parTrans" cxnId="{5101A330-FD37-49AA-81FB-9BF8728E1071}">
      <dgm:prSet/>
      <dgm:spPr/>
      <dgm:t>
        <a:bodyPr/>
        <a:lstStyle/>
        <a:p>
          <a:endParaRPr lang="it-IT"/>
        </a:p>
      </dgm:t>
    </dgm:pt>
    <dgm:pt modelId="{A2106CAC-EA50-46E0-BC89-7EBBCE3177F6}" type="sibTrans" cxnId="{5101A330-FD37-49AA-81FB-9BF8728E1071}">
      <dgm:prSet/>
      <dgm:spPr/>
      <dgm:t>
        <a:bodyPr/>
        <a:lstStyle/>
        <a:p>
          <a:endParaRPr lang="it-IT"/>
        </a:p>
      </dgm:t>
    </dgm:pt>
    <dgm:pt modelId="{F13E8B20-8092-47BC-BB9C-3E70E49E7B59}">
      <dgm:prSet phldrT="[Testo]" custT="1"/>
      <dgm:spPr>
        <a:solidFill>
          <a:schemeClr val="accent3">
            <a:lumMod val="50000"/>
            <a:alpha val="50000"/>
          </a:schemeClr>
        </a:solidFill>
      </dgm:spPr>
      <dgm:t>
        <a:bodyPr/>
        <a:lstStyle/>
        <a:p>
          <a:r>
            <a:rPr lang="it-IT" sz="1400" b="1" u="sng" dirty="0"/>
            <a:t>VGG Net </a:t>
          </a:r>
        </a:p>
        <a:p>
          <a:r>
            <a:rPr lang="it-IT" sz="1400" b="1" dirty="0"/>
            <a:t>(2° </a:t>
          </a:r>
          <a:r>
            <a:rPr lang="it-IT" sz="1400" b="1" dirty="0" err="1"/>
            <a:t>ranked</a:t>
          </a:r>
          <a:r>
            <a:rPr lang="it-IT" sz="1400" b="1" dirty="0"/>
            <a:t> in 2014)</a:t>
          </a:r>
        </a:p>
      </dgm:t>
    </dgm:pt>
    <dgm:pt modelId="{46B6982D-8210-4ED4-B713-990C5F666E53}" type="parTrans" cxnId="{4B1B580C-0286-44DF-AE1E-B246EA532650}">
      <dgm:prSet/>
      <dgm:spPr/>
      <dgm:t>
        <a:bodyPr/>
        <a:lstStyle/>
        <a:p>
          <a:endParaRPr lang="it-IT"/>
        </a:p>
      </dgm:t>
    </dgm:pt>
    <dgm:pt modelId="{5F91D945-6301-4FF0-B599-F8D898EC152D}" type="sibTrans" cxnId="{4B1B580C-0286-44DF-AE1E-B246EA532650}">
      <dgm:prSet/>
      <dgm:spPr/>
      <dgm:t>
        <a:bodyPr/>
        <a:lstStyle/>
        <a:p>
          <a:endParaRPr lang="it-IT"/>
        </a:p>
      </dgm:t>
    </dgm:pt>
    <dgm:pt modelId="{D5371CB7-D41A-4547-8BB3-CC6641794C62}" type="pres">
      <dgm:prSet presAssocID="{6B18EB56-4EDB-4D9A-B01D-6F5EF1D3E01D}" presName="composite" presStyleCnt="0">
        <dgm:presLayoutVars>
          <dgm:chMax val="1"/>
          <dgm:dir/>
          <dgm:resizeHandles val="exact"/>
        </dgm:presLayoutVars>
      </dgm:prSet>
      <dgm:spPr/>
    </dgm:pt>
    <dgm:pt modelId="{0002BC3B-4B27-45C6-86DD-3C034AB390B2}" type="pres">
      <dgm:prSet presAssocID="{6B18EB56-4EDB-4D9A-B01D-6F5EF1D3E01D}" presName="radial" presStyleCnt="0">
        <dgm:presLayoutVars>
          <dgm:animLvl val="ctr"/>
        </dgm:presLayoutVars>
      </dgm:prSet>
      <dgm:spPr/>
    </dgm:pt>
    <dgm:pt modelId="{AA8451E5-81F6-4DC2-99A6-8633E77E248C}" type="pres">
      <dgm:prSet presAssocID="{DAD6EFDB-7F60-4140-AE1C-08506B47C335}" presName="centerShape" presStyleLbl="vennNode1" presStyleIdx="0" presStyleCnt="5" custScaleX="92138" custScaleY="97075" custLinFactNeighborX="0" custLinFactNeighborY="-2129"/>
      <dgm:spPr/>
    </dgm:pt>
    <dgm:pt modelId="{118B936D-7FC3-4A27-95D8-C4AE1CB94663}" type="pres">
      <dgm:prSet presAssocID="{F8003197-F4F8-4BA8-859B-AC64A60D62B9}" presName="node" presStyleLbl="vennNode1" presStyleIdx="1" presStyleCnt="5" custScaleX="128995" custRadScaleRad="108816">
        <dgm:presLayoutVars>
          <dgm:bulletEnabled val="1"/>
        </dgm:presLayoutVars>
      </dgm:prSet>
      <dgm:spPr/>
    </dgm:pt>
    <dgm:pt modelId="{C6065EEF-4EBC-47CC-A23D-C0B4C4FDC3E5}" type="pres">
      <dgm:prSet presAssocID="{F51C3870-7236-4755-BED7-171593618349}" presName="node" presStyleLbl="vennNode1" presStyleIdx="2" presStyleCnt="5" custScaleX="116093" custRadScaleRad="102648">
        <dgm:presLayoutVars>
          <dgm:bulletEnabled val="1"/>
        </dgm:presLayoutVars>
      </dgm:prSet>
      <dgm:spPr/>
    </dgm:pt>
    <dgm:pt modelId="{55BC067B-6699-44E8-89DB-F488CC19EED0}" type="pres">
      <dgm:prSet presAssocID="{685A9558-C2BF-4083-932C-60794A3CFBB1}" presName="node" presStyleLbl="vennNode1" presStyleIdx="3" presStyleCnt="5" custScaleX="122489" custRadScaleRad="98131" custRadScaleInc="-1562">
        <dgm:presLayoutVars>
          <dgm:bulletEnabled val="1"/>
        </dgm:presLayoutVars>
      </dgm:prSet>
      <dgm:spPr/>
    </dgm:pt>
    <dgm:pt modelId="{AA961A49-DFB6-45B1-A133-56261D05FDA3}" type="pres">
      <dgm:prSet presAssocID="{F13E8B20-8092-47BC-BB9C-3E70E49E7B59}" presName="node" presStyleLbl="vennNode1" presStyleIdx="4" presStyleCnt="5" custScaleX="118537">
        <dgm:presLayoutVars>
          <dgm:bulletEnabled val="1"/>
        </dgm:presLayoutVars>
      </dgm:prSet>
      <dgm:spPr/>
    </dgm:pt>
  </dgm:ptLst>
  <dgm:cxnLst>
    <dgm:cxn modelId="{4B1B580C-0286-44DF-AE1E-B246EA532650}" srcId="{DAD6EFDB-7F60-4140-AE1C-08506B47C335}" destId="{F13E8B20-8092-47BC-BB9C-3E70E49E7B59}" srcOrd="3" destOrd="0" parTransId="{46B6982D-8210-4ED4-B713-990C5F666E53}" sibTransId="{5F91D945-6301-4FF0-B599-F8D898EC152D}"/>
    <dgm:cxn modelId="{7DDAEF10-A9CA-4D18-9830-33D8365D7266}" type="presOf" srcId="{DAD6EFDB-7F60-4140-AE1C-08506B47C335}" destId="{AA8451E5-81F6-4DC2-99A6-8633E77E248C}" srcOrd="0" destOrd="0" presId="urn:microsoft.com/office/officeart/2005/8/layout/radial3"/>
    <dgm:cxn modelId="{4C360B2E-4B4B-4178-A580-A330711F44FB}" type="presOf" srcId="{F8003197-F4F8-4BA8-859B-AC64A60D62B9}" destId="{118B936D-7FC3-4A27-95D8-C4AE1CB94663}" srcOrd="0" destOrd="0" presId="urn:microsoft.com/office/officeart/2005/8/layout/radial3"/>
    <dgm:cxn modelId="{5101A330-FD37-49AA-81FB-9BF8728E1071}" srcId="{DAD6EFDB-7F60-4140-AE1C-08506B47C335}" destId="{685A9558-C2BF-4083-932C-60794A3CFBB1}" srcOrd="2" destOrd="0" parTransId="{FABD5CF9-E57B-4344-BCB3-9BCB01F67BCF}" sibTransId="{A2106CAC-EA50-46E0-BC89-7EBBCE3177F6}"/>
    <dgm:cxn modelId="{0BDC8662-EF14-4E14-8A7C-C4170250AAD4}" type="presOf" srcId="{685A9558-C2BF-4083-932C-60794A3CFBB1}" destId="{55BC067B-6699-44E8-89DB-F488CC19EED0}" srcOrd="0" destOrd="0" presId="urn:microsoft.com/office/officeart/2005/8/layout/radial3"/>
    <dgm:cxn modelId="{855DAF57-D7CF-4FEC-8349-FEAA7487560E}" srcId="{DAD6EFDB-7F60-4140-AE1C-08506B47C335}" destId="{F51C3870-7236-4755-BED7-171593618349}" srcOrd="1" destOrd="0" parTransId="{52BBF5DF-BAE3-46C0-BA74-A7A3DF3BA295}" sibTransId="{D3A13FAB-ED57-4297-8A73-0EBEEF8682EF}"/>
    <dgm:cxn modelId="{29190B7D-041D-41BA-8910-9B64C0FA9462}" srcId="{6B18EB56-4EDB-4D9A-B01D-6F5EF1D3E01D}" destId="{DAD6EFDB-7F60-4140-AE1C-08506B47C335}" srcOrd="0" destOrd="0" parTransId="{BCCC5F5A-3A8D-41CE-AF61-7AC85F237EEE}" sibTransId="{0E648F4C-C654-4202-A5E7-1C3BE3E5C3A0}"/>
    <dgm:cxn modelId="{2840B489-3293-4011-9A2E-C3FE94CFA108}" type="presOf" srcId="{F13E8B20-8092-47BC-BB9C-3E70E49E7B59}" destId="{AA961A49-DFB6-45B1-A133-56261D05FDA3}" srcOrd="0" destOrd="0" presId="urn:microsoft.com/office/officeart/2005/8/layout/radial3"/>
    <dgm:cxn modelId="{59164AA4-E608-415C-8D2F-DA9A6FF9420E}" type="presOf" srcId="{6B18EB56-4EDB-4D9A-B01D-6F5EF1D3E01D}" destId="{D5371CB7-D41A-4547-8BB3-CC6641794C62}" srcOrd="0" destOrd="0" presId="urn:microsoft.com/office/officeart/2005/8/layout/radial3"/>
    <dgm:cxn modelId="{EC4C3FA8-AF46-4E6D-84C9-353B1DE7B18F}" srcId="{DAD6EFDB-7F60-4140-AE1C-08506B47C335}" destId="{F8003197-F4F8-4BA8-859B-AC64A60D62B9}" srcOrd="0" destOrd="0" parTransId="{444B14AB-AB6A-44E4-90F4-553527D2F733}" sibTransId="{66B05B7D-A342-438F-B1BE-228C0CDA2DDE}"/>
    <dgm:cxn modelId="{C68B38E5-2C26-4DE7-B96D-306FE2544576}" type="presOf" srcId="{F51C3870-7236-4755-BED7-171593618349}" destId="{C6065EEF-4EBC-47CC-A23D-C0B4C4FDC3E5}" srcOrd="0" destOrd="0" presId="urn:microsoft.com/office/officeart/2005/8/layout/radial3"/>
    <dgm:cxn modelId="{7A5AF029-2839-4D15-B2C3-FC66DAE05BF3}" type="presParOf" srcId="{D5371CB7-D41A-4547-8BB3-CC6641794C62}" destId="{0002BC3B-4B27-45C6-86DD-3C034AB390B2}" srcOrd="0" destOrd="0" presId="urn:microsoft.com/office/officeart/2005/8/layout/radial3"/>
    <dgm:cxn modelId="{D068167C-6C85-4D8B-8BDB-6A355F42BD92}" type="presParOf" srcId="{0002BC3B-4B27-45C6-86DD-3C034AB390B2}" destId="{AA8451E5-81F6-4DC2-99A6-8633E77E248C}" srcOrd="0" destOrd="0" presId="urn:microsoft.com/office/officeart/2005/8/layout/radial3"/>
    <dgm:cxn modelId="{8564BD99-1712-49AD-A320-DB6FA42EDF02}" type="presParOf" srcId="{0002BC3B-4B27-45C6-86DD-3C034AB390B2}" destId="{118B936D-7FC3-4A27-95D8-C4AE1CB94663}" srcOrd="1" destOrd="0" presId="urn:microsoft.com/office/officeart/2005/8/layout/radial3"/>
    <dgm:cxn modelId="{76BC14E4-3CA5-4DD0-B4F7-12ED03EC95A6}" type="presParOf" srcId="{0002BC3B-4B27-45C6-86DD-3C034AB390B2}" destId="{C6065EEF-4EBC-47CC-A23D-C0B4C4FDC3E5}" srcOrd="2" destOrd="0" presId="urn:microsoft.com/office/officeart/2005/8/layout/radial3"/>
    <dgm:cxn modelId="{67EDF865-D945-4668-A45D-678EB2699CB6}" type="presParOf" srcId="{0002BC3B-4B27-45C6-86DD-3C034AB390B2}" destId="{55BC067B-6699-44E8-89DB-F488CC19EED0}" srcOrd="3" destOrd="0" presId="urn:microsoft.com/office/officeart/2005/8/layout/radial3"/>
    <dgm:cxn modelId="{F7481D6E-94DE-4989-8056-3B0896B4EBE9}" type="presParOf" srcId="{0002BC3B-4B27-45C6-86DD-3C034AB390B2}" destId="{AA961A49-DFB6-45B1-A133-56261D05FDA3}"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9E56130-43D2-4F38-B87C-3A4147740715}" type="doc">
      <dgm:prSet loTypeId="urn:microsoft.com/office/officeart/2005/8/layout/process2" loCatId="process" qsTypeId="urn:microsoft.com/office/officeart/2005/8/quickstyle/simple1" qsCatId="simple" csTypeId="urn:microsoft.com/office/officeart/2005/8/colors/accent1_2" csCatId="accent1" phldr="1"/>
      <dgm:spPr/>
    </dgm:pt>
    <dgm:pt modelId="{04D035CB-9F81-45F9-9AE2-3BA61B36FF9F}">
      <dgm:prSet phldrT="[Testo]"/>
      <dgm:spPr>
        <a:solidFill>
          <a:schemeClr val="tx1">
            <a:lumMod val="65000"/>
            <a:lumOff val="35000"/>
          </a:schemeClr>
        </a:solidFill>
      </dgm:spPr>
      <dgm:t>
        <a:bodyPr/>
        <a:lstStyle/>
        <a:p>
          <a:r>
            <a:rPr lang="it-IT" b="1" dirty="0">
              <a:latin typeface="Times New Roman" panose="02020603050405020304" pitchFamily="18" charset="0"/>
              <a:cs typeface="Times New Roman" panose="02020603050405020304" pitchFamily="18" charset="0"/>
            </a:rPr>
            <a:t>Candidate </a:t>
          </a:r>
          <a:r>
            <a:rPr lang="it-IT" b="1" dirty="0" err="1">
              <a:latin typeface="Times New Roman" panose="02020603050405020304" pitchFamily="18" charset="0"/>
              <a:cs typeface="Times New Roman" panose="02020603050405020304" pitchFamily="18" charset="0"/>
            </a:rPr>
            <a:t>Nodule</a:t>
          </a:r>
          <a:r>
            <a:rPr lang="it-IT" b="1" dirty="0">
              <a:latin typeface="Times New Roman" panose="02020603050405020304" pitchFamily="18" charset="0"/>
              <a:cs typeface="Times New Roman" panose="02020603050405020304" pitchFamily="18" charset="0"/>
            </a:rPr>
            <a:t> </a:t>
          </a:r>
          <a:r>
            <a:rPr lang="it-IT" b="1" dirty="0" err="1">
              <a:latin typeface="Times New Roman" panose="02020603050405020304" pitchFamily="18" charset="0"/>
              <a:cs typeface="Times New Roman" panose="02020603050405020304" pitchFamily="18" charset="0"/>
            </a:rPr>
            <a:t>Selection</a:t>
          </a:r>
          <a:r>
            <a:rPr lang="it-IT" b="1" dirty="0">
              <a:latin typeface="Times New Roman" panose="02020603050405020304" pitchFamily="18" charset="0"/>
              <a:cs typeface="Times New Roman" panose="02020603050405020304" pitchFamily="18" charset="0"/>
            </a:rPr>
            <a:t> via UNET</a:t>
          </a:r>
        </a:p>
      </dgm:t>
    </dgm:pt>
    <dgm:pt modelId="{337556A3-DF29-441C-AFD7-7DF9F9176E33}" type="parTrans" cxnId="{D90879A0-719D-42E9-856D-37CE16D14B96}">
      <dgm:prSet/>
      <dgm:spPr/>
      <dgm:t>
        <a:bodyPr/>
        <a:lstStyle/>
        <a:p>
          <a:endParaRPr lang="it-IT"/>
        </a:p>
      </dgm:t>
    </dgm:pt>
    <dgm:pt modelId="{3407E89F-ED17-4700-97C7-E6D2F2872763}" type="sibTrans" cxnId="{D90879A0-719D-42E9-856D-37CE16D14B96}">
      <dgm:prSet/>
      <dgm:spPr>
        <a:solidFill>
          <a:schemeClr val="tx1">
            <a:lumMod val="65000"/>
            <a:lumOff val="35000"/>
          </a:schemeClr>
        </a:solidFill>
      </dgm:spPr>
      <dgm:t>
        <a:bodyPr/>
        <a:lstStyle/>
        <a:p>
          <a:endParaRPr lang="it-IT"/>
        </a:p>
      </dgm:t>
    </dgm:pt>
    <dgm:pt modelId="{AE733693-E296-424C-A7C7-17824A5F7B52}">
      <dgm:prSet phldrT="[Testo]"/>
      <dgm:spPr>
        <a:solidFill>
          <a:schemeClr val="tx1">
            <a:lumMod val="65000"/>
            <a:lumOff val="35000"/>
          </a:schemeClr>
        </a:solidFill>
      </dgm:spPr>
      <dgm:t>
        <a:bodyPr/>
        <a:lstStyle/>
        <a:p>
          <a:r>
            <a:rPr lang="it-IT" b="1" dirty="0" err="1">
              <a:latin typeface="Times New Roman" panose="02020603050405020304" pitchFamily="18" charset="0"/>
              <a:cs typeface="Times New Roman" panose="02020603050405020304" pitchFamily="18" charset="0"/>
            </a:rPr>
            <a:t>Dilation</a:t>
          </a:r>
          <a:r>
            <a:rPr lang="it-IT" b="1" dirty="0">
              <a:latin typeface="Times New Roman" panose="02020603050405020304" pitchFamily="18" charset="0"/>
              <a:cs typeface="Times New Roman" panose="02020603050405020304" pitchFamily="18" charset="0"/>
            </a:rPr>
            <a:t>, </a:t>
          </a:r>
          <a:r>
            <a:rPr lang="it-IT" b="1" dirty="0" err="1">
              <a:latin typeface="Times New Roman" panose="02020603050405020304" pitchFamily="18" charset="0"/>
              <a:cs typeface="Times New Roman" panose="02020603050405020304" pitchFamily="18" charset="0"/>
            </a:rPr>
            <a:t>Erosion</a:t>
          </a:r>
          <a:r>
            <a:rPr lang="it-IT" b="1" dirty="0">
              <a:latin typeface="Times New Roman" panose="02020603050405020304" pitchFamily="18" charset="0"/>
              <a:cs typeface="Times New Roman" panose="02020603050405020304" pitchFamily="18" charset="0"/>
            </a:rPr>
            <a:t>, </a:t>
          </a:r>
          <a:r>
            <a:rPr lang="it-IT" b="1" dirty="0" err="1">
              <a:latin typeface="Times New Roman" panose="02020603050405020304" pitchFamily="18" charset="0"/>
              <a:cs typeface="Times New Roman" panose="02020603050405020304" pitchFamily="18" charset="0"/>
            </a:rPr>
            <a:t>Nodules</a:t>
          </a:r>
          <a:r>
            <a:rPr lang="it-IT" b="1" dirty="0">
              <a:latin typeface="Times New Roman" panose="02020603050405020304" pitchFamily="18" charset="0"/>
              <a:cs typeface="Times New Roman" panose="02020603050405020304" pitchFamily="18" charset="0"/>
            </a:rPr>
            <a:t> </a:t>
          </a:r>
          <a:r>
            <a:rPr lang="it-IT" b="1" dirty="0" err="1">
              <a:latin typeface="Times New Roman" panose="02020603050405020304" pitchFamily="18" charset="0"/>
              <a:cs typeface="Times New Roman" panose="02020603050405020304" pitchFamily="18" charset="0"/>
            </a:rPr>
            <a:t>Distance</a:t>
          </a:r>
          <a:r>
            <a:rPr lang="it-IT" b="1" dirty="0">
              <a:latin typeface="Times New Roman" panose="02020603050405020304" pitchFamily="18" charset="0"/>
              <a:cs typeface="Times New Roman" panose="02020603050405020304" pitchFamily="18" charset="0"/>
            </a:rPr>
            <a:t> </a:t>
          </a:r>
          <a:r>
            <a:rPr lang="it-IT" b="1" dirty="0" err="1">
              <a:latin typeface="Times New Roman" panose="02020603050405020304" pitchFamily="18" charset="0"/>
              <a:cs typeface="Times New Roman" panose="02020603050405020304" pitchFamily="18" charset="0"/>
            </a:rPr>
            <a:t>Merging</a:t>
          </a:r>
          <a:endParaRPr lang="it-IT" b="1" dirty="0">
            <a:latin typeface="Times New Roman" panose="02020603050405020304" pitchFamily="18" charset="0"/>
            <a:cs typeface="Times New Roman" panose="02020603050405020304" pitchFamily="18" charset="0"/>
          </a:endParaRPr>
        </a:p>
      </dgm:t>
    </dgm:pt>
    <dgm:pt modelId="{5664DC15-1498-456E-B70A-6DAD24EE2464}" type="parTrans" cxnId="{73E1BE30-5984-45A8-A296-9A49305FBC48}">
      <dgm:prSet/>
      <dgm:spPr/>
      <dgm:t>
        <a:bodyPr/>
        <a:lstStyle/>
        <a:p>
          <a:endParaRPr lang="it-IT"/>
        </a:p>
      </dgm:t>
    </dgm:pt>
    <dgm:pt modelId="{51DA7582-68BF-4C0E-AEA4-4931DB1F1E66}" type="sibTrans" cxnId="{73E1BE30-5984-45A8-A296-9A49305FBC48}">
      <dgm:prSet/>
      <dgm:spPr>
        <a:solidFill>
          <a:schemeClr val="tx1">
            <a:lumMod val="65000"/>
            <a:lumOff val="35000"/>
          </a:schemeClr>
        </a:solidFill>
      </dgm:spPr>
      <dgm:t>
        <a:bodyPr/>
        <a:lstStyle/>
        <a:p>
          <a:endParaRPr lang="it-IT"/>
        </a:p>
      </dgm:t>
    </dgm:pt>
    <dgm:pt modelId="{387EBAD3-FCF6-4652-B4C4-54EA5D27DF64}">
      <dgm:prSet phldrT="[Testo]"/>
      <dgm:spPr>
        <a:solidFill>
          <a:schemeClr val="tx1">
            <a:lumMod val="65000"/>
            <a:lumOff val="35000"/>
          </a:schemeClr>
        </a:solidFill>
      </dgm:spPr>
      <dgm:t>
        <a:bodyPr/>
        <a:lstStyle/>
        <a:p>
          <a:r>
            <a:rPr lang="it-IT" b="1" dirty="0">
              <a:latin typeface="Times New Roman" panose="02020603050405020304" pitchFamily="18" charset="0"/>
              <a:cs typeface="Times New Roman" panose="02020603050405020304" pitchFamily="18" charset="0"/>
            </a:rPr>
            <a:t>False</a:t>
          </a:r>
          <a:r>
            <a:rPr lang="it-IT" b="1" dirty="0"/>
            <a:t> </a:t>
          </a:r>
          <a:r>
            <a:rPr lang="it-IT" b="1" dirty="0">
              <a:latin typeface="Times New Roman" panose="02020603050405020304" pitchFamily="18" charset="0"/>
              <a:cs typeface="Times New Roman" panose="02020603050405020304" pitchFamily="18" charset="0"/>
            </a:rPr>
            <a:t>Positive </a:t>
          </a:r>
          <a:r>
            <a:rPr lang="it-IT" b="1" dirty="0" err="1">
              <a:latin typeface="Times New Roman" panose="02020603050405020304" pitchFamily="18" charset="0"/>
              <a:cs typeface="Times New Roman" panose="02020603050405020304" pitchFamily="18" charset="0"/>
            </a:rPr>
            <a:t>Reduction</a:t>
          </a:r>
          <a:r>
            <a:rPr lang="it-IT" b="1" dirty="0">
              <a:latin typeface="Times New Roman" panose="02020603050405020304" pitchFamily="18" charset="0"/>
              <a:cs typeface="Times New Roman" panose="02020603050405020304" pitchFamily="18" charset="0"/>
            </a:rPr>
            <a:t> via </a:t>
          </a:r>
          <a:r>
            <a:rPr lang="it-IT" b="1" dirty="0" err="1">
              <a:latin typeface="Times New Roman" panose="02020603050405020304" pitchFamily="18" charset="0"/>
              <a:cs typeface="Times New Roman" panose="02020603050405020304" pitchFamily="18" charset="0"/>
            </a:rPr>
            <a:t>WideResNet</a:t>
          </a:r>
          <a:endParaRPr lang="it-IT" b="1" dirty="0">
            <a:latin typeface="Times New Roman" panose="02020603050405020304" pitchFamily="18" charset="0"/>
            <a:cs typeface="Times New Roman" panose="02020603050405020304" pitchFamily="18" charset="0"/>
          </a:endParaRPr>
        </a:p>
      </dgm:t>
    </dgm:pt>
    <dgm:pt modelId="{DED95BB5-7B58-4570-AB66-E245F8283659}" type="parTrans" cxnId="{E4154B63-8395-4CEE-8957-E8E8C0A7472C}">
      <dgm:prSet/>
      <dgm:spPr/>
      <dgm:t>
        <a:bodyPr/>
        <a:lstStyle/>
        <a:p>
          <a:endParaRPr lang="it-IT"/>
        </a:p>
      </dgm:t>
    </dgm:pt>
    <dgm:pt modelId="{EB8FA237-CA25-4528-A9BD-F1C3FE1B99E4}" type="sibTrans" cxnId="{E4154B63-8395-4CEE-8957-E8E8C0A7472C}">
      <dgm:prSet/>
      <dgm:spPr/>
      <dgm:t>
        <a:bodyPr/>
        <a:lstStyle/>
        <a:p>
          <a:endParaRPr lang="it-IT"/>
        </a:p>
      </dgm:t>
    </dgm:pt>
    <dgm:pt modelId="{4648252F-C175-4763-A85B-A302B86B8D38}" type="pres">
      <dgm:prSet presAssocID="{49E56130-43D2-4F38-B87C-3A4147740715}" presName="linearFlow" presStyleCnt="0">
        <dgm:presLayoutVars>
          <dgm:resizeHandles val="exact"/>
        </dgm:presLayoutVars>
      </dgm:prSet>
      <dgm:spPr/>
    </dgm:pt>
    <dgm:pt modelId="{35AEE76E-989C-47EA-B7AB-C56E97697508}" type="pres">
      <dgm:prSet presAssocID="{04D035CB-9F81-45F9-9AE2-3BA61B36FF9F}" presName="node" presStyleLbl="node1" presStyleIdx="0" presStyleCnt="3" custLinFactX="-49096" custLinFactNeighborX="-100000" custLinFactNeighborY="14175">
        <dgm:presLayoutVars>
          <dgm:bulletEnabled val="1"/>
        </dgm:presLayoutVars>
      </dgm:prSet>
      <dgm:spPr/>
    </dgm:pt>
    <dgm:pt modelId="{A5A77626-7D36-4DC1-8A33-A682E8DD6535}" type="pres">
      <dgm:prSet presAssocID="{3407E89F-ED17-4700-97C7-E6D2F2872763}" presName="sibTrans" presStyleLbl="sibTrans2D1" presStyleIdx="0" presStyleCnt="2"/>
      <dgm:spPr/>
    </dgm:pt>
    <dgm:pt modelId="{A941C09A-8DED-446A-AABA-809AB23B1A0D}" type="pres">
      <dgm:prSet presAssocID="{3407E89F-ED17-4700-97C7-E6D2F2872763}" presName="connectorText" presStyleLbl="sibTrans2D1" presStyleIdx="0" presStyleCnt="2"/>
      <dgm:spPr/>
    </dgm:pt>
    <dgm:pt modelId="{EA78AA65-B551-4719-8AAC-48279BF61A59}" type="pres">
      <dgm:prSet presAssocID="{AE733693-E296-424C-A7C7-17824A5F7B52}" presName="node" presStyleLbl="node1" presStyleIdx="1" presStyleCnt="3" custLinFactY="-33871" custLinFactNeighborX="8430" custLinFactNeighborY="-100000">
        <dgm:presLayoutVars>
          <dgm:bulletEnabled val="1"/>
        </dgm:presLayoutVars>
      </dgm:prSet>
      <dgm:spPr/>
    </dgm:pt>
    <dgm:pt modelId="{28BC4B2A-C754-44E0-A2FD-3D5EFC38408D}" type="pres">
      <dgm:prSet presAssocID="{51DA7582-68BF-4C0E-AEA4-4931DB1F1E66}" presName="sibTrans" presStyleLbl="sibTrans2D1" presStyleIdx="1" presStyleCnt="2"/>
      <dgm:spPr/>
    </dgm:pt>
    <dgm:pt modelId="{B3C604E9-A437-4DA5-A280-2653A3B27FAF}" type="pres">
      <dgm:prSet presAssocID="{51DA7582-68BF-4C0E-AEA4-4931DB1F1E66}" presName="connectorText" presStyleLbl="sibTrans2D1" presStyleIdx="1" presStyleCnt="2"/>
      <dgm:spPr/>
    </dgm:pt>
    <dgm:pt modelId="{D95C81F7-AE69-4AA4-8ECC-0818A63E295A}" type="pres">
      <dgm:prSet presAssocID="{387EBAD3-FCF6-4652-B4C4-54EA5D27DF64}" presName="node" presStyleLbl="node1" presStyleIdx="2" presStyleCnt="3" custLinFactX="50649" custLinFactY="-100000" custLinFactNeighborX="100000" custLinFactNeighborY="-141935">
        <dgm:presLayoutVars>
          <dgm:bulletEnabled val="1"/>
        </dgm:presLayoutVars>
      </dgm:prSet>
      <dgm:spPr/>
    </dgm:pt>
  </dgm:ptLst>
  <dgm:cxnLst>
    <dgm:cxn modelId="{9324F814-CF64-4E45-9881-10E9A49968C1}" type="presOf" srcId="{3407E89F-ED17-4700-97C7-E6D2F2872763}" destId="{A5A77626-7D36-4DC1-8A33-A682E8DD6535}" srcOrd="0" destOrd="0" presId="urn:microsoft.com/office/officeart/2005/8/layout/process2"/>
    <dgm:cxn modelId="{73E1BE30-5984-45A8-A296-9A49305FBC48}" srcId="{49E56130-43D2-4F38-B87C-3A4147740715}" destId="{AE733693-E296-424C-A7C7-17824A5F7B52}" srcOrd="1" destOrd="0" parTransId="{5664DC15-1498-456E-B70A-6DAD24EE2464}" sibTransId="{51DA7582-68BF-4C0E-AEA4-4931DB1F1E66}"/>
    <dgm:cxn modelId="{9D0B6A41-9AA4-45F2-A47C-E119D4E4518C}" type="presOf" srcId="{3407E89F-ED17-4700-97C7-E6D2F2872763}" destId="{A941C09A-8DED-446A-AABA-809AB23B1A0D}" srcOrd="1" destOrd="0" presId="urn:microsoft.com/office/officeart/2005/8/layout/process2"/>
    <dgm:cxn modelId="{68A90843-F0A3-48B1-8E43-A781B19C2E78}" type="presOf" srcId="{AE733693-E296-424C-A7C7-17824A5F7B52}" destId="{EA78AA65-B551-4719-8AAC-48279BF61A59}" srcOrd="0" destOrd="0" presId="urn:microsoft.com/office/officeart/2005/8/layout/process2"/>
    <dgm:cxn modelId="{E4154B63-8395-4CEE-8957-E8E8C0A7472C}" srcId="{49E56130-43D2-4F38-B87C-3A4147740715}" destId="{387EBAD3-FCF6-4652-B4C4-54EA5D27DF64}" srcOrd="2" destOrd="0" parTransId="{DED95BB5-7B58-4570-AB66-E245F8283659}" sibTransId="{EB8FA237-CA25-4528-A9BD-F1C3FE1B99E4}"/>
    <dgm:cxn modelId="{7C44A46E-9DD7-448C-A337-03CD3F7DDDB0}" type="presOf" srcId="{04D035CB-9F81-45F9-9AE2-3BA61B36FF9F}" destId="{35AEE76E-989C-47EA-B7AB-C56E97697508}" srcOrd="0" destOrd="0" presId="urn:microsoft.com/office/officeart/2005/8/layout/process2"/>
    <dgm:cxn modelId="{ECF4508B-19A3-47D4-BC0E-7C6CFD4C747D}" type="presOf" srcId="{51DA7582-68BF-4C0E-AEA4-4931DB1F1E66}" destId="{B3C604E9-A437-4DA5-A280-2653A3B27FAF}" srcOrd="1" destOrd="0" presId="urn:microsoft.com/office/officeart/2005/8/layout/process2"/>
    <dgm:cxn modelId="{D90879A0-719D-42E9-856D-37CE16D14B96}" srcId="{49E56130-43D2-4F38-B87C-3A4147740715}" destId="{04D035CB-9F81-45F9-9AE2-3BA61B36FF9F}" srcOrd="0" destOrd="0" parTransId="{337556A3-DF29-441C-AFD7-7DF9F9176E33}" sibTransId="{3407E89F-ED17-4700-97C7-E6D2F2872763}"/>
    <dgm:cxn modelId="{AD4471C4-76B5-4D83-9FA3-139BB22A9990}" type="presOf" srcId="{51DA7582-68BF-4C0E-AEA4-4931DB1F1E66}" destId="{28BC4B2A-C754-44E0-A2FD-3D5EFC38408D}" srcOrd="0" destOrd="0" presId="urn:microsoft.com/office/officeart/2005/8/layout/process2"/>
    <dgm:cxn modelId="{ADCBB3DE-6DB1-4D73-A233-FAFE53EB5410}" type="presOf" srcId="{49E56130-43D2-4F38-B87C-3A4147740715}" destId="{4648252F-C175-4763-A85B-A302B86B8D38}" srcOrd="0" destOrd="0" presId="urn:microsoft.com/office/officeart/2005/8/layout/process2"/>
    <dgm:cxn modelId="{BFBBADF7-0B2E-44B6-BA8A-0BDC5B376FD7}" type="presOf" srcId="{387EBAD3-FCF6-4652-B4C4-54EA5D27DF64}" destId="{D95C81F7-AE69-4AA4-8ECC-0818A63E295A}" srcOrd="0" destOrd="0" presId="urn:microsoft.com/office/officeart/2005/8/layout/process2"/>
    <dgm:cxn modelId="{821C84AA-BC0A-43B0-B69E-B4E38ABF0430}" type="presParOf" srcId="{4648252F-C175-4763-A85B-A302B86B8D38}" destId="{35AEE76E-989C-47EA-B7AB-C56E97697508}" srcOrd="0" destOrd="0" presId="urn:microsoft.com/office/officeart/2005/8/layout/process2"/>
    <dgm:cxn modelId="{F46E264F-2D90-4016-B4F5-ACEA7BBF6939}" type="presParOf" srcId="{4648252F-C175-4763-A85B-A302B86B8D38}" destId="{A5A77626-7D36-4DC1-8A33-A682E8DD6535}" srcOrd="1" destOrd="0" presId="urn:microsoft.com/office/officeart/2005/8/layout/process2"/>
    <dgm:cxn modelId="{D6C4FDEA-FB70-48E7-8D65-89631FE0AB12}" type="presParOf" srcId="{A5A77626-7D36-4DC1-8A33-A682E8DD6535}" destId="{A941C09A-8DED-446A-AABA-809AB23B1A0D}" srcOrd="0" destOrd="0" presId="urn:microsoft.com/office/officeart/2005/8/layout/process2"/>
    <dgm:cxn modelId="{8E305B06-52BB-488D-A266-80F8B9034480}" type="presParOf" srcId="{4648252F-C175-4763-A85B-A302B86B8D38}" destId="{EA78AA65-B551-4719-8AAC-48279BF61A59}" srcOrd="2" destOrd="0" presId="urn:microsoft.com/office/officeart/2005/8/layout/process2"/>
    <dgm:cxn modelId="{B0BFB303-4C36-45FB-B6D9-9E3227270DDD}" type="presParOf" srcId="{4648252F-C175-4763-A85B-A302B86B8D38}" destId="{28BC4B2A-C754-44E0-A2FD-3D5EFC38408D}" srcOrd="3" destOrd="0" presId="urn:microsoft.com/office/officeart/2005/8/layout/process2"/>
    <dgm:cxn modelId="{21BA3B80-B9ED-4B02-85D6-77897AFA92D8}" type="presParOf" srcId="{28BC4B2A-C754-44E0-A2FD-3D5EFC38408D}" destId="{B3C604E9-A437-4DA5-A280-2653A3B27FAF}" srcOrd="0" destOrd="0" presId="urn:microsoft.com/office/officeart/2005/8/layout/process2"/>
    <dgm:cxn modelId="{58751247-E5E1-4788-986B-A3DED6E5E443}" type="presParOf" srcId="{4648252F-C175-4763-A85B-A302B86B8D38}" destId="{D95C81F7-AE69-4AA4-8ECC-0818A63E295A}" srcOrd="4"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CBE468-7921-4D43-88D8-BA6C758E059C}">
      <dsp:nvSpPr>
        <dsp:cNvPr id="0" name=""/>
        <dsp:cNvSpPr/>
      </dsp:nvSpPr>
      <dsp:spPr>
        <a:xfrm rot="5400000">
          <a:off x="-239034" y="239273"/>
          <a:ext cx="1593563" cy="1115494"/>
        </a:xfrm>
        <a:prstGeom prst="chevron">
          <a:avLst/>
        </a:prstGeom>
        <a:solidFill>
          <a:schemeClr val="tx1">
            <a:lumMod val="65000"/>
            <a:lumOff val="3500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it-IT" sz="1200" b="1" kern="1200" dirty="0"/>
            <a:t>GPU</a:t>
          </a:r>
          <a:endParaRPr lang="it-IT" sz="1400" b="1" kern="1200" dirty="0"/>
        </a:p>
      </dsp:txBody>
      <dsp:txXfrm rot="-5400000">
        <a:off x="1" y="557985"/>
        <a:ext cx="1115494" cy="478069"/>
      </dsp:txXfrm>
    </dsp:sp>
    <dsp:sp modelId="{4C27F3E0-4825-450C-A7A8-2947A93D95A5}">
      <dsp:nvSpPr>
        <dsp:cNvPr id="0" name=""/>
        <dsp:cNvSpPr/>
      </dsp:nvSpPr>
      <dsp:spPr>
        <a:xfrm rot="5400000">
          <a:off x="1980900" y="-865166"/>
          <a:ext cx="1035816" cy="2766628"/>
        </a:xfrm>
        <a:prstGeom prst="round2Same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The advent of GPUs makes possible the training of very large neural networks with even more than 150 millions of parameters. </a:t>
          </a:r>
          <a:endParaRPr lang="it-IT" sz="1200" b="1" kern="1200" dirty="0"/>
        </a:p>
      </dsp:txBody>
      <dsp:txXfrm rot="-5400000">
        <a:off x="1115494" y="50804"/>
        <a:ext cx="2716064" cy="934688"/>
      </dsp:txXfrm>
    </dsp:sp>
    <dsp:sp modelId="{EFF8265E-9F5F-42E1-9460-0C41B00A73C0}">
      <dsp:nvSpPr>
        <dsp:cNvPr id="0" name=""/>
        <dsp:cNvSpPr/>
      </dsp:nvSpPr>
      <dsp:spPr>
        <a:xfrm rot="5400000">
          <a:off x="-239034" y="1626991"/>
          <a:ext cx="1593563" cy="1115494"/>
        </a:xfrm>
        <a:prstGeom prst="chevron">
          <a:avLst/>
        </a:prstGeom>
        <a:solidFill>
          <a:schemeClr val="tx1">
            <a:lumMod val="65000"/>
            <a:lumOff val="3500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it-IT" sz="1200" b="1" kern="1200" dirty="0"/>
            <a:t>BIG </a:t>
          </a:r>
        </a:p>
        <a:p>
          <a:pPr marL="0" lvl="0" indent="0" algn="ctr" defTabSz="533400">
            <a:lnSpc>
              <a:spcPct val="90000"/>
            </a:lnSpc>
            <a:spcBef>
              <a:spcPct val="0"/>
            </a:spcBef>
            <a:spcAft>
              <a:spcPct val="35000"/>
            </a:spcAft>
            <a:buNone/>
          </a:pPr>
          <a:r>
            <a:rPr lang="it-IT" sz="1200" b="1" kern="1200" dirty="0"/>
            <a:t>DATA</a:t>
          </a:r>
        </a:p>
      </dsp:txBody>
      <dsp:txXfrm rot="-5400000">
        <a:off x="1" y="1945703"/>
        <a:ext cx="1115494" cy="478069"/>
      </dsp:txXfrm>
    </dsp:sp>
    <dsp:sp modelId="{A794BD79-3BCA-4E41-8D5D-9344D65E9136}">
      <dsp:nvSpPr>
        <dsp:cNvPr id="0" name=""/>
        <dsp:cNvSpPr/>
      </dsp:nvSpPr>
      <dsp:spPr>
        <a:xfrm rot="5400000">
          <a:off x="1980900" y="534056"/>
          <a:ext cx="1035816" cy="2766628"/>
        </a:xfrm>
        <a:prstGeom prst="round2Same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A new generation </a:t>
          </a:r>
          <a:r>
            <a:rPr lang="en-GB" sz="1200" b="1" kern="1200" dirty="0"/>
            <a:t>of larger training and test sets.</a:t>
          </a:r>
          <a:endParaRPr lang="it-IT" sz="1200" b="1" kern="1200" dirty="0"/>
        </a:p>
      </dsp:txBody>
      <dsp:txXfrm rot="-5400000">
        <a:off x="1115494" y="1450026"/>
        <a:ext cx="2716064" cy="934688"/>
      </dsp:txXfrm>
    </dsp:sp>
    <dsp:sp modelId="{F63296C1-0788-445F-9A33-4D1DAC2E7CD7}">
      <dsp:nvSpPr>
        <dsp:cNvPr id="0" name=""/>
        <dsp:cNvSpPr/>
      </dsp:nvSpPr>
      <dsp:spPr>
        <a:xfrm rot="5400000">
          <a:off x="-239034" y="3037719"/>
          <a:ext cx="1593563" cy="1115494"/>
        </a:xfrm>
        <a:prstGeom prst="chevron">
          <a:avLst/>
        </a:prstGeom>
        <a:solidFill>
          <a:schemeClr val="tx1">
            <a:lumMod val="65000"/>
            <a:lumOff val="3500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it-IT" sz="1200" b="1" kern="1200" dirty="0"/>
            <a:t>DROPOUT</a:t>
          </a:r>
          <a:endParaRPr lang="it-IT" sz="1600" b="1" kern="1200" dirty="0"/>
        </a:p>
      </dsp:txBody>
      <dsp:txXfrm rot="-5400000">
        <a:off x="1" y="3356431"/>
        <a:ext cx="1115494" cy="478069"/>
      </dsp:txXfrm>
    </dsp:sp>
    <dsp:sp modelId="{1FB6035A-B0A2-43D0-A23B-42AE243EB73D}">
      <dsp:nvSpPr>
        <dsp:cNvPr id="0" name=""/>
        <dsp:cNvSpPr/>
      </dsp:nvSpPr>
      <dsp:spPr>
        <a:xfrm rot="5400000">
          <a:off x="1980900" y="1964622"/>
          <a:ext cx="1035816" cy="2766628"/>
        </a:xfrm>
        <a:prstGeom prst="round2SameRect">
          <a:avLst/>
        </a:prstGeom>
        <a:solidFill>
          <a:schemeClr val="lt1">
            <a:alpha val="90000"/>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Char char="•"/>
          </a:pPr>
          <a:r>
            <a:rPr lang="en-US" sz="1200" b="1" kern="1200" dirty="0"/>
            <a:t>Better model regularization techniques have been discovered </a:t>
          </a:r>
          <a:r>
            <a:rPr lang="en-GB" sz="1200" b="1" kern="1200" dirty="0"/>
            <a:t>such as </a:t>
          </a:r>
          <a:r>
            <a:rPr lang="en-GB" sz="1200" b="1" i="1" kern="1200" dirty="0"/>
            <a:t>“Dropout”</a:t>
          </a:r>
          <a:r>
            <a:rPr lang="en-GB" sz="1200" b="1" kern="1200" dirty="0"/>
            <a:t>  or </a:t>
          </a:r>
          <a:r>
            <a:rPr lang="en-GB" sz="1200" b="1" i="1" kern="1200" dirty="0"/>
            <a:t>“Data Augmentation”</a:t>
          </a:r>
          <a:endParaRPr lang="it-IT" sz="1200" b="1" kern="1200" dirty="0"/>
        </a:p>
      </dsp:txBody>
      <dsp:txXfrm rot="-5400000">
        <a:off x="1115494" y="2880592"/>
        <a:ext cx="2716064" cy="9346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451E5-81F6-4DC2-99A6-8633E77E248C}">
      <dsp:nvSpPr>
        <dsp:cNvPr id="0" name=""/>
        <dsp:cNvSpPr/>
      </dsp:nvSpPr>
      <dsp:spPr>
        <a:xfrm>
          <a:off x="1072629" y="735391"/>
          <a:ext cx="1744960" cy="1838460"/>
        </a:xfrm>
        <a:prstGeom prst="ellipse">
          <a:avLst/>
        </a:prstGeom>
        <a:solidFill>
          <a:schemeClr val="accent3">
            <a:lumMod val="75000"/>
            <a:alpha val="5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50800" tIns="50800" rIns="50800" bIns="50800" numCol="1" spcCol="1270" anchor="ctr" anchorCtr="0">
          <a:noAutofit/>
        </a:bodyPr>
        <a:lstStyle/>
        <a:p>
          <a:pPr marL="0" lvl="0" indent="0" algn="ctr" defTabSz="1778000">
            <a:lnSpc>
              <a:spcPct val="90000"/>
            </a:lnSpc>
            <a:spcBef>
              <a:spcPct val="0"/>
            </a:spcBef>
            <a:spcAft>
              <a:spcPct val="35000"/>
            </a:spcAft>
            <a:buNone/>
          </a:pPr>
          <a:r>
            <a:rPr lang="it-IT" sz="4000" kern="1200" dirty="0" err="1"/>
            <a:t>Conv</a:t>
          </a:r>
          <a:r>
            <a:rPr lang="it-IT" sz="4000" kern="1200" dirty="0"/>
            <a:t> </a:t>
          </a:r>
          <a:r>
            <a:rPr lang="it-IT" sz="4000" kern="1200" dirty="0" err="1"/>
            <a:t>Nets</a:t>
          </a:r>
          <a:r>
            <a:rPr lang="it-IT" sz="4000" kern="1200" dirty="0"/>
            <a:t> </a:t>
          </a:r>
        </a:p>
      </dsp:txBody>
      <dsp:txXfrm>
        <a:off x="1328172" y="1004627"/>
        <a:ext cx="1233874" cy="1299988"/>
      </dsp:txXfrm>
    </dsp:sp>
    <dsp:sp modelId="{118B936D-7FC3-4A27-95D8-C4AE1CB94663}">
      <dsp:nvSpPr>
        <dsp:cNvPr id="0" name=""/>
        <dsp:cNvSpPr/>
      </dsp:nvSpPr>
      <dsp:spPr>
        <a:xfrm>
          <a:off x="1334364" y="0"/>
          <a:ext cx="1221489" cy="946927"/>
        </a:xfrm>
        <a:prstGeom prst="ellipse">
          <a:avLst/>
        </a:prstGeom>
        <a:solidFill>
          <a:schemeClr val="accent3">
            <a:lumMod val="50000"/>
            <a:alpha val="5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it-IT" sz="1800" b="1" u="sng" kern="1200" dirty="0" err="1"/>
            <a:t>AlexNet</a:t>
          </a:r>
          <a:endParaRPr lang="it-IT" sz="1800" b="1" u="sng" kern="1200" dirty="0"/>
        </a:p>
        <a:p>
          <a:pPr marL="0" lvl="0" indent="0" algn="ctr" defTabSz="800100">
            <a:lnSpc>
              <a:spcPct val="90000"/>
            </a:lnSpc>
            <a:spcBef>
              <a:spcPct val="0"/>
            </a:spcBef>
            <a:spcAft>
              <a:spcPct val="35000"/>
            </a:spcAft>
            <a:buNone/>
          </a:pPr>
          <a:r>
            <a:rPr lang="it-IT" sz="1800" b="1" kern="1200" dirty="0"/>
            <a:t>(2012)</a:t>
          </a:r>
        </a:p>
      </dsp:txBody>
      <dsp:txXfrm>
        <a:off x="1513247" y="138674"/>
        <a:ext cx="863723" cy="669579"/>
      </dsp:txXfrm>
    </dsp:sp>
    <dsp:sp modelId="{C6065EEF-4EBC-47CC-A23D-C0B4C4FDC3E5}">
      <dsp:nvSpPr>
        <dsp:cNvPr id="0" name=""/>
        <dsp:cNvSpPr/>
      </dsp:nvSpPr>
      <dsp:spPr>
        <a:xfrm>
          <a:off x="2661445" y="1233673"/>
          <a:ext cx="1099316" cy="946927"/>
        </a:xfrm>
        <a:prstGeom prst="ellipse">
          <a:avLst/>
        </a:prstGeom>
        <a:solidFill>
          <a:schemeClr val="accent3">
            <a:lumMod val="50000"/>
            <a:alpha val="5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it-IT" sz="1100" b="1" kern="1200" dirty="0" err="1"/>
            <a:t>GoogleNet</a:t>
          </a:r>
          <a:r>
            <a:rPr lang="it-IT" sz="1100" b="1" kern="1200" dirty="0"/>
            <a:t> (2014)</a:t>
          </a:r>
        </a:p>
      </dsp:txBody>
      <dsp:txXfrm>
        <a:off x="2822436" y="1372347"/>
        <a:ext cx="777334" cy="669579"/>
      </dsp:txXfrm>
    </dsp:sp>
    <dsp:sp modelId="{55BC067B-6699-44E8-89DB-F488CC19EED0}">
      <dsp:nvSpPr>
        <dsp:cNvPr id="0" name=""/>
        <dsp:cNvSpPr/>
      </dsp:nvSpPr>
      <dsp:spPr>
        <a:xfrm>
          <a:off x="1394860" y="2443593"/>
          <a:ext cx="1159882" cy="946927"/>
        </a:xfrm>
        <a:prstGeom prst="ellipse">
          <a:avLst/>
        </a:prstGeom>
        <a:solidFill>
          <a:schemeClr val="accent3">
            <a:lumMod val="50000"/>
            <a:alpha val="5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it-IT" sz="1100" b="1" kern="1200" dirty="0" err="1"/>
            <a:t>Residual</a:t>
          </a:r>
          <a:r>
            <a:rPr lang="it-IT" sz="1100" b="1" kern="1200" dirty="0"/>
            <a:t> </a:t>
          </a:r>
          <a:r>
            <a:rPr lang="it-IT" sz="1100" b="1" kern="1200" dirty="0" err="1"/>
            <a:t>Nets</a:t>
          </a:r>
          <a:r>
            <a:rPr lang="it-IT" sz="1100" b="1" kern="1200" dirty="0"/>
            <a:t> </a:t>
          </a:r>
        </a:p>
        <a:p>
          <a:pPr marL="0" lvl="0" indent="0" algn="ctr" defTabSz="488950">
            <a:lnSpc>
              <a:spcPct val="90000"/>
            </a:lnSpc>
            <a:spcBef>
              <a:spcPct val="0"/>
            </a:spcBef>
            <a:spcAft>
              <a:spcPct val="35000"/>
            </a:spcAft>
            <a:buNone/>
          </a:pPr>
          <a:r>
            <a:rPr lang="it-IT" sz="1100" b="1" kern="1200" dirty="0"/>
            <a:t>(2015) </a:t>
          </a:r>
        </a:p>
      </dsp:txBody>
      <dsp:txXfrm>
        <a:off x="1564721" y="2582267"/>
        <a:ext cx="820160" cy="669579"/>
      </dsp:txXfrm>
    </dsp:sp>
    <dsp:sp modelId="{AA961A49-DFB6-45B1-A133-56261D05FDA3}">
      <dsp:nvSpPr>
        <dsp:cNvPr id="0" name=""/>
        <dsp:cNvSpPr/>
      </dsp:nvSpPr>
      <dsp:spPr>
        <a:xfrm>
          <a:off x="150544" y="1233673"/>
          <a:ext cx="1122459" cy="946927"/>
        </a:xfrm>
        <a:prstGeom prst="ellipse">
          <a:avLst/>
        </a:prstGeom>
        <a:solidFill>
          <a:schemeClr val="accent3">
            <a:lumMod val="50000"/>
            <a:alpha val="50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it-IT" sz="1400" b="1" u="sng" kern="1200" dirty="0"/>
            <a:t>VGG Net </a:t>
          </a:r>
        </a:p>
        <a:p>
          <a:pPr marL="0" lvl="0" indent="0" algn="ctr" defTabSz="622300">
            <a:lnSpc>
              <a:spcPct val="90000"/>
            </a:lnSpc>
            <a:spcBef>
              <a:spcPct val="0"/>
            </a:spcBef>
            <a:spcAft>
              <a:spcPct val="35000"/>
            </a:spcAft>
            <a:buNone/>
          </a:pPr>
          <a:r>
            <a:rPr lang="it-IT" sz="1400" b="1" kern="1200" dirty="0"/>
            <a:t>(2° </a:t>
          </a:r>
          <a:r>
            <a:rPr lang="it-IT" sz="1400" b="1" kern="1200" dirty="0" err="1"/>
            <a:t>ranked</a:t>
          </a:r>
          <a:r>
            <a:rPr lang="it-IT" sz="1400" b="1" kern="1200" dirty="0"/>
            <a:t> in 2014)</a:t>
          </a:r>
        </a:p>
      </dsp:txBody>
      <dsp:txXfrm>
        <a:off x="314924" y="1372347"/>
        <a:ext cx="793699" cy="6695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AEE76E-989C-47EA-B7AB-C56E97697508}">
      <dsp:nvSpPr>
        <dsp:cNvPr id="0" name=""/>
        <dsp:cNvSpPr/>
      </dsp:nvSpPr>
      <dsp:spPr>
        <a:xfrm>
          <a:off x="0" y="71925"/>
          <a:ext cx="1964041" cy="1014823"/>
        </a:xfrm>
        <a:prstGeom prst="roundRect">
          <a:avLst>
            <a:gd name="adj" fmla="val 10000"/>
          </a:avLst>
        </a:prstGeom>
        <a:solidFill>
          <a:schemeClr val="tx1">
            <a:lumMod val="65000"/>
            <a:lumOff val="3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Times New Roman" panose="02020603050405020304" pitchFamily="18" charset="0"/>
              <a:cs typeface="Times New Roman" panose="02020603050405020304" pitchFamily="18" charset="0"/>
            </a:rPr>
            <a:t>Candidate </a:t>
          </a:r>
          <a:r>
            <a:rPr lang="it-IT" sz="1800" b="1" kern="1200" dirty="0" err="1">
              <a:latin typeface="Times New Roman" panose="02020603050405020304" pitchFamily="18" charset="0"/>
              <a:cs typeface="Times New Roman" panose="02020603050405020304" pitchFamily="18" charset="0"/>
            </a:rPr>
            <a:t>Nodule</a:t>
          </a:r>
          <a:r>
            <a:rPr lang="it-IT" sz="1800" b="1" kern="1200" dirty="0">
              <a:latin typeface="Times New Roman" panose="02020603050405020304" pitchFamily="18" charset="0"/>
              <a:cs typeface="Times New Roman" panose="02020603050405020304" pitchFamily="18" charset="0"/>
            </a:rPr>
            <a:t> </a:t>
          </a:r>
          <a:r>
            <a:rPr lang="it-IT" sz="1800" b="1" kern="1200" dirty="0" err="1">
              <a:latin typeface="Times New Roman" panose="02020603050405020304" pitchFamily="18" charset="0"/>
              <a:cs typeface="Times New Roman" panose="02020603050405020304" pitchFamily="18" charset="0"/>
            </a:rPr>
            <a:t>Selection</a:t>
          </a:r>
          <a:r>
            <a:rPr lang="it-IT" sz="1800" b="1" kern="1200" dirty="0">
              <a:latin typeface="Times New Roman" panose="02020603050405020304" pitchFamily="18" charset="0"/>
              <a:cs typeface="Times New Roman" panose="02020603050405020304" pitchFamily="18" charset="0"/>
            </a:rPr>
            <a:t> via UNET</a:t>
          </a:r>
        </a:p>
      </dsp:txBody>
      <dsp:txXfrm>
        <a:off x="29723" y="101648"/>
        <a:ext cx="1904595" cy="955377"/>
      </dsp:txXfrm>
    </dsp:sp>
    <dsp:sp modelId="{A5A77626-7D36-4DC1-8A33-A682E8DD6535}">
      <dsp:nvSpPr>
        <dsp:cNvPr id="0" name=""/>
        <dsp:cNvSpPr/>
      </dsp:nvSpPr>
      <dsp:spPr>
        <a:xfrm rot="666951">
          <a:off x="2091942" y="650585"/>
          <a:ext cx="829670" cy="456670"/>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it-IT" sz="1400" kern="1200"/>
        </a:p>
      </dsp:txBody>
      <dsp:txXfrm>
        <a:off x="2093227" y="728713"/>
        <a:ext cx="692669" cy="274002"/>
      </dsp:txXfrm>
    </dsp:sp>
    <dsp:sp modelId="{EA78AA65-B551-4719-8AAC-48279BF61A59}">
      <dsp:nvSpPr>
        <dsp:cNvPr id="0" name=""/>
        <dsp:cNvSpPr/>
      </dsp:nvSpPr>
      <dsp:spPr>
        <a:xfrm>
          <a:off x="3049515" y="671092"/>
          <a:ext cx="1964041" cy="1014823"/>
        </a:xfrm>
        <a:prstGeom prst="roundRect">
          <a:avLst>
            <a:gd name="adj" fmla="val 10000"/>
          </a:avLst>
        </a:prstGeom>
        <a:solidFill>
          <a:schemeClr val="tx1">
            <a:lumMod val="65000"/>
            <a:lumOff val="3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err="1">
              <a:latin typeface="Times New Roman" panose="02020603050405020304" pitchFamily="18" charset="0"/>
              <a:cs typeface="Times New Roman" panose="02020603050405020304" pitchFamily="18" charset="0"/>
            </a:rPr>
            <a:t>Dilation</a:t>
          </a:r>
          <a:r>
            <a:rPr lang="it-IT" sz="1800" b="1" kern="1200" dirty="0">
              <a:latin typeface="Times New Roman" panose="02020603050405020304" pitchFamily="18" charset="0"/>
              <a:cs typeface="Times New Roman" panose="02020603050405020304" pitchFamily="18" charset="0"/>
            </a:rPr>
            <a:t>, </a:t>
          </a:r>
          <a:r>
            <a:rPr lang="it-IT" sz="1800" b="1" kern="1200" dirty="0" err="1">
              <a:latin typeface="Times New Roman" panose="02020603050405020304" pitchFamily="18" charset="0"/>
              <a:cs typeface="Times New Roman" panose="02020603050405020304" pitchFamily="18" charset="0"/>
            </a:rPr>
            <a:t>Erosion</a:t>
          </a:r>
          <a:r>
            <a:rPr lang="it-IT" sz="1800" b="1" kern="1200" dirty="0">
              <a:latin typeface="Times New Roman" panose="02020603050405020304" pitchFamily="18" charset="0"/>
              <a:cs typeface="Times New Roman" panose="02020603050405020304" pitchFamily="18" charset="0"/>
            </a:rPr>
            <a:t>, </a:t>
          </a:r>
          <a:r>
            <a:rPr lang="it-IT" sz="1800" b="1" kern="1200" dirty="0" err="1">
              <a:latin typeface="Times New Roman" panose="02020603050405020304" pitchFamily="18" charset="0"/>
              <a:cs typeface="Times New Roman" panose="02020603050405020304" pitchFamily="18" charset="0"/>
            </a:rPr>
            <a:t>Nodules</a:t>
          </a:r>
          <a:r>
            <a:rPr lang="it-IT" sz="1800" b="1" kern="1200" dirty="0">
              <a:latin typeface="Times New Roman" panose="02020603050405020304" pitchFamily="18" charset="0"/>
              <a:cs typeface="Times New Roman" panose="02020603050405020304" pitchFamily="18" charset="0"/>
            </a:rPr>
            <a:t> </a:t>
          </a:r>
          <a:r>
            <a:rPr lang="it-IT" sz="1800" b="1" kern="1200" dirty="0" err="1">
              <a:latin typeface="Times New Roman" panose="02020603050405020304" pitchFamily="18" charset="0"/>
              <a:cs typeface="Times New Roman" panose="02020603050405020304" pitchFamily="18" charset="0"/>
            </a:rPr>
            <a:t>Distance</a:t>
          </a:r>
          <a:r>
            <a:rPr lang="it-IT" sz="1800" b="1" kern="1200" dirty="0">
              <a:latin typeface="Times New Roman" panose="02020603050405020304" pitchFamily="18" charset="0"/>
              <a:cs typeface="Times New Roman" panose="02020603050405020304" pitchFamily="18" charset="0"/>
            </a:rPr>
            <a:t> </a:t>
          </a:r>
          <a:r>
            <a:rPr lang="it-IT" sz="1800" b="1" kern="1200" dirty="0" err="1">
              <a:latin typeface="Times New Roman" panose="02020603050405020304" pitchFamily="18" charset="0"/>
              <a:cs typeface="Times New Roman" panose="02020603050405020304" pitchFamily="18" charset="0"/>
            </a:rPr>
            <a:t>Merging</a:t>
          </a:r>
          <a:endParaRPr lang="it-IT" sz="1800" b="1" kern="1200" dirty="0">
            <a:latin typeface="Times New Roman" panose="02020603050405020304" pitchFamily="18" charset="0"/>
            <a:cs typeface="Times New Roman" panose="02020603050405020304" pitchFamily="18" charset="0"/>
          </a:endParaRPr>
        </a:p>
      </dsp:txBody>
      <dsp:txXfrm>
        <a:off x="3079238" y="700815"/>
        <a:ext cx="1904595" cy="955377"/>
      </dsp:txXfrm>
    </dsp:sp>
    <dsp:sp modelId="{28BC4B2A-C754-44E0-A2FD-3D5EFC38408D}">
      <dsp:nvSpPr>
        <dsp:cNvPr id="0" name=""/>
        <dsp:cNvSpPr/>
      </dsp:nvSpPr>
      <dsp:spPr>
        <a:xfrm rot="792923">
          <a:off x="5100153" y="1269349"/>
          <a:ext cx="581142" cy="456670"/>
        </a:xfrm>
        <a:prstGeom prst="rightArrow">
          <a:avLst>
            <a:gd name="adj1" fmla="val 60000"/>
            <a:gd name="adj2" fmla="val 5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it-IT" sz="1400" kern="1200"/>
        </a:p>
      </dsp:txBody>
      <dsp:txXfrm>
        <a:off x="5101967" y="1345023"/>
        <a:ext cx="444141" cy="274002"/>
      </dsp:txXfrm>
    </dsp:sp>
    <dsp:sp modelId="{D95C81F7-AE69-4AA4-8ECC-0818A63E295A}">
      <dsp:nvSpPr>
        <dsp:cNvPr id="0" name=""/>
        <dsp:cNvSpPr/>
      </dsp:nvSpPr>
      <dsp:spPr>
        <a:xfrm>
          <a:off x="5767893" y="1309452"/>
          <a:ext cx="1964041" cy="1014823"/>
        </a:xfrm>
        <a:prstGeom prst="roundRect">
          <a:avLst>
            <a:gd name="adj" fmla="val 10000"/>
          </a:avLst>
        </a:prstGeom>
        <a:solidFill>
          <a:schemeClr val="tx1">
            <a:lumMod val="65000"/>
            <a:lumOff val="3500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it-IT" sz="1800" b="1" kern="1200" dirty="0">
              <a:latin typeface="Times New Roman" panose="02020603050405020304" pitchFamily="18" charset="0"/>
              <a:cs typeface="Times New Roman" panose="02020603050405020304" pitchFamily="18" charset="0"/>
            </a:rPr>
            <a:t>False</a:t>
          </a:r>
          <a:r>
            <a:rPr lang="it-IT" sz="1800" b="1" kern="1200" dirty="0"/>
            <a:t> </a:t>
          </a:r>
          <a:r>
            <a:rPr lang="it-IT" sz="1800" b="1" kern="1200" dirty="0">
              <a:latin typeface="Times New Roman" panose="02020603050405020304" pitchFamily="18" charset="0"/>
              <a:cs typeface="Times New Roman" panose="02020603050405020304" pitchFamily="18" charset="0"/>
            </a:rPr>
            <a:t>Positive </a:t>
          </a:r>
          <a:r>
            <a:rPr lang="it-IT" sz="1800" b="1" kern="1200" dirty="0" err="1">
              <a:latin typeface="Times New Roman" panose="02020603050405020304" pitchFamily="18" charset="0"/>
              <a:cs typeface="Times New Roman" panose="02020603050405020304" pitchFamily="18" charset="0"/>
            </a:rPr>
            <a:t>Reduction</a:t>
          </a:r>
          <a:r>
            <a:rPr lang="it-IT" sz="1800" b="1" kern="1200" dirty="0">
              <a:latin typeface="Times New Roman" panose="02020603050405020304" pitchFamily="18" charset="0"/>
              <a:cs typeface="Times New Roman" panose="02020603050405020304" pitchFamily="18" charset="0"/>
            </a:rPr>
            <a:t> via </a:t>
          </a:r>
          <a:r>
            <a:rPr lang="it-IT" sz="1800" b="1" kern="1200" dirty="0" err="1">
              <a:latin typeface="Times New Roman" panose="02020603050405020304" pitchFamily="18" charset="0"/>
              <a:cs typeface="Times New Roman" panose="02020603050405020304" pitchFamily="18" charset="0"/>
            </a:rPr>
            <a:t>WideResNet</a:t>
          </a:r>
          <a:endParaRPr lang="it-IT" sz="1800" b="1" kern="1200" dirty="0">
            <a:latin typeface="Times New Roman" panose="02020603050405020304" pitchFamily="18" charset="0"/>
            <a:cs typeface="Times New Roman" panose="02020603050405020304" pitchFamily="18" charset="0"/>
          </a:endParaRPr>
        </a:p>
      </dsp:txBody>
      <dsp:txXfrm>
        <a:off x="5797616" y="1339175"/>
        <a:ext cx="1904595" cy="95537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C5F835E2-227D-43BA-B3A5-E9E433264387}" type="datetimeFigureOut">
              <a:rPr lang="en-US"/>
              <a:pPr>
                <a:defRPr/>
              </a:pPr>
              <a:t>5/12/2026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F5F5882C-B867-4FE7-97C9-87FBF93DC802}" type="slidenum">
              <a:rPr lang="en-US"/>
              <a:pPr>
                <a:defRPr/>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10"/>
          </p:nvPr>
        </p:nvSpPr>
        <p:spPr/>
        <p:txBody>
          <a:bodyPr/>
          <a:lstStyle/>
          <a:p>
            <a:pPr>
              <a:defRPr/>
            </a:pPr>
            <a:fld id="{F5F5882C-B867-4FE7-97C9-87FBF93DC802}" type="slidenum">
              <a:rPr lang="en-US" smtClean="0"/>
              <a:pPr>
                <a:defRPr/>
              </a:pPr>
              <a:t>1</a:t>
            </a:fld>
            <a:endParaRPr lang="en-US"/>
          </a:p>
        </p:txBody>
      </p:sp>
    </p:spTree>
    <p:extLst>
      <p:ext uri="{BB962C8B-B14F-4D97-AF65-F5344CB8AC3E}">
        <p14:creationId xmlns:p14="http://schemas.microsoft.com/office/powerpoint/2010/main" val="1551164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a:t>
            </a:fld>
            <a:endParaRPr lang="en-US"/>
          </a:p>
        </p:txBody>
      </p:sp>
    </p:spTree>
    <p:extLst>
      <p:ext uri="{BB962C8B-B14F-4D97-AF65-F5344CB8AC3E}">
        <p14:creationId xmlns:p14="http://schemas.microsoft.com/office/powerpoint/2010/main" val="3469164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a:t>
            </a:fld>
            <a:endParaRPr lang="en-US"/>
          </a:p>
        </p:txBody>
      </p:sp>
    </p:spTree>
    <p:extLst>
      <p:ext uri="{BB962C8B-B14F-4D97-AF65-F5344CB8AC3E}">
        <p14:creationId xmlns:p14="http://schemas.microsoft.com/office/powerpoint/2010/main" val="2145836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4</a:t>
            </a:fld>
            <a:endParaRPr lang="en-US"/>
          </a:p>
        </p:txBody>
      </p:sp>
    </p:spTree>
    <p:extLst>
      <p:ext uri="{BB962C8B-B14F-4D97-AF65-F5344CB8AC3E}">
        <p14:creationId xmlns:p14="http://schemas.microsoft.com/office/powerpoint/2010/main" val="342920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5</a:t>
            </a:fld>
            <a:endParaRPr lang="en-US"/>
          </a:p>
        </p:txBody>
      </p:sp>
    </p:spTree>
    <p:extLst>
      <p:ext uri="{BB962C8B-B14F-4D97-AF65-F5344CB8AC3E}">
        <p14:creationId xmlns:p14="http://schemas.microsoft.com/office/powerpoint/2010/main" val="774073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6</a:t>
            </a:fld>
            <a:endParaRPr lang="en-US"/>
          </a:p>
        </p:txBody>
      </p:sp>
    </p:spTree>
    <p:extLst>
      <p:ext uri="{BB962C8B-B14F-4D97-AF65-F5344CB8AC3E}">
        <p14:creationId xmlns:p14="http://schemas.microsoft.com/office/powerpoint/2010/main" val="2092383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7</a:t>
            </a:fld>
            <a:endParaRPr lang="en-US"/>
          </a:p>
        </p:txBody>
      </p:sp>
    </p:spTree>
    <p:extLst>
      <p:ext uri="{BB962C8B-B14F-4D97-AF65-F5344CB8AC3E}">
        <p14:creationId xmlns:p14="http://schemas.microsoft.com/office/powerpoint/2010/main" val="2543962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8</a:t>
            </a:fld>
            <a:endParaRPr lang="en-US"/>
          </a:p>
        </p:txBody>
      </p:sp>
    </p:spTree>
    <p:extLst>
      <p:ext uri="{BB962C8B-B14F-4D97-AF65-F5344CB8AC3E}">
        <p14:creationId xmlns:p14="http://schemas.microsoft.com/office/powerpoint/2010/main" val="3233782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9</a:t>
            </a:fld>
            <a:endParaRPr lang="en-US"/>
          </a:p>
        </p:txBody>
      </p:sp>
    </p:spTree>
    <p:extLst>
      <p:ext uri="{BB962C8B-B14F-4D97-AF65-F5344CB8AC3E}">
        <p14:creationId xmlns:p14="http://schemas.microsoft.com/office/powerpoint/2010/main" val="3377115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10</a:t>
            </a:fld>
            <a:endParaRPr lang="en-US"/>
          </a:p>
        </p:txBody>
      </p:sp>
    </p:spTree>
    <p:extLst>
      <p:ext uri="{BB962C8B-B14F-4D97-AF65-F5344CB8AC3E}">
        <p14:creationId xmlns:p14="http://schemas.microsoft.com/office/powerpoint/2010/main" val="2538939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11</a:t>
            </a:fld>
            <a:endParaRPr lang="en-US"/>
          </a:p>
        </p:txBody>
      </p:sp>
    </p:spTree>
    <p:extLst>
      <p:ext uri="{BB962C8B-B14F-4D97-AF65-F5344CB8AC3E}">
        <p14:creationId xmlns:p14="http://schemas.microsoft.com/office/powerpoint/2010/main" val="2256101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12</a:t>
            </a:fld>
            <a:endParaRPr lang="en-US"/>
          </a:p>
        </p:txBody>
      </p:sp>
    </p:spTree>
    <p:extLst>
      <p:ext uri="{BB962C8B-B14F-4D97-AF65-F5344CB8AC3E}">
        <p14:creationId xmlns:p14="http://schemas.microsoft.com/office/powerpoint/2010/main" val="3059510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13</a:t>
            </a:fld>
            <a:endParaRPr lang="en-US"/>
          </a:p>
        </p:txBody>
      </p:sp>
    </p:spTree>
    <p:extLst>
      <p:ext uri="{BB962C8B-B14F-4D97-AF65-F5344CB8AC3E}">
        <p14:creationId xmlns:p14="http://schemas.microsoft.com/office/powerpoint/2010/main" val="37914322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14</a:t>
            </a:fld>
            <a:endParaRPr lang="en-US"/>
          </a:p>
        </p:txBody>
      </p:sp>
    </p:spTree>
    <p:extLst>
      <p:ext uri="{BB962C8B-B14F-4D97-AF65-F5344CB8AC3E}">
        <p14:creationId xmlns:p14="http://schemas.microsoft.com/office/powerpoint/2010/main" val="960972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15</a:t>
            </a:fld>
            <a:endParaRPr lang="en-US"/>
          </a:p>
        </p:txBody>
      </p:sp>
    </p:spTree>
    <p:extLst>
      <p:ext uri="{BB962C8B-B14F-4D97-AF65-F5344CB8AC3E}">
        <p14:creationId xmlns:p14="http://schemas.microsoft.com/office/powerpoint/2010/main" val="3709834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16</a:t>
            </a:fld>
            <a:endParaRPr lang="en-US"/>
          </a:p>
        </p:txBody>
      </p:sp>
    </p:spTree>
    <p:extLst>
      <p:ext uri="{BB962C8B-B14F-4D97-AF65-F5344CB8AC3E}">
        <p14:creationId xmlns:p14="http://schemas.microsoft.com/office/powerpoint/2010/main" val="1722583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17</a:t>
            </a:fld>
            <a:endParaRPr lang="en-US"/>
          </a:p>
        </p:txBody>
      </p:sp>
    </p:spTree>
    <p:extLst>
      <p:ext uri="{BB962C8B-B14F-4D97-AF65-F5344CB8AC3E}">
        <p14:creationId xmlns:p14="http://schemas.microsoft.com/office/powerpoint/2010/main" val="22560720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18</a:t>
            </a:fld>
            <a:endParaRPr lang="en-US"/>
          </a:p>
        </p:txBody>
      </p:sp>
    </p:spTree>
    <p:extLst>
      <p:ext uri="{BB962C8B-B14F-4D97-AF65-F5344CB8AC3E}">
        <p14:creationId xmlns:p14="http://schemas.microsoft.com/office/powerpoint/2010/main" val="924128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19</a:t>
            </a:fld>
            <a:endParaRPr lang="en-US"/>
          </a:p>
        </p:txBody>
      </p:sp>
    </p:spTree>
    <p:extLst>
      <p:ext uri="{BB962C8B-B14F-4D97-AF65-F5344CB8AC3E}">
        <p14:creationId xmlns:p14="http://schemas.microsoft.com/office/powerpoint/2010/main" val="20461537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20</a:t>
            </a:fld>
            <a:endParaRPr lang="en-US"/>
          </a:p>
        </p:txBody>
      </p:sp>
    </p:spTree>
    <p:extLst>
      <p:ext uri="{BB962C8B-B14F-4D97-AF65-F5344CB8AC3E}">
        <p14:creationId xmlns:p14="http://schemas.microsoft.com/office/powerpoint/2010/main" val="3783423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21</a:t>
            </a:fld>
            <a:endParaRPr lang="en-US"/>
          </a:p>
        </p:txBody>
      </p:sp>
    </p:spTree>
    <p:extLst>
      <p:ext uri="{BB962C8B-B14F-4D97-AF65-F5344CB8AC3E}">
        <p14:creationId xmlns:p14="http://schemas.microsoft.com/office/powerpoint/2010/main" val="4180411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22</a:t>
            </a:fld>
            <a:endParaRPr lang="en-US"/>
          </a:p>
        </p:txBody>
      </p:sp>
    </p:spTree>
    <p:extLst>
      <p:ext uri="{BB962C8B-B14F-4D97-AF65-F5344CB8AC3E}">
        <p14:creationId xmlns:p14="http://schemas.microsoft.com/office/powerpoint/2010/main" val="2450000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23</a:t>
            </a:fld>
            <a:endParaRPr lang="en-US"/>
          </a:p>
        </p:txBody>
      </p:sp>
    </p:spTree>
    <p:extLst>
      <p:ext uri="{BB962C8B-B14F-4D97-AF65-F5344CB8AC3E}">
        <p14:creationId xmlns:p14="http://schemas.microsoft.com/office/powerpoint/2010/main" val="41602210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24</a:t>
            </a:fld>
            <a:endParaRPr lang="en-US"/>
          </a:p>
        </p:txBody>
      </p:sp>
    </p:spTree>
    <p:extLst>
      <p:ext uri="{BB962C8B-B14F-4D97-AF65-F5344CB8AC3E}">
        <p14:creationId xmlns:p14="http://schemas.microsoft.com/office/powerpoint/2010/main" val="4238608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25</a:t>
            </a:fld>
            <a:endParaRPr lang="en-US"/>
          </a:p>
        </p:txBody>
      </p:sp>
    </p:spTree>
    <p:extLst>
      <p:ext uri="{BB962C8B-B14F-4D97-AF65-F5344CB8AC3E}">
        <p14:creationId xmlns:p14="http://schemas.microsoft.com/office/powerpoint/2010/main" val="40174142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26</a:t>
            </a:fld>
            <a:endParaRPr lang="en-US"/>
          </a:p>
        </p:txBody>
      </p:sp>
    </p:spTree>
    <p:extLst>
      <p:ext uri="{BB962C8B-B14F-4D97-AF65-F5344CB8AC3E}">
        <p14:creationId xmlns:p14="http://schemas.microsoft.com/office/powerpoint/2010/main" val="1191233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27</a:t>
            </a:fld>
            <a:endParaRPr lang="en-US"/>
          </a:p>
        </p:txBody>
      </p:sp>
    </p:spTree>
    <p:extLst>
      <p:ext uri="{BB962C8B-B14F-4D97-AF65-F5344CB8AC3E}">
        <p14:creationId xmlns:p14="http://schemas.microsoft.com/office/powerpoint/2010/main" val="8230269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28</a:t>
            </a:fld>
            <a:endParaRPr lang="en-US"/>
          </a:p>
        </p:txBody>
      </p:sp>
    </p:spTree>
    <p:extLst>
      <p:ext uri="{BB962C8B-B14F-4D97-AF65-F5344CB8AC3E}">
        <p14:creationId xmlns:p14="http://schemas.microsoft.com/office/powerpoint/2010/main" val="4224516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29</a:t>
            </a:fld>
            <a:endParaRPr lang="en-US"/>
          </a:p>
        </p:txBody>
      </p:sp>
    </p:spTree>
    <p:extLst>
      <p:ext uri="{BB962C8B-B14F-4D97-AF65-F5344CB8AC3E}">
        <p14:creationId xmlns:p14="http://schemas.microsoft.com/office/powerpoint/2010/main" val="37657137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30</a:t>
            </a:fld>
            <a:endParaRPr lang="en-US"/>
          </a:p>
        </p:txBody>
      </p:sp>
    </p:spTree>
    <p:extLst>
      <p:ext uri="{BB962C8B-B14F-4D97-AF65-F5344CB8AC3E}">
        <p14:creationId xmlns:p14="http://schemas.microsoft.com/office/powerpoint/2010/main" val="39253995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31</a:t>
            </a:fld>
            <a:endParaRPr lang="en-US"/>
          </a:p>
        </p:txBody>
      </p:sp>
    </p:spTree>
    <p:extLst>
      <p:ext uri="{BB962C8B-B14F-4D97-AF65-F5344CB8AC3E}">
        <p14:creationId xmlns:p14="http://schemas.microsoft.com/office/powerpoint/2010/main" val="42080217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32</a:t>
            </a:fld>
            <a:endParaRPr lang="en-US"/>
          </a:p>
        </p:txBody>
      </p:sp>
    </p:spTree>
    <p:extLst>
      <p:ext uri="{BB962C8B-B14F-4D97-AF65-F5344CB8AC3E}">
        <p14:creationId xmlns:p14="http://schemas.microsoft.com/office/powerpoint/2010/main" val="18364252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33</a:t>
            </a:fld>
            <a:endParaRPr lang="en-US"/>
          </a:p>
        </p:txBody>
      </p:sp>
    </p:spTree>
    <p:extLst>
      <p:ext uri="{BB962C8B-B14F-4D97-AF65-F5344CB8AC3E}">
        <p14:creationId xmlns:p14="http://schemas.microsoft.com/office/powerpoint/2010/main" val="30411477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34</a:t>
            </a:fld>
            <a:endParaRPr lang="en-US"/>
          </a:p>
        </p:txBody>
      </p:sp>
    </p:spTree>
    <p:extLst>
      <p:ext uri="{BB962C8B-B14F-4D97-AF65-F5344CB8AC3E}">
        <p14:creationId xmlns:p14="http://schemas.microsoft.com/office/powerpoint/2010/main" val="24766599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35</a:t>
            </a:fld>
            <a:endParaRPr lang="en-US"/>
          </a:p>
        </p:txBody>
      </p:sp>
    </p:spTree>
    <p:extLst>
      <p:ext uri="{BB962C8B-B14F-4D97-AF65-F5344CB8AC3E}">
        <p14:creationId xmlns:p14="http://schemas.microsoft.com/office/powerpoint/2010/main" val="21569697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36</a:t>
            </a:fld>
            <a:endParaRPr lang="en-US"/>
          </a:p>
        </p:txBody>
      </p:sp>
    </p:spTree>
    <p:extLst>
      <p:ext uri="{BB962C8B-B14F-4D97-AF65-F5344CB8AC3E}">
        <p14:creationId xmlns:p14="http://schemas.microsoft.com/office/powerpoint/2010/main" val="30595594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37</a:t>
            </a:fld>
            <a:endParaRPr lang="en-US"/>
          </a:p>
        </p:txBody>
      </p:sp>
    </p:spTree>
    <p:extLst>
      <p:ext uri="{BB962C8B-B14F-4D97-AF65-F5344CB8AC3E}">
        <p14:creationId xmlns:p14="http://schemas.microsoft.com/office/powerpoint/2010/main" val="36913653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38</a:t>
            </a:fld>
            <a:endParaRPr lang="en-US"/>
          </a:p>
        </p:txBody>
      </p:sp>
    </p:spTree>
    <p:extLst>
      <p:ext uri="{BB962C8B-B14F-4D97-AF65-F5344CB8AC3E}">
        <p14:creationId xmlns:p14="http://schemas.microsoft.com/office/powerpoint/2010/main" val="6870087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DE497-2A33-2E10-4CC7-09311E2FBC3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1363317-06EB-6696-FEA8-EAA97FECBDD5}"/>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46AC196-75D7-4A38-27B5-2061E757A338}"/>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C4DD7A30-1907-EE86-ECA3-4753EF99E867}"/>
              </a:ext>
            </a:extLst>
          </p:cNvPr>
          <p:cNvSpPr>
            <a:spLocks noGrp="1"/>
          </p:cNvSpPr>
          <p:nvPr>
            <p:ph type="sldNum" sz="quarter" idx="5"/>
          </p:nvPr>
        </p:nvSpPr>
        <p:spPr/>
        <p:txBody>
          <a:bodyPr/>
          <a:lstStyle/>
          <a:p>
            <a:pPr>
              <a:defRPr/>
            </a:pPr>
            <a:fld id="{F5F5882C-B867-4FE7-97C9-87FBF93DC802}" type="slidenum">
              <a:rPr lang="en-US" smtClean="0"/>
              <a:pPr>
                <a:defRPr/>
              </a:pPr>
              <a:t>39</a:t>
            </a:fld>
            <a:endParaRPr lang="en-US"/>
          </a:p>
        </p:txBody>
      </p:sp>
    </p:spTree>
    <p:extLst>
      <p:ext uri="{BB962C8B-B14F-4D97-AF65-F5344CB8AC3E}">
        <p14:creationId xmlns:p14="http://schemas.microsoft.com/office/powerpoint/2010/main" val="35553776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40</a:t>
            </a:fld>
            <a:endParaRPr lang="en-US"/>
          </a:p>
        </p:txBody>
      </p:sp>
    </p:spTree>
    <p:extLst>
      <p:ext uri="{BB962C8B-B14F-4D97-AF65-F5344CB8AC3E}">
        <p14:creationId xmlns:p14="http://schemas.microsoft.com/office/powerpoint/2010/main" val="2880489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41</a:t>
            </a:fld>
            <a:endParaRPr lang="en-US"/>
          </a:p>
        </p:txBody>
      </p:sp>
    </p:spTree>
    <p:extLst>
      <p:ext uri="{BB962C8B-B14F-4D97-AF65-F5344CB8AC3E}">
        <p14:creationId xmlns:p14="http://schemas.microsoft.com/office/powerpoint/2010/main" val="33232661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42</a:t>
            </a:fld>
            <a:endParaRPr lang="en-US"/>
          </a:p>
        </p:txBody>
      </p:sp>
    </p:spTree>
    <p:extLst>
      <p:ext uri="{BB962C8B-B14F-4D97-AF65-F5344CB8AC3E}">
        <p14:creationId xmlns:p14="http://schemas.microsoft.com/office/powerpoint/2010/main" val="21354809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43</a:t>
            </a:fld>
            <a:endParaRPr lang="en-US"/>
          </a:p>
        </p:txBody>
      </p:sp>
    </p:spTree>
    <p:extLst>
      <p:ext uri="{BB962C8B-B14F-4D97-AF65-F5344CB8AC3E}">
        <p14:creationId xmlns:p14="http://schemas.microsoft.com/office/powerpoint/2010/main" val="17960275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44</a:t>
            </a:fld>
            <a:endParaRPr lang="en-US"/>
          </a:p>
        </p:txBody>
      </p:sp>
    </p:spTree>
    <p:extLst>
      <p:ext uri="{BB962C8B-B14F-4D97-AF65-F5344CB8AC3E}">
        <p14:creationId xmlns:p14="http://schemas.microsoft.com/office/powerpoint/2010/main" val="30964896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45</a:t>
            </a:fld>
            <a:endParaRPr lang="en-US"/>
          </a:p>
        </p:txBody>
      </p:sp>
    </p:spTree>
    <p:extLst>
      <p:ext uri="{BB962C8B-B14F-4D97-AF65-F5344CB8AC3E}">
        <p14:creationId xmlns:p14="http://schemas.microsoft.com/office/powerpoint/2010/main" val="26510964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46</a:t>
            </a:fld>
            <a:endParaRPr lang="en-US"/>
          </a:p>
        </p:txBody>
      </p:sp>
    </p:spTree>
    <p:extLst>
      <p:ext uri="{BB962C8B-B14F-4D97-AF65-F5344CB8AC3E}">
        <p14:creationId xmlns:p14="http://schemas.microsoft.com/office/powerpoint/2010/main" val="261983252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47</a:t>
            </a:fld>
            <a:endParaRPr lang="en-US"/>
          </a:p>
        </p:txBody>
      </p:sp>
    </p:spTree>
    <p:extLst>
      <p:ext uri="{BB962C8B-B14F-4D97-AF65-F5344CB8AC3E}">
        <p14:creationId xmlns:p14="http://schemas.microsoft.com/office/powerpoint/2010/main" val="35177310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48</a:t>
            </a:fld>
            <a:endParaRPr lang="en-US"/>
          </a:p>
        </p:txBody>
      </p:sp>
    </p:spTree>
    <p:extLst>
      <p:ext uri="{BB962C8B-B14F-4D97-AF65-F5344CB8AC3E}">
        <p14:creationId xmlns:p14="http://schemas.microsoft.com/office/powerpoint/2010/main" val="24690875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49</a:t>
            </a:fld>
            <a:endParaRPr lang="en-US"/>
          </a:p>
        </p:txBody>
      </p:sp>
    </p:spTree>
    <p:extLst>
      <p:ext uri="{BB962C8B-B14F-4D97-AF65-F5344CB8AC3E}">
        <p14:creationId xmlns:p14="http://schemas.microsoft.com/office/powerpoint/2010/main" val="31103956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4E454-2A8F-1873-1725-5EEBD5561AC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6775818-5F14-B6B1-1F04-D02182165ED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D1377A1A-4A99-EB81-9CB9-E4DCE8D9DECD}"/>
              </a:ext>
            </a:extLst>
          </p:cNvPr>
          <p:cNvSpPr>
            <a:spLocks noGrp="1"/>
          </p:cNvSpPr>
          <p:nvPr>
            <p:ph type="body" idx="1"/>
          </p:nvPr>
        </p:nvSpPr>
        <p:spPr/>
        <p:txBody>
          <a:bodyPr/>
          <a:lstStyle/>
          <a:p>
            <a:endParaRPr lang="it-IT" dirty="0"/>
          </a:p>
        </p:txBody>
      </p:sp>
      <p:sp>
        <p:nvSpPr>
          <p:cNvPr id="4" name="Segnaposto numero diapositiva 3">
            <a:extLst>
              <a:ext uri="{FF2B5EF4-FFF2-40B4-BE49-F238E27FC236}">
                <a16:creationId xmlns:a16="http://schemas.microsoft.com/office/drawing/2014/main" id="{7E467D40-BF2C-FE16-6316-02A822C38C05}"/>
              </a:ext>
            </a:extLst>
          </p:cNvPr>
          <p:cNvSpPr>
            <a:spLocks noGrp="1"/>
          </p:cNvSpPr>
          <p:nvPr>
            <p:ph type="sldNum" sz="quarter" idx="5"/>
          </p:nvPr>
        </p:nvSpPr>
        <p:spPr/>
        <p:txBody>
          <a:bodyPr/>
          <a:lstStyle/>
          <a:p>
            <a:pPr>
              <a:defRPr/>
            </a:pPr>
            <a:fld id="{F5F5882C-B867-4FE7-97C9-87FBF93DC802}" type="slidenum">
              <a:rPr lang="en-US" smtClean="0"/>
              <a:pPr>
                <a:defRPr/>
              </a:pPr>
              <a:t>50</a:t>
            </a:fld>
            <a:endParaRPr lang="en-US"/>
          </a:p>
        </p:txBody>
      </p:sp>
    </p:spTree>
    <p:extLst>
      <p:ext uri="{BB962C8B-B14F-4D97-AF65-F5344CB8AC3E}">
        <p14:creationId xmlns:p14="http://schemas.microsoft.com/office/powerpoint/2010/main" val="305724572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pPr>
              <a:defRPr/>
            </a:pPr>
            <a:fld id="{F5F5882C-B867-4FE7-97C9-87FBF93DC802}" type="slidenum">
              <a:rPr lang="en-US" smtClean="0"/>
              <a:pPr>
                <a:defRPr/>
              </a:pPr>
              <a:t>51</a:t>
            </a:fld>
            <a:endParaRPr lang="en-US"/>
          </a:p>
        </p:txBody>
      </p:sp>
    </p:spTree>
    <p:extLst>
      <p:ext uri="{BB962C8B-B14F-4D97-AF65-F5344CB8AC3E}">
        <p14:creationId xmlns:p14="http://schemas.microsoft.com/office/powerpoint/2010/main" val="20068274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pPr>
              <a:defRPr/>
            </a:pPr>
            <a:fld id="{F5F5882C-B867-4FE7-97C9-87FBF93DC802}" type="slidenum">
              <a:rPr lang="en-US" smtClean="0"/>
              <a:pPr>
                <a:defRPr/>
              </a:pPr>
              <a:t>52</a:t>
            </a:fld>
            <a:endParaRPr lang="en-US"/>
          </a:p>
        </p:txBody>
      </p:sp>
    </p:spTree>
    <p:extLst>
      <p:ext uri="{BB962C8B-B14F-4D97-AF65-F5344CB8AC3E}">
        <p14:creationId xmlns:p14="http://schemas.microsoft.com/office/powerpoint/2010/main" val="164856088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pPr>
              <a:defRPr/>
            </a:pPr>
            <a:fld id="{F5F5882C-B867-4FE7-97C9-87FBF93DC802}" type="slidenum">
              <a:rPr lang="en-US" smtClean="0"/>
              <a:pPr>
                <a:defRPr/>
              </a:pPr>
              <a:t>53</a:t>
            </a:fld>
            <a:endParaRPr lang="en-US"/>
          </a:p>
        </p:txBody>
      </p:sp>
    </p:spTree>
    <p:extLst>
      <p:ext uri="{BB962C8B-B14F-4D97-AF65-F5344CB8AC3E}">
        <p14:creationId xmlns:p14="http://schemas.microsoft.com/office/powerpoint/2010/main" val="38457575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pPr>
              <a:defRPr/>
            </a:pPr>
            <a:fld id="{F5F5882C-B867-4FE7-97C9-87FBF93DC802}" type="slidenum">
              <a:rPr lang="en-US" smtClean="0"/>
              <a:pPr>
                <a:defRPr/>
              </a:pPr>
              <a:t>54</a:t>
            </a:fld>
            <a:endParaRPr lang="en-US"/>
          </a:p>
        </p:txBody>
      </p:sp>
    </p:spTree>
    <p:extLst>
      <p:ext uri="{BB962C8B-B14F-4D97-AF65-F5344CB8AC3E}">
        <p14:creationId xmlns:p14="http://schemas.microsoft.com/office/powerpoint/2010/main" val="39721068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pertin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71070" y="2621956"/>
            <a:ext cx="9818337" cy="2782819"/>
          </a:xfrm>
          <a:effectLst/>
        </p:spPr>
        <p:txBody>
          <a:bodyPr lIns="0" tIns="0" rIns="0" bIns="0" anchor="ctr">
            <a:normAutofit/>
          </a:bodyPr>
          <a:lstStyle>
            <a:lvl1pPr>
              <a:lnSpc>
                <a:spcPts val="3600"/>
              </a:lnSpc>
              <a:defRPr sz="3400" b="0" cap="none">
                <a:solidFill>
                  <a:srgbClr val="C00000"/>
                </a:solidFill>
                <a:latin typeface="Arial Narrow" panose="020B0606020202030204" pitchFamily="34" charset="0"/>
              </a:defRPr>
            </a:lvl1pPr>
          </a:lstStyle>
          <a:p>
            <a:r>
              <a:rPr lang="it-IT" dirty="0"/>
              <a:t>FARE CLIC PER MODIFICARE LO STILE DEL TITOLO DELLO SCHEMA FARE CLIC PER MODIFICARE LO STILE DEL TITOLO DELLO SCHEMA</a:t>
            </a:r>
            <a:endParaRPr lang="en-US" dirty="0"/>
          </a:p>
        </p:txBody>
      </p:sp>
      <p:sp>
        <p:nvSpPr>
          <p:cNvPr id="9" name="Text Placeholder 2">
            <a:extLst>
              <a:ext uri="{FF2B5EF4-FFF2-40B4-BE49-F238E27FC236}">
                <a16:creationId xmlns:a16="http://schemas.microsoft.com/office/drawing/2014/main" id="{384E50FF-EF10-4A0E-8686-237E66B249CE}"/>
              </a:ext>
            </a:extLst>
          </p:cNvPr>
          <p:cNvSpPr>
            <a:spLocks noGrp="1"/>
          </p:cNvSpPr>
          <p:nvPr>
            <p:ph type="body" idx="1"/>
          </p:nvPr>
        </p:nvSpPr>
        <p:spPr>
          <a:xfrm>
            <a:off x="469184" y="6495314"/>
            <a:ext cx="7481115" cy="179536"/>
          </a:xfrm>
        </p:spPr>
        <p:txBody>
          <a:bodyPr wrap="square" lIns="0" tIns="0" rIns="0" bIns="0">
            <a:spAutoFit/>
          </a:bodyPr>
          <a:lstStyle>
            <a:lvl1pPr marL="0" indent="0">
              <a:lnSpc>
                <a:spcPts val="1400"/>
              </a:lnSpc>
              <a:spcAft>
                <a:spcPts val="200"/>
              </a:spcAft>
              <a:buNone/>
              <a:defRPr sz="11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Modifica gli stili del testo dello schema</a:t>
            </a:r>
          </a:p>
        </p:txBody>
      </p:sp>
      <p:sp>
        <p:nvSpPr>
          <p:cNvPr id="20" name="Text Placeholder 2">
            <a:extLst>
              <a:ext uri="{FF2B5EF4-FFF2-40B4-BE49-F238E27FC236}">
                <a16:creationId xmlns:a16="http://schemas.microsoft.com/office/drawing/2014/main" id="{771492F8-659D-4E4C-A49D-B7C567539112}"/>
              </a:ext>
            </a:extLst>
          </p:cNvPr>
          <p:cNvSpPr>
            <a:spLocks noGrp="1"/>
          </p:cNvSpPr>
          <p:nvPr>
            <p:ph type="body" idx="10"/>
          </p:nvPr>
        </p:nvSpPr>
        <p:spPr>
          <a:xfrm>
            <a:off x="469185" y="1287956"/>
            <a:ext cx="3689746" cy="216000"/>
          </a:xfrm>
        </p:spPr>
        <p:txBody>
          <a:bodyPr lIns="0" tIns="0" rIns="0" bIns="0">
            <a:noAutofit/>
          </a:bodyPr>
          <a:lstStyle>
            <a:lvl1pPr marL="0" indent="0">
              <a:lnSpc>
                <a:spcPts val="1500"/>
              </a:lnSpc>
              <a:spcAft>
                <a:spcPts val="600"/>
              </a:spcAft>
              <a:buNone/>
              <a:defRPr lang="it-IT" sz="1200" dirty="0">
                <a:solidFill>
                  <a:schemeClr val="tx1">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Modifica gli stili del testo dello schema</a:t>
            </a:r>
          </a:p>
        </p:txBody>
      </p:sp>
      <p:sp>
        <p:nvSpPr>
          <p:cNvPr id="23" name="Text Placeholder 2">
            <a:extLst>
              <a:ext uri="{FF2B5EF4-FFF2-40B4-BE49-F238E27FC236}">
                <a16:creationId xmlns:a16="http://schemas.microsoft.com/office/drawing/2014/main" id="{384E50FF-EF10-4A0E-8686-237E66B249CE}"/>
              </a:ext>
            </a:extLst>
          </p:cNvPr>
          <p:cNvSpPr>
            <a:spLocks noGrp="1"/>
          </p:cNvSpPr>
          <p:nvPr>
            <p:ph type="body" idx="11" hasCustomPrompt="1"/>
          </p:nvPr>
        </p:nvSpPr>
        <p:spPr>
          <a:xfrm>
            <a:off x="469184" y="1522956"/>
            <a:ext cx="3689747" cy="1080000"/>
          </a:xfrm>
        </p:spPr>
        <p:txBody>
          <a:bodyPr lIns="0" tIns="0" rIns="0" bIns="0" anchor="t" anchorCtr="0">
            <a:noAutofit/>
          </a:bodyPr>
          <a:lstStyle>
            <a:lvl1pPr marL="0" indent="0">
              <a:lnSpc>
                <a:spcPct val="100000"/>
              </a:lnSpc>
              <a:spcAft>
                <a:spcPts val="0"/>
              </a:spcAft>
              <a:buNone/>
              <a:defRPr sz="2000" b="0">
                <a:solidFill>
                  <a:srgbClr val="636462"/>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MODIFICA GLI STILI DEL TESTO</a:t>
            </a:r>
          </a:p>
        </p:txBody>
      </p:sp>
      <p:sp>
        <p:nvSpPr>
          <p:cNvPr id="11" name="Text Placeholder 2">
            <a:extLst>
              <a:ext uri="{FF2B5EF4-FFF2-40B4-BE49-F238E27FC236}">
                <a16:creationId xmlns:a16="http://schemas.microsoft.com/office/drawing/2014/main" id="{384E50FF-EF10-4A0E-8686-237E66B249CE}"/>
              </a:ext>
            </a:extLst>
          </p:cNvPr>
          <p:cNvSpPr>
            <a:spLocks noGrp="1"/>
          </p:cNvSpPr>
          <p:nvPr>
            <p:ph type="body" idx="12" hasCustomPrompt="1"/>
          </p:nvPr>
        </p:nvSpPr>
        <p:spPr>
          <a:xfrm>
            <a:off x="469184" y="6297672"/>
            <a:ext cx="7481115" cy="188513"/>
          </a:xfrm>
        </p:spPr>
        <p:txBody>
          <a:bodyPr wrap="square" lIns="0" tIns="0" rIns="0" bIns="0">
            <a:spAutoFit/>
          </a:bodyPr>
          <a:lstStyle>
            <a:lvl1pPr marL="0" indent="0">
              <a:lnSpc>
                <a:spcPts val="1400"/>
              </a:lnSpc>
              <a:spcAft>
                <a:spcPts val="200"/>
              </a:spcAft>
              <a:buNone/>
              <a:defRPr sz="1400" b="0">
                <a:solidFill>
                  <a:schemeClr val="tx1">
                    <a:lumMod val="65000"/>
                    <a:lumOff val="35000"/>
                  </a:schemeClr>
                </a:solidFill>
                <a:latin typeface="Arial Narrow" panose="020B060602020203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MODIFICA GLI STILI DEL TESTO DELLO SCHEMA</a:t>
            </a:r>
          </a:p>
        </p:txBody>
      </p:sp>
      <p:sp>
        <p:nvSpPr>
          <p:cNvPr id="12" name="Rectangle 8">
            <a:extLst>
              <a:ext uri="{FF2B5EF4-FFF2-40B4-BE49-F238E27FC236}">
                <a16:creationId xmlns:a16="http://schemas.microsoft.com/office/drawing/2014/main" id="{A8FC9CB7-7D84-419A-988C-7B8817E18EDB}"/>
              </a:ext>
            </a:extLst>
          </p:cNvPr>
          <p:cNvSpPr/>
          <p:nvPr userDrawn="1"/>
        </p:nvSpPr>
        <p:spPr>
          <a:xfrm>
            <a:off x="463550" y="0"/>
            <a:ext cx="3708400" cy="1089025"/>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F57BA760-D00A-4F5B-B978-07F3F810367F}"/>
              </a:ext>
            </a:extLst>
          </p:cNvPr>
          <p:cNvSpPr/>
          <p:nvPr userDrawn="1"/>
        </p:nvSpPr>
        <p:spPr>
          <a:xfrm>
            <a:off x="4251325" y="0"/>
            <a:ext cx="3706813" cy="1089025"/>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pic>
        <p:nvPicPr>
          <p:cNvPr id="4" name="Immagine 3">
            <a:extLst>
              <a:ext uri="{FF2B5EF4-FFF2-40B4-BE49-F238E27FC236}">
                <a16:creationId xmlns:a16="http://schemas.microsoft.com/office/drawing/2014/main" id="{617FA033-79E9-4921-B88E-03D9DAACCE5F}"/>
              </a:ext>
            </a:extLst>
          </p:cNvPr>
          <p:cNvPicPr>
            <a:picLocks noChangeAspect="1"/>
          </p:cNvPicPr>
          <p:nvPr userDrawn="1"/>
        </p:nvPicPr>
        <p:blipFill>
          <a:blip r:embed="rId2"/>
          <a:stretch>
            <a:fillRect/>
          </a:stretch>
        </p:blipFill>
        <p:spPr>
          <a:xfrm>
            <a:off x="8550841" y="637832"/>
            <a:ext cx="2700000" cy="461927"/>
          </a:xfrm>
          <a:prstGeom prst="rect">
            <a:avLst/>
          </a:prstGeom>
        </p:spPr>
      </p:pic>
      <p:sp>
        <p:nvSpPr>
          <p:cNvPr id="16" name="Rectangle 9">
            <a:extLst>
              <a:ext uri="{FF2B5EF4-FFF2-40B4-BE49-F238E27FC236}">
                <a16:creationId xmlns:a16="http://schemas.microsoft.com/office/drawing/2014/main" id="{821E4C3A-67D5-4B9E-B373-7B560EA0839E}"/>
              </a:ext>
            </a:extLst>
          </p:cNvPr>
          <p:cNvSpPr/>
          <p:nvPr userDrawn="1"/>
        </p:nvSpPr>
        <p:spPr>
          <a:xfrm>
            <a:off x="8037513" y="0"/>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55998298"/>
      </p:ext>
    </p:extLst>
  </p:cSld>
  <p:clrMapOvr>
    <a:masterClrMapping/>
  </p:clrMapOvr>
  <p:extLst>
    <p:ext uri="{DCECCB84-F9BA-43D5-87BE-67443E8EF086}">
      <p15:sldGuideLst xmlns:p15="http://schemas.microsoft.com/office/powerpoint/2012/main">
        <p15:guide id="1" orient="horz" pos="981"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 o elenco puntato">
    <p:spTree>
      <p:nvGrpSpPr>
        <p:cNvPr id="1" name=""/>
        <p:cNvGrpSpPr/>
        <p:nvPr/>
      </p:nvGrpSpPr>
      <p:grpSpPr>
        <a:xfrm>
          <a:off x="0" y="0"/>
          <a:ext cx="0" cy="0"/>
          <a:chOff x="0" y="0"/>
          <a:chExt cx="0" cy="0"/>
        </a:xfrm>
      </p:grpSpPr>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idx="1"/>
          </p:nvPr>
        </p:nvSpPr>
        <p:spPr>
          <a:xfrm>
            <a:off x="474201" y="1557338"/>
            <a:ext cx="11264002" cy="4481153"/>
          </a:xfrm>
        </p:spPr>
        <p:txBody>
          <a:bodyPr lIns="0" tIns="0" rIns="0" bIns="0">
            <a:noAutofit/>
          </a:bodyPr>
          <a:lstStyle>
            <a:lvl1pPr marL="285750" indent="-285750">
              <a:spcAft>
                <a:spcPts val="1800"/>
              </a:spcAft>
              <a:buSzPct val="120000"/>
              <a:buFont typeface="Courier New" panose="02070309020205020404" pitchFamily="49" charset="0"/>
              <a:buChar char="o"/>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9"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
        <p:nvSpPr>
          <p:cNvPr id="8" name="Footer Placeholder 4">
            <a:extLst>
              <a:ext uri="{FF2B5EF4-FFF2-40B4-BE49-F238E27FC236}">
                <a16:creationId xmlns:a16="http://schemas.microsoft.com/office/drawing/2014/main" id="{C2053620-96AC-EF47-823B-D2E90BBCE586}"/>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0" name="Slide Number Placeholder 5">
            <a:extLst>
              <a:ext uri="{FF2B5EF4-FFF2-40B4-BE49-F238E27FC236}">
                <a16:creationId xmlns:a16="http://schemas.microsoft.com/office/drawing/2014/main" id="{FF4E3F12-6C4D-C642-90EC-9F9AE3161A4F}"/>
              </a:ext>
            </a:extLst>
          </p:cNvPr>
          <p:cNvSpPr>
            <a:spLocks noGrp="1"/>
          </p:cNvSpPr>
          <p:nvPr>
            <p:ph type="sldNum" sz="quarter" idx="11"/>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1" name="Rectangle 8">
            <a:extLst>
              <a:ext uri="{FF2B5EF4-FFF2-40B4-BE49-F238E27FC236}">
                <a16:creationId xmlns:a16="http://schemas.microsoft.com/office/drawing/2014/main" id="{6BE73488-10D2-46C5-8886-B5262B4036E9}"/>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2" name="Rectangle 10">
            <a:extLst>
              <a:ext uri="{FF2B5EF4-FFF2-40B4-BE49-F238E27FC236}">
                <a16:creationId xmlns:a16="http://schemas.microsoft.com/office/drawing/2014/main" id="{9DFCC48B-BCC3-4AAB-8EE4-592BE912D5A8}"/>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9">
            <a:extLst>
              <a:ext uri="{FF2B5EF4-FFF2-40B4-BE49-F238E27FC236}">
                <a16:creationId xmlns:a16="http://schemas.microsoft.com/office/drawing/2014/main" id="{02EE5703-F2FA-4A41-8927-030A564B0F80}"/>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639054892"/>
      </p:ext>
    </p:extLst>
  </p:cSld>
  <p:clrMapOvr>
    <a:masterClrMapping/>
  </p:clrMapOvr>
  <p:extLst>
    <p:ext uri="{DCECCB84-F9BA-43D5-87BE-67443E8EF086}">
      <p15:sldGuideLst xmlns:p15="http://schemas.microsoft.com/office/powerpoint/2012/main">
        <p15:guide id="1" orient="horz" pos="4178"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sto 1 colonn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4201" y="1557338"/>
            <a:ext cx="11264002" cy="4472526"/>
          </a:xfrm>
        </p:spPr>
        <p:txBody>
          <a:bodyPr lIns="0" tIns="0" rIns="0" bIns="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12" name="Title Placeholder 1">
            <a:extLst>
              <a:ext uri="{FF2B5EF4-FFF2-40B4-BE49-F238E27FC236}">
                <a16:creationId xmlns:a16="http://schemas.microsoft.com/office/drawing/2014/main" id="{86F2967F-3AC1-482F-9FA1-FB5058EEC437}"/>
              </a:ext>
            </a:extLst>
          </p:cNvPr>
          <p:cNvSpPr>
            <a:spLocks noGrp="1"/>
          </p:cNvSpPr>
          <p:nvPr>
            <p:ph type="title"/>
          </p:nvPr>
        </p:nvSpPr>
        <p:spPr>
          <a:xfrm>
            <a:off x="468895" y="503475"/>
            <a:ext cx="11269308" cy="384721"/>
          </a:xfrm>
          <a:prstGeom prst="rect">
            <a:avLst/>
          </a:prstGeom>
        </p:spPr>
        <p:txBody>
          <a:bodyPr lIns="0" tIns="0" rIns="0" bIns="0" rtlCol="0">
            <a:spAutoFit/>
          </a:bodyPr>
          <a:lstStyle>
            <a:lvl1pPr>
              <a:lnSpc>
                <a:spcPts val="3000"/>
              </a:lnSpc>
              <a:defRPr sz="2800" cap="none"/>
            </a:lvl1pPr>
          </a:lstStyle>
          <a:p>
            <a:r>
              <a:rPr lang="it-IT" dirty="0"/>
              <a:t>Fare clic per modificare lo stile del titolo dello schema</a:t>
            </a:r>
            <a:endParaRPr lang="en-US" dirty="0"/>
          </a:p>
        </p:txBody>
      </p:sp>
      <p:sp>
        <p:nvSpPr>
          <p:cNvPr id="13" name="Rectangle 8">
            <a:extLst>
              <a:ext uri="{FF2B5EF4-FFF2-40B4-BE49-F238E27FC236}">
                <a16:creationId xmlns:a16="http://schemas.microsoft.com/office/drawing/2014/main" id="{BB147208-B303-4867-B415-427BFDB712AA}"/>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3AC1916D-DE81-4DEB-837D-9B1EBBEBAB9E}"/>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EA5C2815-3F5D-4F03-A9B8-AD61D140AB8F}"/>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6" name="Immagine 15">
            <a:extLst>
              <a:ext uri="{FF2B5EF4-FFF2-40B4-BE49-F238E27FC236}">
                <a16:creationId xmlns:a16="http://schemas.microsoft.com/office/drawing/2014/main" id="{211B9727-26D5-42C6-AA8E-16F0A955108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ooter Placeholder 4">
            <a:extLst>
              <a:ext uri="{FF2B5EF4-FFF2-40B4-BE49-F238E27FC236}">
                <a16:creationId xmlns:a16="http://schemas.microsoft.com/office/drawing/2014/main" id="{3DB52600-6114-4FF8-A64F-1419078C0669}"/>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9" name="Slide Number Placeholder 5">
            <a:extLst>
              <a:ext uri="{FF2B5EF4-FFF2-40B4-BE49-F238E27FC236}">
                <a16:creationId xmlns:a16="http://schemas.microsoft.com/office/drawing/2014/main" id="{C98E623A-5D96-4DDD-91E6-E567C5082EFA}"/>
              </a:ext>
            </a:extLst>
          </p:cNvPr>
          <p:cNvSpPr>
            <a:spLocks noGrp="1"/>
          </p:cNvSpPr>
          <p:nvPr>
            <p:ph type="sldNum" sz="quarter" idx="11"/>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Tree>
    <p:extLst>
      <p:ext uri="{BB962C8B-B14F-4D97-AF65-F5344CB8AC3E}">
        <p14:creationId xmlns:p14="http://schemas.microsoft.com/office/powerpoint/2010/main" val="1652028618"/>
      </p:ext>
    </p:extLst>
  </p:cSld>
  <p:clrMapOvr>
    <a:masterClrMapping/>
  </p:clrMapOvr>
  <p:extLst>
    <p:ext uri="{DCECCB84-F9BA-43D5-87BE-67443E8EF086}">
      <p15:sldGuideLst xmlns:p15="http://schemas.microsoft.com/office/powerpoint/2012/main">
        <p15:guide id="1" orient="horz" pos="981"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sto 2 colonn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3786" y="1557338"/>
            <a:ext cx="11276765" cy="4472526"/>
          </a:xfrm>
        </p:spPr>
        <p:txBody>
          <a:bodyPr lIns="0" tIns="0" rIns="0" bIns="0" numCol="2" spcCol="540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13" name="Rectangle 8">
            <a:extLst>
              <a:ext uri="{FF2B5EF4-FFF2-40B4-BE49-F238E27FC236}">
                <a16:creationId xmlns:a16="http://schemas.microsoft.com/office/drawing/2014/main" id="{85F80FCE-DB62-4AE9-8E37-C5ECE83CEA2A}"/>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5337BA55-D4F4-482D-9902-A7DF343CF4BD}"/>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1E77F523-A47D-4ED1-A730-DF5462674088}"/>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6" name="Immagine 15">
            <a:extLst>
              <a:ext uri="{FF2B5EF4-FFF2-40B4-BE49-F238E27FC236}">
                <a16:creationId xmlns:a16="http://schemas.microsoft.com/office/drawing/2014/main" id="{B35A5DA5-9B3D-430B-9B7D-12A49C89600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ooter Placeholder 4">
            <a:extLst>
              <a:ext uri="{FF2B5EF4-FFF2-40B4-BE49-F238E27FC236}">
                <a16:creationId xmlns:a16="http://schemas.microsoft.com/office/drawing/2014/main" id="{BC87520E-C40B-4CBE-A2FA-D2587AA9999C}"/>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9" name="Slide Number Placeholder 5">
            <a:extLst>
              <a:ext uri="{FF2B5EF4-FFF2-40B4-BE49-F238E27FC236}">
                <a16:creationId xmlns:a16="http://schemas.microsoft.com/office/drawing/2014/main" id="{98ED1510-B77E-4E58-8FB2-F06301CA45C2}"/>
              </a:ext>
            </a:extLst>
          </p:cNvPr>
          <p:cNvSpPr>
            <a:spLocks noGrp="1"/>
          </p:cNvSpPr>
          <p:nvPr>
            <p:ph type="sldNum" sz="quarter" idx="11"/>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0"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1527588422"/>
      </p:ext>
    </p:extLst>
  </p:cSld>
  <p:clrMapOvr>
    <a:masterClrMapping/>
  </p:clrMapOvr>
  <p:extLst>
    <p:ext uri="{DCECCB84-F9BA-43D5-87BE-67443E8EF086}">
      <p15:sldGuideLst xmlns:p15="http://schemas.microsoft.com/office/powerpoint/2012/main">
        <p15:guide id="1" orient="horz" pos="981"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sto 3 colonn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3787" y="1557337"/>
            <a:ext cx="11269308" cy="4392613"/>
          </a:xfrm>
        </p:spPr>
        <p:txBody>
          <a:bodyPr lIns="0" tIns="0" rIns="0" bIns="0" numCol="3" spcCol="432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13" name="Rectangle 8">
            <a:extLst>
              <a:ext uri="{FF2B5EF4-FFF2-40B4-BE49-F238E27FC236}">
                <a16:creationId xmlns:a16="http://schemas.microsoft.com/office/drawing/2014/main" id="{A97EA33F-8FE6-43F7-B87B-F8A75881DC82}"/>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10">
            <a:extLst>
              <a:ext uri="{FF2B5EF4-FFF2-40B4-BE49-F238E27FC236}">
                <a16:creationId xmlns:a16="http://schemas.microsoft.com/office/drawing/2014/main" id="{4457ED34-8FD7-4334-B58D-DE5268F487BB}"/>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9">
            <a:extLst>
              <a:ext uri="{FF2B5EF4-FFF2-40B4-BE49-F238E27FC236}">
                <a16:creationId xmlns:a16="http://schemas.microsoft.com/office/drawing/2014/main" id="{DE95361B-2753-4630-8435-D8D6DFA2E2B3}"/>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6" name="Immagine 15">
            <a:extLst>
              <a:ext uri="{FF2B5EF4-FFF2-40B4-BE49-F238E27FC236}">
                <a16:creationId xmlns:a16="http://schemas.microsoft.com/office/drawing/2014/main" id="{9953CB5C-8C23-4943-AA23-507887A04C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Footer Placeholder 4">
            <a:extLst>
              <a:ext uri="{FF2B5EF4-FFF2-40B4-BE49-F238E27FC236}">
                <a16:creationId xmlns:a16="http://schemas.microsoft.com/office/drawing/2014/main" id="{2EA2B975-3B1B-40A2-9512-420987E4167F}"/>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9" name="Slide Number Placeholder 5">
            <a:extLst>
              <a:ext uri="{FF2B5EF4-FFF2-40B4-BE49-F238E27FC236}">
                <a16:creationId xmlns:a16="http://schemas.microsoft.com/office/drawing/2014/main" id="{2FD83117-18D4-4F50-B150-B24C3ADCCAF6}"/>
              </a:ext>
            </a:extLst>
          </p:cNvPr>
          <p:cNvSpPr>
            <a:spLocks noGrp="1"/>
          </p:cNvSpPr>
          <p:nvPr>
            <p:ph type="sldNum" sz="quarter" idx="11"/>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0"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709207066"/>
      </p:ext>
    </p:extLst>
  </p:cSld>
  <p:clrMapOvr>
    <a:masterClrMapping/>
  </p:clrMapOvr>
  <p:extLst>
    <p:ext uri="{DCECCB84-F9BA-43D5-87BE-67443E8EF086}">
      <p15:sldGuideLst xmlns:p15="http://schemas.microsoft.com/office/powerpoint/2012/main">
        <p15:guide id="1" orient="horz" pos="3748"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sto+grafico piccol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8FFAF148-8C21-EB4F-9093-19ADD1A51882}"/>
              </a:ext>
            </a:extLst>
          </p:cNvPr>
          <p:cNvSpPr/>
          <p:nvPr userDrawn="1"/>
        </p:nvSpPr>
        <p:spPr>
          <a:xfrm>
            <a:off x="8081963" y="1557338"/>
            <a:ext cx="3653783" cy="4392612"/>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3" name="Text Placeholder 2"/>
          <p:cNvSpPr>
            <a:spLocks noGrp="1"/>
          </p:cNvSpPr>
          <p:nvPr>
            <p:ph type="body" idx="1"/>
          </p:nvPr>
        </p:nvSpPr>
        <p:spPr>
          <a:xfrm>
            <a:off x="477519" y="1557338"/>
            <a:ext cx="7305513" cy="4392612"/>
          </a:xfrm>
        </p:spPr>
        <p:txBody>
          <a:bodyPr lIns="0" tIns="0" rIns="0" bIns="0" spcCol="360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13" name="Text Placeholder 3">
            <a:extLst>
              <a:ext uri="{FF2B5EF4-FFF2-40B4-BE49-F238E27FC236}">
                <a16:creationId xmlns:a16="http://schemas.microsoft.com/office/drawing/2014/main" id="{8FE997AC-2DEF-4982-9219-0DE8E80C2C1D}"/>
              </a:ext>
            </a:extLst>
          </p:cNvPr>
          <p:cNvSpPr>
            <a:spLocks noGrp="1"/>
          </p:cNvSpPr>
          <p:nvPr>
            <p:ph type="body" sz="half" idx="11" hasCustomPrompt="1"/>
          </p:nvPr>
        </p:nvSpPr>
        <p:spPr>
          <a:xfrm>
            <a:off x="8162224" y="1696688"/>
            <a:ext cx="3492000" cy="457200"/>
          </a:xfrm>
        </p:spPr>
        <p:txBody>
          <a:bodyPr lIns="0" tIns="0" rIns="0" bIns="0">
            <a:no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a:t>
            </a:r>
          </a:p>
        </p:txBody>
      </p:sp>
      <p:sp>
        <p:nvSpPr>
          <p:cNvPr id="14" name="Content Placeholder 3">
            <a:extLst>
              <a:ext uri="{FF2B5EF4-FFF2-40B4-BE49-F238E27FC236}">
                <a16:creationId xmlns:a16="http://schemas.microsoft.com/office/drawing/2014/main" id="{5014FC49-70B3-48C6-AAEA-1B6DEB762BE4}"/>
              </a:ext>
            </a:extLst>
          </p:cNvPr>
          <p:cNvSpPr>
            <a:spLocks noGrp="1"/>
          </p:cNvSpPr>
          <p:nvPr>
            <p:ph sz="half" idx="2"/>
          </p:nvPr>
        </p:nvSpPr>
        <p:spPr>
          <a:xfrm>
            <a:off x="8162222" y="2261938"/>
            <a:ext cx="3492000" cy="3600000"/>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18" name="Rectangle 8">
            <a:extLst>
              <a:ext uri="{FF2B5EF4-FFF2-40B4-BE49-F238E27FC236}">
                <a16:creationId xmlns:a16="http://schemas.microsoft.com/office/drawing/2014/main" id="{BFF0EAD9-FB2A-4B10-AC7E-2867676F5114}"/>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0">
            <a:extLst>
              <a:ext uri="{FF2B5EF4-FFF2-40B4-BE49-F238E27FC236}">
                <a16:creationId xmlns:a16="http://schemas.microsoft.com/office/drawing/2014/main" id="{4DE85F56-C820-4265-A4F2-F29B8154D702}"/>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9">
            <a:extLst>
              <a:ext uri="{FF2B5EF4-FFF2-40B4-BE49-F238E27FC236}">
                <a16:creationId xmlns:a16="http://schemas.microsoft.com/office/drawing/2014/main" id="{6D6C4BEC-89CF-43B7-9CD5-49EE71B27928}"/>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21" name="Immagine 20">
            <a:extLst>
              <a:ext uri="{FF2B5EF4-FFF2-40B4-BE49-F238E27FC236}">
                <a16:creationId xmlns:a16="http://schemas.microsoft.com/office/drawing/2014/main" id="{665B96CC-8D49-494F-9C8A-BD85351377F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Footer Placeholder 4">
            <a:extLst>
              <a:ext uri="{FF2B5EF4-FFF2-40B4-BE49-F238E27FC236}">
                <a16:creationId xmlns:a16="http://schemas.microsoft.com/office/drawing/2014/main" id="{C1DD249C-FFFA-4674-9CB5-ABEFDF504139}"/>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24" name="Slide Number Placeholder 5">
            <a:extLst>
              <a:ext uri="{FF2B5EF4-FFF2-40B4-BE49-F238E27FC236}">
                <a16:creationId xmlns:a16="http://schemas.microsoft.com/office/drawing/2014/main" id="{48756CF5-11CA-40E9-BF7A-4F15C16E34DC}"/>
              </a:ext>
            </a:extLst>
          </p:cNvPr>
          <p:cNvSpPr>
            <a:spLocks noGrp="1"/>
          </p:cNvSpPr>
          <p:nvPr>
            <p:ph type="sldNum" sz="quarter" idx="12"/>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5"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095217166"/>
      </p:ext>
    </p:extLst>
  </p:cSld>
  <p:clrMapOvr>
    <a:masterClrMapping/>
  </p:clrMapOvr>
  <p:extLst>
    <p:ext uri="{DCECCB84-F9BA-43D5-87BE-67443E8EF086}">
      <p15:sldGuideLst xmlns:p15="http://schemas.microsoft.com/office/powerpoint/2012/main">
        <p15:guide id="1" orient="horz" pos="3748"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sto piccolo+grafic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8FFAF148-8C21-EB4F-9093-19ADD1A51882}"/>
              </a:ext>
            </a:extLst>
          </p:cNvPr>
          <p:cNvSpPr/>
          <p:nvPr userDrawn="1"/>
        </p:nvSpPr>
        <p:spPr>
          <a:xfrm>
            <a:off x="4251325" y="1557338"/>
            <a:ext cx="7485063" cy="4392612"/>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3" name="Text Placeholder 2"/>
          <p:cNvSpPr>
            <a:spLocks noGrp="1"/>
          </p:cNvSpPr>
          <p:nvPr>
            <p:ph type="body" idx="1"/>
          </p:nvPr>
        </p:nvSpPr>
        <p:spPr>
          <a:xfrm>
            <a:off x="468895" y="1557338"/>
            <a:ext cx="3528947" cy="4392612"/>
          </a:xfrm>
        </p:spPr>
        <p:txBody>
          <a:bodyPr lIns="0" tIns="0" rIns="0" bIns="0" spcCol="360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20" name="Text Placeholder 3">
            <a:extLst>
              <a:ext uri="{FF2B5EF4-FFF2-40B4-BE49-F238E27FC236}">
                <a16:creationId xmlns:a16="http://schemas.microsoft.com/office/drawing/2014/main" id="{10E25EF9-674A-4A68-B7E8-41ACE37CAFAA}"/>
              </a:ext>
            </a:extLst>
          </p:cNvPr>
          <p:cNvSpPr>
            <a:spLocks noGrp="1"/>
          </p:cNvSpPr>
          <p:nvPr>
            <p:ph type="body" sz="half" idx="11" hasCustomPrompt="1"/>
          </p:nvPr>
        </p:nvSpPr>
        <p:spPr>
          <a:xfrm>
            <a:off x="4366950" y="1679423"/>
            <a:ext cx="7253812" cy="457386"/>
          </a:xfrm>
        </p:spPr>
        <p:txBody>
          <a:bodyPr lIns="0" tIns="0" rIns="0" bIns="0">
            <a:norm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a:t>
            </a:r>
          </a:p>
        </p:txBody>
      </p:sp>
      <p:sp>
        <p:nvSpPr>
          <p:cNvPr id="21" name="Content Placeholder 3">
            <a:extLst>
              <a:ext uri="{FF2B5EF4-FFF2-40B4-BE49-F238E27FC236}">
                <a16:creationId xmlns:a16="http://schemas.microsoft.com/office/drawing/2014/main" id="{9BCFAF2C-DE26-450A-8C7B-A22A26FF4391}"/>
              </a:ext>
            </a:extLst>
          </p:cNvPr>
          <p:cNvSpPr>
            <a:spLocks noGrp="1"/>
          </p:cNvSpPr>
          <p:nvPr>
            <p:ph sz="half" idx="2"/>
          </p:nvPr>
        </p:nvSpPr>
        <p:spPr>
          <a:xfrm>
            <a:off x="4366949" y="2165685"/>
            <a:ext cx="7253813" cy="3704166"/>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15" name="Rectangle 8">
            <a:extLst>
              <a:ext uri="{FF2B5EF4-FFF2-40B4-BE49-F238E27FC236}">
                <a16:creationId xmlns:a16="http://schemas.microsoft.com/office/drawing/2014/main" id="{D9D4E6DC-14B8-4843-AA1D-57AA39AE5B3E}"/>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91CC3821-0B1E-41AB-852F-4CB74E2EA3CC}"/>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9">
            <a:extLst>
              <a:ext uri="{FF2B5EF4-FFF2-40B4-BE49-F238E27FC236}">
                <a16:creationId xmlns:a16="http://schemas.microsoft.com/office/drawing/2014/main" id="{75FDA81B-88AF-4AF4-8B43-18134CE8E446}"/>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8" name="Immagine 17">
            <a:extLst>
              <a:ext uri="{FF2B5EF4-FFF2-40B4-BE49-F238E27FC236}">
                <a16:creationId xmlns:a16="http://schemas.microsoft.com/office/drawing/2014/main" id="{A12972DC-41D2-4C0E-AD61-A73383B82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Footer Placeholder 4">
            <a:extLst>
              <a:ext uri="{FF2B5EF4-FFF2-40B4-BE49-F238E27FC236}">
                <a16:creationId xmlns:a16="http://schemas.microsoft.com/office/drawing/2014/main" id="{51A03A1C-8D78-4F26-8F73-B711C52ED0D9}"/>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24" name="Slide Number Placeholder 5">
            <a:extLst>
              <a:ext uri="{FF2B5EF4-FFF2-40B4-BE49-F238E27FC236}">
                <a16:creationId xmlns:a16="http://schemas.microsoft.com/office/drawing/2014/main" id="{6C03E07E-3B47-479C-ADF1-A58628B5A275}"/>
              </a:ext>
            </a:extLst>
          </p:cNvPr>
          <p:cNvSpPr>
            <a:spLocks noGrp="1"/>
          </p:cNvSpPr>
          <p:nvPr>
            <p:ph type="sldNum" sz="quarter" idx="12"/>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3"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1744056969"/>
      </p:ext>
    </p:extLst>
  </p:cSld>
  <p:clrMapOvr>
    <a:masterClrMapping/>
  </p:clrMapOvr>
  <p:extLst>
    <p:ext uri="{DCECCB84-F9BA-43D5-87BE-67443E8EF086}">
      <p15:sldGuideLst xmlns:p15="http://schemas.microsoft.com/office/powerpoint/2012/main">
        <p15:guide id="1" orient="horz" pos="3748"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fico + colonna libera a destra">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8FFAF148-8C21-EB4F-9093-19ADD1A51882}"/>
              </a:ext>
            </a:extLst>
          </p:cNvPr>
          <p:cNvSpPr/>
          <p:nvPr userDrawn="1"/>
        </p:nvSpPr>
        <p:spPr>
          <a:xfrm>
            <a:off x="473075" y="1557338"/>
            <a:ext cx="7485063" cy="4392612"/>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3" name="Text Placeholder 2"/>
          <p:cNvSpPr>
            <a:spLocks noGrp="1"/>
          </p:cNvSpPr>
          <p:nvPr>
            <p:ph type="body" idx="1"/>
          </p:nvPr>
        </p:nvSpPr>
        <p:spPr>
          <a:xfrm>
            <a:off x="8207439" y="1560749"/>
            <a:ext cx="3528947" cy="4392612"/>
          </a:xfrm>
        </p:spPr>
        <p:txBody>
          <a:bodyPr lIns="0" tIns="0" rIns="0" bIns="0" spcCol="360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20" name="Text Placeholder 3">
            <a:extLst>
              <a:ext uri="{FF2B5EF4-FFF2-40B4-BE49-F238E27FC236}">
                <a16:creationId xmlns:a16="http://schemas.microsoft.com/office/drawing/2014/main" id="{10E25EF9-674A-4A68-B7E8-41ACE37CAFAA}"/>
              </a:ext>
            </a:extLst>
          </p:cNvPr>
          <p:cNvSpPr>
            <a:spLocks noGrp="1"/>
          </p:cNvSpPr>
          <p:nvPr>
            <p:ph type="body" sz="half" idx="11" hasCustomPrompt="1"/>
          </p:nvPr>
        </p:nvSpPr>
        <p:spPr>
          <a:xfrm>
            <a:off x="588700" y="1679423"/>
            <a:ext cx="7253812" cy="457386"/>
          </a:xfrm>
        </p:spPr>
        <p:txBody>
          <a:bodyPr lIns="0" tIns="0" rIns="0" bIns="0">
            <a:norm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a:t>
            </a:r>
          </a:p>
        </p:txBody>
      </p:sp>
      <p:sp>
        <p:nvSpPr>
          <p:cNvPr id="21" name="Content Placeholder 3">
            <a:extLst>
              <a:ext uri="{FF2B5EF4-FFF2-40B4-BE49-F238E27FC236}">
                <a16:creationId xmlns:a16="http://schemas.microsoft.com/office/drawing/2014/main" id="{9BCFAF2C-DE26-450A-8C7B-A22A26FF4391}"/>
              </a:ext>
            </a:extLst>
          </p:cNvPr>
          <p:cNvSpPr>
            <a:spLocks noGrp="1"/>
          </p:cNvSpPr>
          <p:nvPr>
            <p:ph sz="half" idx="2"/>
          </p:nvPr>
        </p:nvSpPr>
        <p:spPr>
          <a:xfrm>
            <a:off x="588699" y="2165685"/>
            <a:ext cx="7253813" cy="3704166"/>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15" name="Rectangle 8">
            <a:extLst>
              <a:ext uri="{FF2B5EF4-FFF2-40B4-BE49-F238E27FC236}">
                <a16:creationId xmlns:a16="http://schemas.microsoft.com/office/drawing/2014/main" id="{D9D4E6DC-14B8-4843-AA1D-57AA39AE5B3E}"/>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91CC3821-0B1E-41AB-852F-4CB74E2EA3CC}"/>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9">
            <a:extLst>
              <a:ext uri="{FF2B5EF4-FFF2-40B4-BE49-F238E27FC236}">
                <a16:creationId xmlns:a16="http://schemas.microsoft.com/office/drawing/2014/main" id="{75FDA81B-88AF-4AF4-8B43-18134CE8E446}"/>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8" name="Immagine 17">
            <a:extLst>
              <a:ext uri="{FF2B5EF4-FFF2-40B4-BE49-F238E27FC236}">
                <a16:creationId xmlns:a16="http://schemas.microsoft.com/office/drawing/2014/main" id="{A12972DC-41D2-4C0E-AD61-A73383B82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Footer Placeholder 4">
            <a:extLst>
              <a:ext uri="{FF2B5EF4-FFF2-40B4-BE49-F238E27FC236}">
                <a16:creationId xmlns:a16="http://schemas.microsoft.com/office/drawing/2014/main" id="{51A03A1C-8D78-4F26-8F73-B711C52ED0D9}"/>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3" name="Slide Number Placeholder 5">
            <a:extLst>
              <a:ext uri="{FF2B5EF4-FFF2-40B4-BE49-F238E27FC236}">
                <a16:creationId xmlns:a16="http://schemas.microsoft.com/office/drawing/2014/main" id="{FB3668A3-50F9-4865-BCB1-15BD808B594F}"/>
              </a:ext>
            </a:extLst>
          </p:cNvPr>
          <p:cNvSpPr>
            <a:spLocks noGrp="1"/>
          </p:cNvSpPr>
          <p:nvPr>
            <p:ph type="sldNum" sz="quarter" idx="12"/>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22"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375704632"/>
      </p:ext>
    </p:extLst>
  </p:cSld>
  <p:clrMapOvr>
    <a:masterClrMapping/>
  </p:clrMapOvr>
  <p:extLst>
    <p:ext uri="{DCECCB84-F9BA-43D5-87BE-67443E8EF086}">
      <p15:sldGuideLst xmlns:p15="http://schemas.microsoft.com/office/powerpoint/2012/main">
        <p15:guide id="1" orient="horz" pos="3748"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tà testo+metà grafic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8FFAF148-8C21-EB4F-9093-19ADD1A51882}"/>
              </a:ext>
            </a:extLst>
          </p:cNvPr>
          <p:cNvSpPr/>
          <p:nvPr userDrawn="1"/>
        </p:nvSpPr>
        <p:spPr>
          <a:xfrm>
            <a:off x="6256216" y="1557338"/>
            <a:ext cx="5472000" cy="4392612"/>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3" name="Text Placeholder 2"/>
          <p:cNvSpPr>
            <a:spLocks noGrp="1"/>
          </p:cNvSpPr>
          <p:nvPr>
            <p:ph type="body" idx="1"/>
          </p:nvPr>
        </p:nvSpPr>
        <p:spPr>
          <a:xfrm>
            <a:off x="463786" y="1557338"/>
            <a:ext cx="5472000" cy="4392612"/>
          </a:xfrm>
        </p:spPr>
        <p:txBody>
          <a:bodyPr lIns="0" tIns="0" rIns="0" bIns="0" spcCol="36000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20" name="Text Placeholder 3">
            <a:extLst>
              <a:ext uri="{FF2B5EF4-FFF2-40B4-BE49-F238E27FC236}">
                <a16:creationId xmlns:a16="http://schemas.microsoft.com/office/drawing/2014/main" id="{1BE1843A-CB5F-4920-B032-23C22AAE931F}"/>
              </a:ext>
            </a:extLst>
          </p:cNvPr>
          <p:cNvSpPr>
            <a:spLocks noGrp="1"/>
          </p:cNvSpPr>
          <p:nvPr>
            <p:ph type="body" sz="half" idx="11" hasCustomPrompt="1"/>
          </p:nvPr>
        </p:nvSpPr>
        <p:spPr>
          <a:xfrm>
            <a:off x="6376432" y="1684420"/>
            <a:ext cx="5231635" cy="457200"/>
          </a:xfrm>
        </p:spPr>
        <p:txBody>
          <a:bodyPr lIns="0" tIns="0" rIns="0" bIns="0">
            <a:norm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 DELLO SCHEMA</a:t>
            </a:r>
          </a:p>
        </p:txBody>
      </p:sp>
      <p:sp>
        <p:nvSpPr>
          <p:cNvPr id="21" name="Content Placeholder 3">
            <a:extLst>
              <a:ext uri="{FF2B5EF4-FFF2-40B4-BE49-F238E27FC236}">
                <a16:creationId xmlns:a16="http://schemas.microsoft.com/office/drawing/2014/main" id="{22E57A97-B19C-4884-84CD-94CF8F6244FF}"/>
              </a:ext>
            </a:extLst>
          </p:cNvPr>
          <p:cNvSpPr>
            <a:spLocks noGrp="1"/>
          </p:cNvSpPr>
          <p:nvPr>
            <p:ph sz="half" idx="2"/>
          </p:nvPr>
        </p:nvSpPr>
        <p:spPr>
          <a:xfrm>
            <a:off x="6376432" y="2220577"/>
            <a:ext cx="5231636" cy="3620398"/>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15" name="Rectangle 8">
            <a:extLst>
              <a:ext uri="{FF2B5EF4-FFF2-40B4-BE49-F238E27FC236}">
                <a16:creationId xmlns:a16="http://schemas.microsoft.com/office/drawing/2014/main" id="{EBDED907-CBCE-4C48-8974-1732296AB56B}"/>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0">
            <a:extLst>
              <a:ext uri="{FF2B5EF4-FFF2-40B4-BE49-F238E27FC236}">
                <a16:creationId xmlns:a16="http://schemas.microsoft.com/office/drawing/2014/main" id="{F1D4BD23-7064-4A1A-B3B8-22936DC971AB}"/>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9">
            <a:extLst>
              <a:ext uri="{FF2B5EF4-FFF2-40B4-BE49-F238E27FC236}">
                <a16:creationId xmlns:a16="http://schemas.microsoft.com/office/drawing/2014/main" id="{45DD4428-CB25-4CE0-B3BD-9E45A9B024CE}"/>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18" name="Immagine 17">
            <a:extLst>
              <a:ext uri="{FF2B5EF4-FFF2-40B4-BE49-F238E27FC236}">
                <a16:creationId xmlns:a16="http://schemas.microsoft.com/office/drawing/2014/main" id="{ACFFE7A2-271E-4180-8862-1207E565D1F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Footer Placeholder 4">
            <a:extLst>
              <a:ext uri="{FF2B5EF4-FFF2-40B4-BE49-F238E27FC236}">
                <a16:creationId xmlns:a16="http://schemas.microsoft.com/office/drawing/2014/main" id="{0A34ABB8-E594-41C5-B46B-F19275F5E598}"/>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24" name="Slide Number Placeholder 5">
            <a:extLst>
              <a:ext uri="{FF2B5EF4-FFF2-40B4-BE49-F238E27FC236}">
                <a16:creationId xmlns:a16="http://schemas.microsoft.com/office/drawing/2014/main" id="{EB9757BE-24B5-4D77-9B24-FA598161B26F}"/>
              </a:ext>
            </a:extLst>
          </p:cNvPr>
          <p:cNvSpPr>
            <a:spLocks noGrp="1"/>
          </p:cNvSpPr>
          <p:nvPr>
            <p:ph type="sldNum" sz="quarter" idx="12"/>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3"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690147616"/>
      </p:ext>
    </p:extLst>
  </p:cSld>
  <p:clrMapOvr>
    <a:masterClrMapping/>
  </p:clrMapOvr>
  <p:extLst>
    <p:ext uri="{DCECCB84-F9BA-43D5-87BE-67443E8EF086}">
      <p15:sldGuideLst xmlns:p15="http://schemas.microsoft.com/office/powerpoint/2012/main">
        <p15:guide id="1" orient="horz" pos="981"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ue immagini affiancate">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C2F57ACB-1A9A-42A2-B0B9-3C24FCCE916F}"/>
              </a:ext>
            </a:extLst>
          </p:cNvPr>
          <p:cNvSpPr/>
          <p:nvPr userDrawn="1"/>
        </p:nvSpPr>
        <p:spPr>
          <a:xfrm>
            <a:off x="471488" y="1571124"/>
            <a:ext cx="5472112" cy="4392000"/>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21" name="Text Placeholder 3">
            <a:extLst>
              <a:ext uri="{FF2B5EF4-FFF2-40B4-BE49-F238E27FC236}">
                <a16:creationId xmlns:a16="http://schemas.microsoft.com/office/drawing/2014/main" id="{A0C542E8-A419-4B8E-8AE4-1D0DC75ADF26}"/>
              </a:ext>
            </a:extLst>
          </p:cNvPr>
          <p:cNvSpPr>
            <a:spLocks noGrp="1"/>
          </p:cNvSpPr>
          <p:nvPr>
            <p:ph type="body" sz="half" idx="12" hasCustomPrompt="1"/>
          </p:nvPr>
        </p:nvSpPr>
        <p:spPr>
          <a:xfrm>
            <a:off x="562922" y="1691683"/>
            <a:ext cx="5304733" cy="387373"/>
          </a:xfrm>
        </p:spPr>
        <p:txBody>
          <a:bodyPr lIns="0" tIns="0" rIns="0" bIns="0">
            <a:norm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 DELLO SCHEMA</a:t>
            </a:r>
          </a:p>
        </p:txBody>
      </p:sp>
      <p:sp>
        <p:nvSpPr>
          <p:cNvPr id="22" name="Content Placeholder 3">
            <a:extLst>
              <a:ext uri="{FF2B5EF4-FFF2-40B4-BE49-F238E27FC236}">
                <a16:creationId xmlns:a16="http://schemas.microsoft.com/office/drawing/2014/main" id="{3F3446B5-6360-4947-B444-A1DBFD655274}"/>
              </a:ext>
            </a:extLst>
          </p:cNvPr>
          <p:cNvSpPr>
            <a:spLocks noGrp="1"/>
          </p:cNvSpPr>
          <p:nvPr>
            <p:ph sz="half" idx="13"/>
          </p:nvPr>
        </p:nvSpPr>
        <p:spPr>
          <a:xfrm>
            <a:off x="562922" y="2172243"/>
            <a:ext cx="5304733" cy="3668732"/>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20" name="Rectangle 8">
            <a:extLst>
              <a:ext uri="{FF2B5EF4-FFF2-40B4-BE49-F238E27FC236}">
                <a16:creationId xmlns:a16="http://schemas.microsoft.com/office/drawing/2014/main" id="{D17306DB-EF2B-46DB-BE4C-67BA4581EC8A}"/>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10">
            <a:extLst>
              <a:ext uri="{FF2B5EF4-FFF2-40B4-BE49-F238E27FC236}">
                <a16:creationId xmlns:a16="http://schemas.microsoft.com/office/drawing/2014/main" id="{27663729-5A18-460D-BCC5-1C121255BEC2}"/>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9">
            <a:extLst>
              <a:ext uri="{FF2B5EF4-FFF2-40B4-BE49-F238E27FC236}">
                <a16:creationId xmlns:a16="http://schemas.microsoft.com/office/drawing/2014/main" id="{88AE038F-3265-4340-AFAF-203DBF97366C}"/>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pic>
        <p:nvPicPr>
          <p:cNvPr id="25" name="Immagine 24">
            <a:extLst>
              <a:ext uri="{FF2B5EF4-FFF2-40B4-BE49-F238E27FC236}">
                <a16:creationId xmlns:a16="http://schemas.microsoft.com/office/drawing/2014/main" id="{5203E877-BB68-4C3E-A95D-262A3B3831F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ooter Placeholder 4">
            <a:extLst>
              <a:ext uri="{FF2B5EF4-FFF2-40B4-BE49-F238E27FC236}">
                <a16:creationId xmlns:a16="http://schemas.microsoft.com/office/drawing/2014/main" id="{DDB77A0D-9AB4-48A1-82C5-A09A7D4F72D4}"/>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29" name="Slide Number Placeholder 5">
            <a:extLst>
              <a:ext uri="{FF2B5EF4-FFF2-40B4-BE49-F238E27FC236}">
                <a16:creationId xmlns:a16="http://schemas.microsoft.com/office/drawing/2014/main" id="{ABB3C7F1-D02D-4858-A51B-B1211EF06EF0}"/>
              </a:ext>
            </a:extLst>
          </p:cNvPr>
          <p:cNvSpPr>
            <a:spLocks noGrp="1"/>
          </p:cNvSpPr>
          <p:nvPr>
            <p:ph type="sldNum" sz="quarter" idx="14"/>
          </p:nvPr>
        </p:nvSpPr>
        <p:spPr>
          <a:xfrm>
            <a:off x="323469" y="6405108"/>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30" name="Rettangolo 29">
            <a:extLst>
              <a:ext uri="{FF2B5EF4-FFF2-40B4-BE49-F238E27FC236}">
                <a16:creationId xmlns:a16="http://schemas.microsoft.com/office/drawing/2014/main" id="{2E11952F-B65E-4BC4-A306-BA5F2E5E1051}"/>
              </a:ext>
            </a:extLst>
          </p:cNvPr>
          <p:cNvSpPr/>
          <p:nvPr userDrawn="1"/>
        </p:nvSpPr>
        <p:spPr>
          <a:xfrm>
            <a:off x="6256216" y="1557338"/>
            <a:ext cx="5472000" cy="4392612"/>
          </a:xfrm>
          <a:prstGeom prst="rect">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it-IT"/>
          </a:p>
        </p:txBody>
      </p:sp>
      <p:sp>
        <p:nvSpPr>
          <p:cNvPr id="31" name="Text Placeholder 3">
            <a:extLst>
              <a:ext uri="{FF2B5EF4-FFF2-40B4-BE49-F238E27FC236}">
                <a16:creationId xmlns:a16="http://schemas.microsoft.com/office/drawing/2014/main" id="{10FF5994-804D-479E-8547-F402AE8DD1DD}"/>
              </a:ext>
            </a:extLst>
          </p:cNvPr>
          <p:cNvSpPr>
            <a:spLocks noGrp="1"/>
          </p:cNvSpPr>
          <p:nvPr>
            <p:ph type="body" sz="half" idx="11" hasCustomPrompt="1"/>
          </p:nvPr>
        </p:nvSpPr>
        <p:spPr>
          <a:xfrm>
            <a:off x="6376432" y="1684420"/>
            <a:ext cx="5231635" cy="457200"/>
          </a:xfrm>
        </p:spPr>
        <p:txBody>
          <a:bodyPr lIns="0" tIns="0" rIns="0" bIns="0">
            <a:normAutofit/>
          </a:bodyPr>
          <a:lstStyle>
            <a:lvl1pPr marL="0" indent="0" algn="ctr">
              <a:buNone/>
              <a:defRPr sz="1400">
                <a:solidFill>
                  <a:srgbClr val="CC2A2A"/>
                </a:solidFill>
                <a:latin typeface="Arial Narrow" panose="020B060602020203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dirty="0"/>
              <a:t>FARE CLIC PER MODIFICARE GLI STILI DEL TESTO DELLO SCHEMA</a:t>
            </a:r>
          </a:p>
        </p:txBody>
      </p:sp>
      <p:sp>
        <p:nvSpPr>
          <p:cNvPr id="32" name="Content Placeholder 3">
            <a:extLst>
              <a:ext uri="{FF2B5EF4-FFF2-40B4-BE49-F238E27FC236}">
                <a16:creationId xmlns:a16="http://schemas.microsoft.com/office/drawing/2014/main" id="{4C0547B4-6D28-4C23-830C-984AB52D9776}"/>
              </a:ext>
            </a:extLst>
          </p:cNvPr>
          <p:cNvSpPr>
            <a:spLocks noGrp="1"/>
          </p:cNvSpPr>
          <p:nvPr>
            <p:ph sz="half" idx="2"/>
          </p:nvPr>
        </p:nvSpPr>
        <p:spPr>
          <a:xfrm>
            <a:off x="6376432" y="2220577"/>
            <a:ext cx="5231636" cy="3620398"/>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sp>
        <p:nvSpPr>
          <p:cNvPr id="15"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774320508"/>
      </p:ext>
    </p:extLst>
  </p:cSld>
  <p:clrMapOvr>
    <a:masterClrMapping/>
  </p:clrMapOvr>
  <p:extLst>
    <p:ext uri="{DCECCB84-F9BA-43D5-87BE-67443E8EF086}">
      <p15:sldGuideLst xmlns:p15="http://schemas.microsoft.com/office/powerpoint/2012/main">
        <p15:guide id="1" orient="horz" pos="981"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dascalia+grafico o tavola grand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3786" y="1557338"/>
            <a:ext cx="11283042" cy="662557"/>
          </a:xfrm>
        </p:spPr>
        <p:txBody>
          <a:bodyPr lIns="0" tIns="0" rIns="0" bIns="0">
            <a:noAutofit/>
          </a:bodyPr>
          <a:lstStyle>
            <a:lvl1pPr marL="0" indent="0">
              <a:buNone/>
              <a:defRPr sz="1800" b="0">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Content Placeholder 3"/>
          <p:cNvSpPr>
            <a:spLocks noGrp="1"/>
          </p:cNvSpPr>
          <p:nvPr>
            <p:ph sz="half" idx="2"/>
          </p:nvPr>
        </p:nvSpPr>
        <p:spPr>
          <a:xfrm>
            <a:off x="463786" y="2319687"/>
            <a:ext cx="11283042" cy="3630263"/>
          </a:xfrm>
        </p:spPr>
        <p:txBody>
          <a:bodyPr>
            <a:normAutofit/>
          </a:bodyPr>
          <a:lstStyle>
            <a:lvl1pPr marL="0" indent="0">
              <a:buFontTx/>
              <a:buNone/>
              <a:defRPr sz="1600">
                <a:solidFill>
                  <a:schemeClr val="tx1">
                    <a:lumMod val="75000"/>
                    <a:lumOff val="25000"/>
                  </a:schemeClr>
                </a:solidFill>
              </a:defRPr>
            </a:lvl1pPr>
            <a:lvl2pPr marL="324000" indent="0">
              <a:buFontTx/>
              <a:buNone/>
              <a:defRPr/>
            </a:lvl2pPr>
            <a:lvl3pPr marL="630000" indent="0">
              <a:buFontTx/>
              <a:buNone/>
              <a:defRPr/>
            </a:lvl3pPr>
            <a:lvl4pPr marL="1008000" indent="0">
              <a:buFontTx/>
              <a:buNone/>
              <a:defRPr/>
            </a:lvl4pPr>
            <a:lvl5pPr marL="1368000" indent="0">
              <a:buFontTx/>
              <a:buNone/>
              <a:defRPr/>
            </a:lvl5pPr>
          </a:lstStyle>
          <a:p>
            <a:pPr lvl="0"/>
            <a:r>
              <a:rPr lang="it-IT" dirty="0"/>
              <a:t>Fare clic per modificare gli stili del testo dello schema</a:t>
            </a:r>
          </a:p>
          <a:p>
            <a:pPr lvl="1"/>
            <a:endParaRPr lang="en-US" dirty="0"/>
          </a:p>
        </p:txBody>
      </p:sp>
      <p:pic>
        <p:nvPicPr>
          <p:cNvPr id="13" name="Immagine 12">
            <a:extLst>
              <a:ext uri="{FF2B5EF4-FFF2-40B4-BE49-F238E27FC236}">
                <a16:creationId xmlns:a16="http://schemas.microsoft.com/office/drawing/2014/main" id="{D0FB10A6-C138-494B-9E13-24A27B8289F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Footer Placeholder 4">
            <a:extLst>
              <a:ext uri="{FF2B5EF4-FFF2-40B4-BE49-F238E27FC236}">
                <a16:creationId xmlns:a16="http://schemas.microsoft.com/office/drawing/2014/main" id="{A4B33C25-F53C-40FF-87FE-5A1021509E50}"/>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17" name="Rectangle 8">
            <a:extLst>
              <a:ext uri="{FF2B5EF4-FFF2-40B4-BE49-F238E27FC236}">
                <a16:creationId xmlns:a16="http://schemas.microsoft.com/office/drawing/2014/main" id="{96897485-CF07-4D6A-ABB8-A29D7DC57109}"/>
              </a:ext>
            </a:extLst>
          </p:cNvPr>
          <p:cNvSpPr/>
          <p:nvPr userDrawn="1"/>
        </p:nvSpPr>
        <p:spPr>
          <a:xfrm>
            <a:off x="463550" y="1017025"/>
            <a:ext cx="3708400" cy="72000"/>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0">
            <a:extLst>
              <a:ext uri="{FF2B5EF4-FFF2-40B4-BE49-F238E27FC236}">
                <a16:creationId xmlns:a16="http://schemas.microsoft.com/office/drawing/2014/main" id="{BC91E05A-8494-49B6-B257-61F68DA8B315}"/>
              </a:ext>
            </a:extLst>
          </p:cNvPr>
          <p:cNvSpPr/>
          <p:nvPr userDrawn="1"/>
        </p:nvSpPr>
        <p:spPr>
          <a:xfrm>
            <a:off x="4251325" y="1017025"/>
            <a:ext cx="3706813" cy="72000"/>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9">
            <a:extLst>
              <a:ext uri="{FF2B5EF4-FFF2-40B4-BE49-F238E27FC236}">
                <a16:creationId xmlns:a16="http://schemas.microsoft.com/office/drawing/2014/main" id="{422199A7-2A62-43D5-872A-CD0B9A3D6E61}"/>
              </a:ext>
            </a:extLst>
          </p:cNvPr>
          <p:cNvSpPr/>
          <p:nvPr userDrawn="1"/>
        </p:nvSpPr>
        <p:spPr>
          <a:xfrm>
            <a:off x="8037513" y="1017025"/>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sp>
        <p:nvSpPr>
          <p:cNvPr id="20" name="Slide Number Placeholder 5">
            <a:extLst>
              <a:ext uri="{FF2B5EF4-FFF2-40B4-BE49-F238E27FC236}">
                <a16:creationId xmlns:a16="http://schemas.microsoft.com/office/drawing/2014/main" id="{1B2ED1D9-25D5-4BB7-87C2-D519D9336366}"/>
              </a:ext>
            </a:extLst>
          </p:cNvPr>
          <p:cNvSpPr>
            <a:spLocks noGrp="1"/>
          </p:cNvSpPr>
          <p:nvPr>
            <p:ph type="sldNum" sz="quarter" idx="14"/>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
        <p:nvSpPr>
          <p:cNvPr id="11" name="Title Placeholder 1">
            <a:extLst>
              <a:ext uri="{FF2B5EF4-FFF2-40B4-BE49-F238E27FC236}">
                <a16:creationId xmlns:a16="http://schemas.microsoft.com/office/drawing/2014/main" id="{385672B4-73ED-0645-AF4D-5916A1BEEC00}"/>
              </a:ext>
            </a:extLst>
          </p:cNvPr>
          <p:cNvSpPr>
            <a:spLocks noGrp="1"/>
          </p:cNvSpPr>
          <p:nvPr>
            <p:ph type="title" hasCustomPrompt="1"/>
          </p:nvPr>
        </p:nvSpPr>
        <p:spPr>
          <a:xfrm>
            <a:off x="468895" y="503475"/>
            <a:ext cx="11269308" cy="384721"/>
          </a:xfrm>
          <a:prstGeom prst="rect">
            <a:avLst/>
          </a:prstGeom>
        </p:spPr>
        <p:txBody>
          <a:bodyPr lIns="0" tIns="0" rIns="0" bIns="0" rtlCol="0">
            <a:spAutoFit/>
          </a:bodyPr>
          <a:lstStyle>
            <a:lvl1pPr>
              <a:lnSpc>
                <a:spcPts val="3000"/>
              </a:lnSpc>
              <a:defRPr sz="2800" cap="none" baseline="0"/>
            </a:lvl1pPr>
          </a:lstStyle>
          <a:p>
            <a:r>
              <a:rPr lang="it-IT" dirty="0"/>
              <a:t>Fare clic per modificare lo stile del titolo dello schema</a:t>
            </a:r>
            <a:endParaRPr lang="en-US" dirty="0"/>
          </a:p>
        </p:txBody>
      </p:sp>
    </p:spTree>
    <p:extLst>
      <p:ext uri="{BB962C8B-B14F-4D97-AF65-F5344CB8AC3E}">
        <p14:creationId xmlns:p14="http://schemas.microsoft.com/office/powerpoint/2010/main" val="3069949798"/>
      </p:ext>
    </p:extLst>
  </p:cSld>
  <p:clrMapOvr>
    <a:masterClrMapping/>
  </p:clrMapOvr>
  <p:extLst>
    <p:ext uri="{DCECCB84-F9BA-43D5-87BE-67443E8EF086}">
      <p15:sldGuideLst xmlns:p15="http://schemas.microsoft.com/office/powerpoint/2012/main">
        <p15:guide id="1" orient="horz" pos="3748"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18A4B74D-95FF-4ECC-AED0-C183993F87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68242" y="6402657"/>
            <a:ext cx="840882" cy="24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48324380-A91B-40DB-8B06-87F1716A8EF9}"/>
              </a:ext>
            </a:extLst>
          </p:cNvPr>
          <p:cNvSpPr>
            <a:spLocks noGrp="1"/>
          </p:cNvSpPr>
          <p:nvPr>
            <p:ph type="ftr" sz="quarter" idx="10"/>
          </p:nvPr>
        </p:nvSpPr>
        <p:spPr>
          <a:xfrm>
            <a:off x="898588" y="6394753"/>
            <a:ext cx="9644444" cy="259965"/>
          </a:xfrm>
          <a:prstGeom prst="rect">
            <a:avLst/>
          </a:prstGeom>
        </p:spPr>
        <p:txBody>
          <a:bodyPr vert="horz" lIns="0" tIns="0" rIns="0" bIns="0" rtlCol="0" anchor="b" anchorCtr="0"/>
          <a:lstStyle>
            <a:lvl1pPr algn="l" eaLnBrk="1" fontAlgn="auto" hangingPunct="1">
              <a:spcBef>
                <a:spcPts val="0"/>
              </a:spcBef>
              <a:spcAft>
                <a:spcPts val="0"/>
              </a:spcAft>
              <a:defRPr sz="900" cap="all" dirty="0">
                <a:solidFill>
                  <a:schemeClr val="tx1">
                    <a:lumMod val="65000"/>
                    <a:lumOff val="35000"/>
                  </a:schemeClr>
                </a:solidFill>
                <a:latin typeface="Arial" panose="020B0604020202020204" pitchFamily="34" charset="0"/>
                <a:cs typeface="Arial" panose="020B0604020202020204" pitchFamily="34" charset="0"/>
              </a:defRPr>
            </a:lvl1pPr>
          </a:lstStyle>
          <a:p>
            <a:pPr>
              <a:defRPr/>
            </a:pPr>
            <a:endParaRPr lang="en-US" dirty="0"/>
          </a:p>
        </p:txBody>
      </p:sp>
      <p:sp>
        <p:nvSpPr>
          <p:cNvPr id="9" name="Slide Number Placeholder 5">
            <a:extLst>
              <a:ext uri="{FF2B5EF4-FFF2-40B4-BE49-F238E27FC236}">
                <a16:creationId xmlns:a16="http://schemas.microsoft.com/office/drawing/2014/main" id="{9376CEDB-6160-4575-AAD8-45EA5C0ED54C}"/>
              </a:ext>
            </a:extLst>
          </p:cNvPr>
          <p:cNvSpPr>
            <a:spLocks noGrp="1"/>
          </p:cNvSpPr>
          <p:nvPr>
            <p:ph type="sldNum" sz="quarter" idx="11"/>
          </p:nvPr>
        </p:nvSpPr>
        <p:spPr>
          <a:xfrm>
            <a:off x="323469" y="6397225"/>
            <a:ext cx="501650"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rgbClr val="C00000"/>
                </a:solidFill>
                <a:latin typeface="Arial" panose="020B0604020202020204" pitchFamily="34" charset="0"/>
                <a:cs typeface="Arial" panose="020B0604020202020204" pitchFamily="34" charset="0"/>
              </a:defRPr>
            </a:lvl1pPr>
          </a:lstStyle>
          <a:p>
            <a:pPr>
              <a:defRPr/>
            </a:pPr>
            <a:fld id="{48B4153A-D4C5-4CEF-8992-0D8815C829E3}" type="slidenum">
              <a:rPr lang="en-US" smtClean="0"/>
              <a:pPr>
                <a:defRPr/>
              </a:pPr>
              <a:t>‹N›</a:t>
            </a:fld>
            <a:endParaRPr lang="en-US" dirty="0"/>
          </a:p>
        </p:txBody>
      </p:sp>
    </p:spTree>
    <p:extLst>
      <p:ext uri="{BB962C8B-B14F-4D97-AF65-F5344CB8AC3E}">
        <p14:creationId xmlns:p14="http://schemas.microsoft.com/office/powerpoint/2010/main" val="294222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ingraziamenti">
    <p:spTree>
      <p:nvGrpSpPr>
        <p:cNvPr id="1" name=""/>
        <p:cNvGrpSpPr/>
        <p:nvPr/>
      </p:nvGrpSpPr>
      <p:grpSpPr>
        <a:xfrm>
          <a:off x="0" y="0"/>
          <a:ext cx="0" cy="0"/>
          <a:chOff x="0" y="0"/>
          <a:chExt cx="0" cy="0"/>
        </a:xfrm>
      </p:grpSpPr>
      <p:sp>
        <p:nvSpPr>
          <p:cNvPr id="2" name="Title 1"/>
          <p:cNvSpPr>
            <a:spLocks noGrp="1"/>
          </p:cNvSpPr>
          <p:nvPr>
            <p:ph type="ctrTitle"/>
          </p:nvPr>
        </p:nvSpPr>
        <p:spPr>
          <a:xfrm>
            <a:off x="463786" y="1796902"/>
            <a:ext cx="11283042" cy="1839433"/>
          </a:xfrm>
          <a:effectLst/>
        </p:spPr>
        <p:txBody>
          <a:bodyPr anchor="ctr">
            <a:noAutofit/>
          </a:bodyPr>
          <a:lstStyle>
            <a:lvl1pPr algn="ctr">
              <a:defRPr sz="7000" b="0" cap="none">
                <a:solidFill>
                  <a:schemeClr val="tx1">
                    <a:lumMod val="50000"/>
                    <a:lumOff val="50000"/>
                  </a:schemeClr>
                </a:solidFill>
              </a:defRPr>
            </a:lvl1pPr>
          </a:lstStyle>
          <a:p>
            <a:endParaRPr lang="en-US" dirty="0"/>
          </a:p>
        </p:txBody>
      </p:sp>
      <p:sp>
        <p:nvSpPr>
          <p:cNvPr id="10" name="Text Placeholder 2">
            <a:extLst>
              <a:ext uri="{FF2B5EF4-FFF2-40B4-BE49-F238E27FC236}">
                <a16:creationId xmlns:a16="http://schemas.microsoft.com/office/drawing/2014/main" id="{05894EA2-4831-F84E-BBDE-8E89A351653C}"/>
              </a:ext>
            </a:extLst>
          </p:cNvPr>
          <p:cNvSpPr>
            <a:spLocks noGrp="1"/>
          </p:cNvSpPr>
          <p:nvPr>
            <p:ph type="body" idx="1"/>
          </p:nvPr>
        </p:nvSpPr>
        <p:spPr>
          <a:xfrm>
            <a:off x="3296093" y="3683529"/>
            <a:ext cx="5624623" cy="423612"/>
          </a:xfrm>
        </p:spPr>
        <p:txBody>
          <a:bodyPr spcCol="360000" anchor="ctr">
            <a:noAutofit/>
          </a:bodyPr>
          <a:lstStyle>
            <a:lvl1pPr marL="0" indent="0" algn="ctr">
              <a:buNone/>
              <a:defRPr sz="18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8" name="Rectangle 8">
            <a:extLst>
              <a:ext uri="{FF2B5EF4-FFF2-40B4-BE49-F238E27FC236}">
                <a16:creationId xmlns:a16="http://schemas.microsoft.com/office/drawing/2014/main" id="{02837C0E-8F15-489B-800B-6F1CBBB23F06}"/>
              </a:ext>
            </a:extLst>
          </p:cNvPr>
          <p:cNvSpPr/>
          <p:nvPr userDrawn="1"/>
        </p:nvSpPr>
        <p:spPr>
          <a:xfrm>
            <a:off x="463550" y="5773825"/>
            <a:ext cx="3708400" cy="1089025"/>
          </a:xfrm>
          <a:prstGeom prst="rect">
            <a:avLst/>
          </a:prstGeom>
          <a:solidFill>
            <a:srgbClr val="942639"/>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10">
            <a:extLst>
              <a:ext uri="{FF2B5EF4-FFF2-40B4-BE49-F238E27FC236}">
                <a16:creationId xmlns:a16="http://schemas.microsoft.com/office/drawing/2014/main" id="{1C3885B9-D4F0-42E8-A6EE-EB419237E845}"/>
              </a:ext>
            </a:extLst>
          </p:cNvPr>
          <p:cNvSpPr/>
          <p:nvPr userDrawn="1"/>
        </p:nvSpPr>
        <p:spPr>
          <a:xfrm>
            <a:off x="4251325" y="5773825"/>
            <a:ext cx="3706813" cy="1089025"/>
          </a:xfrm>
          <a:prstGeom prst="rect">
            <a:avLst/>
          </a:prstGeom>
          <a:solidFill>
            <a:srgbClr val="CC2A2A">
              <a:alpha val="98824"/>
            </a:srgbClr>
          </a:solidFill>
          <a:ln>
            <a:noFill/>
          </a:ln>
          <a:effectLst/>
        </p:spPr>
        <p:style>
          <a:lnRef idx="1">
            <a:schemeClr val="accent1"/>
          </a:lnRef>
          <a:fillRef idx="3">
            <a:schemeClr val="accent1"/>
          </a:fillRef>
          <a:effectRef idx="2">
            <a:schemeClr val="accent1"/>
          </a:effectRef>
          <a:fontRef idx="minor">
            <a:schemeClr val="lt1"/>
          </a:fontRef>
        </p:style>
      </p:sp>
      <p:pic>
        <p:nvPicPr>
          <p:cNvPr id="11" name="Immagine 10">
            <a:extLst>
              <a:ext uri="{FF2B5EF4-FFF2-40B4-BE49-F238E27FC236}">
                <a16:creationId xmlns:a16="http://schemas.microsoft.com/office/drawing/2014/main" id="{1F54AFB7-6D67-44BA-975B-F9E2C29BB466}"/>
              </a:ext>
            </a:extLst>
          </p:cNvPr>
          <p:cNvPicPr>
            <a:picLocks noChangeAspect="1"/>
          </p:cNvPicPr>
          <p:nvPr userDrawn="1"/>
        </p:nvPicPr>
        <p:blipFill>
          <a:blip r:embed="rId2"/>
          <a:stretch>
            <a:fillRect/>
          </a:stretch>
        </p:blipFill>
        <p:spPr>
          <a:xfrm>
            <a:off x="8550841" y="6092375"/>
            <a:ext cx="2700000" cy="461927"/>
          </a:xfrm>
          <a:prstGeom prst="rect">
            <a:avLst/>
          </a:prstGeom>
        </p:spPr>
      </p:pic>
      <p:sp>
        <p:nvSpPr>
          <p:cNvPr id="12" name="Rectangle 9">
            <a:extLst>
              <a:ext uri="{FF2B5EF4-FFF2-40B4-BE49-F238E27FC236}">
                <a16:creationId xmlns:a16="http://schemas.microsoft.com/office/drawing/2014/main" id="{B4CD4512-1FFA-4544-ACEE-31F0A9CA9D05}"/>
              </a:ext>
            </a:extLst>
          </p:cNvPr>
          <p:cNvSpPr/>
          <p:nvPr userDrawn="1"/>
        </p:nvSpPr>
        <p:spPr>
          <a:xfrm>
            <a:off x="8037513" y="6790850"/>
            <a:ext cx="3708400" cy="72000"/>
          </a:xfrm>
          <a:prstGeom prst="rect">
            <a:avLst/>
          </a:prstGeom>
          <a:solidFill>
            <a:srgbClr val="7B7C7E"/>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547396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508000" y="939800"/>
            <a:ext cx="11204575"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it-IT" altLang="it-IT"/>
              <a:t>Fare clic per modificare lo stile del titolo dello schema</a:t>
            </a:r>
            <a:endParaRPr lang="en-US" altLang="it-IT"/>
          </a:p>
        </p:txBody>
      </p:sp>
      <p:sp>
        <p:nvSpPr>
          <p:cNvPr id="1027" name="Text Placeholder 2"/>
          <p:cNvSpPr>
            <a:spLocks noGrp="1"/>
          </p:cNvSpPr>
          <p:nvPr>
            <p:ph type="body" idx="1"/>
          </p:nvPr>
        </p:nvSpPr>
        <p:spPr bwMode="auto">
          <a:xfrm>
            <a:off x="508000" y="2103438"/>
            <a:ext cx="11204575"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it-IT" altLang="it-IT"/>
              <a:t>Fare clic per modificare gli stili del testo dello schema</a:t>
            </a:r>
          </a:p>
        </p:txBody>
      </p:sp>
    </p:spTree>
  </p:cSld>
  <p:clrMap bg1="lt1" tx1="dk1" bg2="lt2" tx2="dk2" accent1="accent1" accent2="accent2" accent3="accent3" accent4="accent4" accent5="accent5" accent6="accent6" hlink="hlink" folHlink="folHlink"/>
  <p:sldLayoutIdLst>
    <p:sldLayoutId id="2147483719" r:id="rId1"/>
    <p:sldLayoutId id="2147483708" r:id="rId2"/>
    <p:sldLayoutId id="2147483709" r:id="rId3"/>
    <p:sldLayoutId id="2147483710" r:id="rId4"/>
    <p:sldLayoutId id="2147483711" r:id="rId5"/>
    <p:sldLayoutId id="2147483712" r:id="rId6"/>
    <p:sldLayoutId id="2147483713" r:id="rId7"/>
    <p:sldLayoutId id="2147483720" r:id="rId8"/>
    <p:sldLayoutId id="2147483714" r:id="rId9"/>
    <p:sldLayoutId id="2147483716" r:id="rId10"/>
    <p:sldLayoutId id="2147483715" r:id="rId11"/>
    <p:sldLayoutId id="2147483717" r:id="rId12"/>
    <p:sldLayoutId id="2147483718" r:id="rId13"/>
  </p:sldLayoutIdLst>
  <p:hf hdr="0" dt="0"/>
  <p:txStyles>
    <p:titleStyle>
      <a:lvl1pPr algn="l" defTabSz="457200" rtl="0" fontAlgn="base">
        <a:spcBef>
          <a:spcPct val="0"/>
        </a:spcBef>
        <a:spcAft>
          <a:spcPct val="0"/>
        </a:spcAft>
        <a:defRPr sz="2400" b="1" kern="1200">
          <a:solidFill>
            <a:srgbClr val="595959"/>
          </a:solidFill>
          <a:latin typeface="Arial" panose="020B0604020202020204" pitchFamily="34" charset="0"/>
          <a:ea typeface="+mj-ea"/>
          <a:cs typeface="Arial" panose="020B0604020202020204" pitchFamily="34" charset="0"/>
        </a:defRPr>
      </a:lvl1pPr>
      <a:lvl2pPr algn="l" defTabSz="457200" rtl="0" fontAlgn="base">
        <a:spcBef>
          <a:spcPct val="0"/>
        </a:spcBef>
        <a:spcAft>
          <a:spcPct val="0"/>
        </a:spcAft>
        <a:defRPr sz="2400" b="1">
          <a:solidFill>
            <a:srgbClr val="595959"/>
          </a:solidFill>
          <a:latin typeface="Arial" panose="020B0604020202020204" pitchFamily="34" charset="0"/>
          <a:cs typeface="Arial" panose="020B0604020202020204" pitchFamily="34" charset="0"/>
        </a:defRPr>
      </a:lvl2pPr>
      <a:lvl3pPr algn="l" defTabSz="457200" rtl="0" fontAlgn="base">
        <a:spcBef>
          <a:spcPct val="0"/>
        </a:spcBef>
        <a:spcAft>
          <a:spcPct val="0"/>
        </a:spcAft>
        <a:defRPr sz="2400" b="1">
          <a:solidFill>
            <a:srgbClr val="595959"/>
          </a:solidFill>
          <a:latin typeface="Arial" panose="020B0604020202020204" pitchFamily="34" charset="0"/>
          <a:cs typeface="Arial" panose="020B0604020202020204" pitchFamily="34" charset="0"/>
        </a:defRPr>
      </a:lvl3pPr>
      <a:lvl4pPr algn="l" defTabSz="457200" rtl="0" fontAlgn="base">
        <a:spcBef>
          <a:spcPct val="0"/>
        </a:spcBef>
        <a:spcAft>
          <a:spcPct val="0"/>
        </a:spcAft>
        <a:defRPr sz="2400" b="1">
          <a:solidFill>
            <a:srgbClr val="595959"/>
          </a:solidFill>
          <a:latin typeface="Arial" panose="020B0604020202020204" pitchFamily="34" charset="0"/>
          <a:cs typeface="Arial" panose="020B0604020202020204" pitchFamily="34" charset="0"/>
        </a:defRPr>
      </a:lvl4pPr>
      <a:lvl5pPr algn="l" defTabSz="457200" rtl="0" fontAlgn="base">
        <a:spcBef>
          <a:spcPct val="0"/>
        </a:spcBef>
        <a:spcAft>
          <a:spcPct val="0"/>
        </a:spcAft>
        <a:defRPr sz="2400" b="1">
          <a:solidFill>
            <a:srgbClr val="595959"/>
          </a:solidFill>
          <a:latin typeface="Arial" panose="020B0604020202020204" pitchFamily="34" charset="0"/>
          <a:cs typeface="Arial" panose="020B0604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rtl="0" fontAlgn="t">
        <a:spcBef>
          <a:spcPct val="0"/>
        </a:spcBef>
        <a:spcAft>
          <a:spcPts val="1200"/>
        </a:spcAft>
        <a:buClr>
          <a:srgbClr val="CC2A2A"/>
        </a:buClr>
        <a:buSzPct val="100000"/>
        <a:defRPr kern="1200">
          <a:solidFill>
            <a:schemeClr val="tx2"/>
          </a:solidFill>
          <a:latin typeface="Arial" panose="020B0604020202020204" pitchFamily="34" charset="0"/>
          <a:ea typeface="+mn-ea"/>
          <a:cs typeface="Arial" panose="020B0604020202020204" pitchFamily="34" charset="0"/>
        </a:defRPr>
      </a:lvl1pPr>
      <a:lvl2pPr marL="323850" algn="l" defTabSz="457200" rtl="0" fontAlgn="base">
        <a:spcBef>
          <a:spcPct val="20000"/>
        </a:spcBef>
        <a:spcAft>
          <a:spcPts val="600"/>
        </a:spcAft>
        <a:buClr>
          <a:srgbClr val="CC2A2A"/>
        </a:buClr>
        <a:buSzPct val="100000"/>
        <a:defRPr sz="1600" kern="1200">
          <a:solidFill>
            <a:schemeClr val="tx2"/>
          </a:solidFill>
          <a:latin typeface="Arial" panose="020B0604020202020204" pitchFamily="34" charset="0"/>
          <a:ea typeface="+mn-ea"/>
          <a:cs typeface="Arial" panose="020B0604020202020204" pitchFamily="34" charset="0"/>
        </a:defRPr>
      </a:lvl2pPr>
      <a:lvl3pPr marL="628650" algn="l" defTabSz="457200" rtl="0" fontAlgn="base">
        <a:spcBef>
          <a:spcPct val="20000"/>
        </a:spcBef>
        <a:spcAft>
          <a:spcPts val="600"/>
        </a:spcAft>
        <a:buClr>
          <a:srgbClr val="CC2A2A"/>
        </a:buClr>
        <a:buSzPct val="100000"/>
        <a:defRPr sz="1400" kern="1200">
          <a:solidFill>
            <a:schemeClr val="tx2"/>
          </a:solidFill>
          <a:latin typeface="Arial" panose="020B0604020202020204" pitchFamily="34" charset="0"/>
          <a:ea typeface="+mn-ea"/>
          <a:cs typeface="Arial" panose="020B0604020202020204" pitchFamily="34" charset="0"/>
        </a:defRPr>
      </a:lvl3pPr>
      <a:lvl4pPr marL="1006475" algn="l" defTabSz="457200" rtl="0" fontAlgn="base">
        <a:spcBef>
          <a:spcPct val="20000"/>
        </a:spcBef>
        <a:spcAft>
          <a:spcPts val="600"/>
        </a:spcAft>
        <a:buClr>
          <a:srgbClr val="CC2A2A"/>
        </a:buClr>
        <a:buSzPct val="100000"/>
        <a:defRPr sz="1200" kern="1200">
          <a:solidFill>
            <a:schemeClr val="tx2"/>
          </a:solidFill>
          <a:latin typeface="Arial" panose="020B0604020202020204" pitchFamily="34" charset="0"/>
          <a:ea typeface="+mn-ea"/>
          <a:cs typeface="Arial" panose="020B0604020202020204" pitchFamily="34" charset="0"/>
        </a:defRPr>
      </a:lvl4pPr>
      <a:lvl5pPr marL="1366838" algn="l" defTabSz="457200" rtl="0" fontAlgn="base">
        <a:spcBef>
          <a:spcPct val="20000"/>
        </a:spcBef>
        <a:spcAft>
          <a:spcPts val="600"/>
        </a:spcAft>
        <a:buClr>
          <a:srgbClr val="CC2A2A"/>
        </a:buClr>
        <a:buSzPct val="100000"/>
        <a:defRPr sz="1200" kern="1200">
          <a:solidFill>
            <a:schemeClr val="tx2"/>
          </a:solidFill>
          <a:latin typeface="Arial" panose="020B0604020202020204" pitchFamily="34" charset="0"/>
          <a:ea typeface="+mn-ea"/>
          <a:cs typeface="Arial" panose="020B0604020202020204" pitchFamily="34" charset="0"/>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Oi9BTpzsOns" TargetMode="External"/><Relationship Id="rId5" Type="http://schemas.openxmlformats.org/officeDocument/2006/relationships/image" Target="../media/image10.jp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qtApzKnGU94" TargetMode="External"/><Relationship Id="rId6" Type="http://schemas.openxmlformats.org/officeDocument/2006/relationships/image" Target="../media/image16.jpg"/><Relationship Id="rId5" Type="http://schemas.openxmlformats.org/officeDocument/2006/relationships/image" Target="../media/image15.jpe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video" Target="https://www.youtube.com/embed/Oiipoh0uCx4" TargetMode="External"/><Relationship Id="rId7" Type="http://schemas.openxmlformats.org/officeDocument/2006/relationships/image" Target="../media/image17.jpeg"/><Relationship Id="rId2" Type="http://schemas.openxmlformats.org/officeDocument/2006/relationships/video" Target="https://www.youtube.com/embed/lmKqmPoU2ec" TargetMode="External"/><Relationship Id="rId1" Type="http://schemas.openxmlformats.org/officeDocument/2006/relationships/video" Target="https://www.youtube.com/embed/dW4AR_V-ldE" TargetMode="External"/><Relationship Id="rId6" Type="http://schemas.openxmlformats.org/officeDocument/2006/relationships/notesSlide" Target="../notesSlides/notesSlide9.xml"/><Relationship Id="rId5" Type="http://schemas.openxmlformats.org/officeDocument/2006/relationships/slideLayout" Target="../slideLayouts/slideLayout2.xml"/><Relationship Id="rId10" Type="http://schemas.openxmlformats.org/officeDocument/2006/relationships/image" Target="../media/image20.jpeg"/><Relationship Id="rId4" Type="http://schemas.openxmlformats.org/officeDocument/2006/relationships/video" Target="https://www.youtube.com/embed/36lE9tV9vm0" TargetMode="External"/><Relationship Id="rId9" Type="http://schemas.openxmlformats.org/officeDocument/2006/relationships/image" Target="../media/image19.jpe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3JQ3hYko51Y" TargetMode="External"/><Relationship Id="rId6" Type="http://schemas.openxmlformats.org/officeDocument/2006/relationships/image" Target="../media/image26.png"/><Relationship Id="rId5" Type="http://schemas.openxmlformats.org/officeDocument/2006/relationships/image" Target="../media/image25.jpe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0.jpe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ideo" Target="file:///C:\Users\neural\Desktop\Presentation%20of%20PHD%20FInal%20Dissertation\iCub%20playing%20with%20objects.avi" TargetMode="External"/><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8.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44.jpeg"/><Relationship Id="rId7"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7.jpg"/><Relationship Id="rId5" Type="http://schemas.openxmlformats.org/officeDocument/2006/relationships/image" Target="../media/image46.png"/><Relationship Id="rId4" Type="http://schemas.openxmlformats.org/officeDocument/2006/relationships/image" Target="../media/image45.jpeg"/></Relationships>
</file>

<file path=ppt/slides/_rels/slide27.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0.jpg"/></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2.jpg"/><Relationship Id="rId7" Type="http://schemas.openxmlformats.org/officeDocument/2006/relationships/image" Target="../media/image66.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8.tiff"/><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68.tiff"/><Relationship Id="rId7" Type="http://schemas.openxmlformats.org/officeDocument/2006/relationships/diagramColors" Target="../diagrams/colors3.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openxmlformats.org/officeDocument/2006/relationships/image" Target="../media/image71.png"/><Relationship Id="rId4" Type="http://schemas.openxmlformats.org/officeDocument/2006/relationships/diagramData" Target="../diagrams/data3.xml"/><Relationship Id="rId9" Type="http://schemas.openxmlformats.org/officeDocument/2006/relationships/image" Target="../media/image70.png"/></Relationships>
</file>

<file path=ppt/slides/_rels/slide43.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3.jf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wired.it/attualita/tech/2018/09/20/party-cloud-ibm-deep-learning/"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mailto:francesco.pugliese@istat.it" TargetMode="External"/><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60BFAD7-8051-44E7-952E-F8647A1CBD0F}"/>
              </a:ext>
            </a:extLst>
          </p:cNvPr>
          <p:cNvSpPr>
            <a:spLocks noGrp="1"/>
          </p:cNvSpPr>
          <p:nvPr>
            <p:ph type="ctrTitle"/>
          </p:nvPr>
        </p:nvSpPr>
        <p:spPr>
          <a:xfrm>
            <a:off x="469184" y="2801909"/>
            <a:ext cx="11184450" cy="2782819"/>
          </a:xfrm>
        </p:spPr>
        <p:txBody>
          <a:bodyPr>
            <a:normAutofit fontScale="90000"/>
          </a:bodyPr>
          <a:lstStyle/>
          <a:p>
            <a:br>
              <a:rPr lang="it-IT" b="1" dirty="0"/>
            </a:br>
            <a:r>
              <a:rPr lang="it-IT" sz="4400" b="1" u="sng" dirty="0"/>
              <a:t>A</a:t>
            </a:r>
            <a:r>
              <a:rPr lang="en-US" sz="4400" b="1" u="sng" dirty="0" err="1"/>
              <a:t>rtificial</a:t>
            </a:r>
            <a:r>
              <a:rPr lang="en-US" sz="4400" b="1" u="sng" dirty="0"/>
              <a:t> Intelligence as a driver for Innovation in Digital Health</a:t>
            </a:r>
            <a:br>
              <a:rPr lang="en-US" sz="4400" b="1" u="sng" dirty="0"/>
            </a:br>
            <a:br>
              <a:rPr lang="en-US" sz="4400" b="1" dirty="0"/>
            </a:br>
            <a:r>
              <a:rPr lang="en-US" sz="4400" b="1" dirty="0"/>
              <a:t>Francesco Pugliese, </a:t>
            </a:r>
            <a:r>
              <a:rPr lang="it-IT" sz="4400" dirty="0"/>
              <a:t>Central </a:t>
            </a:r>
            <a:r>
              <a:rPr lang="it-IT" sz="4400" dirty="0" err="1"/>
              <a:t>Directorate</a:t>
            </a:r>
            <a:r>
              <a:rPr lang="it-IT" sz="4400" dirty="0"/>
              <a:t> for </a:t>
            </a:r>
            <a:r>
              <a:rPr lang="it-IT" sz="4400" dirty="0" err="1"/>
              <a:t>Methodology</a:t>
            </a:r>
            <a:r>
              <a:rPr lang="it-IT" sz="4400" dirty="0"/>
              <a:t> and Design of Statistical </a:t>
            </a:r>
            <a:r>
              <a:rPr lang="it-IT" sz="4400" dirty="0" err="1"/>
              <a:t>Processes</a:t>
            </a:r>
            <a:r>
              <a:rPr lang="it-IT" sz="4400" dirty="0"/>
              <a:t>, </a:t>
            </a:r>
            <a:r>
              <a:rPr lang="en-US" sz="4400" b="1" dirty="0" err="1"/>
              <a:t>Istat</a:t>
            </a:r>
            <a:br>
              <a:rPr lang="en-US" b="1" dirty="0"/>
            </a:br>
            <a:br>
              <a:rPr lang="it-IT" b="1" dirty="0"/>
            </a:br>
            <a:br>
              <a:rPr lang="it-IT" sz="2700" dirty="0"/>
            </a:br>
            <a:r>
              <a:rPr lang="it-IT" sz="2700" dirty="0"/>
              <a:t>Roma | xx </a:t>
            </a:r>
            <a:r>
              <a:rPr lang="it-IT" sz="2700" dirty="0" err="1"/>
              <a:t>May</a:t>
            </a:r>
            <a:r>
              <a:rPr lang="it-IT" sz="2700" dirty="0"/>
              <a:t> 2026 | La Sapienza</a:t>
            </a:r>
            <a:br>
              <a:rPr lang="it-IT" sz="2700" dirty="0"/>
            </a:br>
            <a:br>
              <a:rPr lang="en-US" dirty="0"/>
            </a:br>
            <a:br>
              <a:rPr lang="en-US" sz="2400" dirty="0"/>
            </a:br>
            <a:endParaRPr lang="it-IT" sz="2400" dirty="0"/>
          </a:p>
        </p:txBody>
      </p:sp>
    </p:spTree>
    <p:extLst>
      <p:ext uri="{BB962C8B-B14F-4D97-AF65-F5344CB8AC3E}">
        <p14:creationId xmlns:p14="http://schemas.microsoft.com/office/powerpoint/2010/main" val="2730702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91252" y="366618"/>
            <a:ext cx="11269308" cy="30777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Difference between AI and ML</a:t>
            </a:r>
            <a:br>
              <a:rPr lang="it-IT"/>
            </a:b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pic>
        <p:nvPicPr>
          <p:cNvPr id="6" name="Immagine 5"/>
          <p:cNvPicPr>
            <a:picLocks noChangeAspect="1"/>
          </p:cNvPicPr>
          <p:nvPr/>
        </p:nvPicPr>
        <p:blipFill>
          <a:blip r:embed="rId3"/>
          <a:stretch>
            <a:fillRect/>
          </a:stretch>
        </p:blipFill>
        <p:spPr>
          <a:xfrm>
            <a:off x="3009347" y="1401110"/>
            <a:ext cx="5705475" cy="5083455"/>
          </a:xfrm>
          <a:prstGeom prst="rect">
            <a:avLst/>
          </a:prstGeom>
        </p:spPr>
      </p:pic>
    </p:spTree>
    <p:extLst>
      <p:ext uri="{BB962C8B-B14F-4D97-AF65-F5344CB8AC3E}">
        <p14:creationId xmlns:p14="http://schemas.microsoft.com/office/powerpoint/2010/main" val="2254162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91252" y="342032"/>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MACHINE LEARNING ENGINEER</a:t>
            </a:r>
            <a:br>
              <a:rPr lang="it-IT"/>
            </a:br>
            <a:br>
              <a:rPr lang="it-IT"/>
            </a:b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pic>
        <p:nvPicPr>
          <p:cNvPr id="7" name="Immagine 6"/>
          <p:cNvPicPr>
            <a:picLocks noChangeAspect="1"/>
          </p:cNvPicPr>
          <p:nvPr/>
        </p:nvPicPr>
        <p:blipFill>
          <a:blip r:embed="rId3"/>
          <a:stretch>
            <a:fillRect/>
          </a:stretch>
        </p:blipFill>
        <p:spPr>
          <a:xfrm>
            <a:off x="1124793" y="1633538"/>
            <a:ext cx="9295094" cy="4341960"/>
          </a:xfrm>
          <a:prstGeom prst="rect">
            <a:avLst/>
          </a:prstGeom>
        </p:spPr>
      </p:pic>
    </p:spTree>
    <p:extLst>
      <p:ext uri="{BB962C8B-B14F-4D97-AF65-F5344CB8AC3E}">
        <p14:creationId xmlns:p14="http://schemas.microsoft.com/office/powerpoint/2010/main" val="2226984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4</a:t>
            </a:fld>
            <a:endParaRPr lang="en-US" dirty="0"/>
          </a:p>
        </p:txBody>
      </p:sp>
      <p:sp>
        <p:nvSpPr>
          <p:cNvPr id="8" name="Titolo 2">
            <a:extLst>
              <a:ext uri="{FF2B5EF4-FFF2-40B4-BE49-F238E27FC236}">
                <a16:creationId xmlns:a16="http://schemas.microsoft.com/office/drawing/2014/main" id="{F35675A1-3ADB-3EC0-A6D4-2D22CE6CB45C}"/>
              </a:ext>
            </a:extLst>
          </p:cNvPr>
          <p:cNvSpPr>
            <a:spLocks noGrp="1"/>
          </p:cNvSpPr>
          <p:nvPr>
            <p:ph type="title"/>
          </p:nvPr>
        </p:nvSpPr>
        <p:spPr>
          <a:xfrm>
            <a:off x="536336" y="434863"/>
            <a:ext cx="11269308" cy="76944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solidFill>
                  <a:srgbClr val="464646"/>
                </a:solidFill>
              </a:rPr>
              <a:t>WHAT IS CONSCIOUSNESS?</a:t>
            </a:r>
            <a:br>
              <a:rPr lang="it-IT">
                <a:solidFill>
                  <a:srgbClr val="464646"/>
                </a:solidFill>
              </a:rPr>
            </a:br>
            <a:endParaRPr lang="it-IT" dirty="0"/>
          </a:p>
        </p:txBody>
      </p:sp>
      <p:sp>
        <p:nvSpPr>
          <p:cNvPr id="11" name="Shape 102"/>
          <p:cNvSpPr/>
          <p:nvPr/>
        </p:nvSpPr>
        <p:spPr>
          <a:xfrm>
            <a:off x="675745" y="2510631"/>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a:p>
        </p:txBody>
      </p:sp>
      <p:sp>
        <p:nvSpPr>
          <p:cNvPr id="12" name="Titolo"/>
          <p:cNvSpPr txBox="1"/>
          <p:nvPr/>
        </p:nvSpPr>
        <p:spPr>
          <a:xfrm>
            <a:off x="630608" y="1815926"/>
            <a:ext cx="3785394" cy="564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3" name="Sottotitolo"/>
          <p:cNvSpPr txBox="1"/>
          <p:nvPr/>
        </p:nvSpPr>
        <p:spPr>
          <a:xfrm>
            <a:off x="630608" y="2803363"/>
            <a:ext cx="3785394" cy="33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4" name="Shape 53"/>
          <p:cNvSpPr txBox="1">
            <a:spLocks/>
          </p:cNvSpPr>
          <p:nvPr/>
        </p:nvSpPr>
        <p:spPr>
          <a:xfrm>
            <a:off x="-20054" y="1291895"/>
            <a:ext cx="4903000" cy="1938992"/>
          </a:xfrm>
          <a:prstGeom prst="rect">
            <a:avLst/>
          </a:prstGeom>
          <a:noFill/>
          <a:extLst>
            <a:ext uri="{C572A759-6A51-4108-AA02-DFA0A04FC94B}">
              <ma14:wrappingTextBoxFlag xmlns="" xmlns:ma14="http://schemas.microsoft.com/office/mac/drawingml/2011/main" val="1"/>
            </a:ext>
          </a:extLst>
        </p:spPr>
        <p:txBody>
          <a:bodyPr wrap="square" rtlCol="0">
            <a:spAutoFit/>
          </a:bodyPr>
          <a:lstStyle>
            <a:defPPr>
              <a:defRPr lang="it-IT"/>
            </a:defPPr>
            <a:lvl1pPr>
              <a:defRPr sz="2400" b="1">
                <a:solidFill>
                  <a:srgbClr val="7F142A"/>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algn="ctr"/>
            <a:r>
              <a:rPr lang="it-IT">
                <a:solidFill>
                  <a:srgbClr val="464646"/>
                </a:solidFill>
              </a:rPr>
              <a:t>WHAT </a:t>
            </a:r>
            <a:r>
              <a:rPr lang="it-IT" dirty="0">
                <a:solidFill>
                  <a:srgbClr val="464646"/>
                </a:solidFill>
              </a:rPr>
              <a:t>IS THE SUBJECTIVE EXPERIENCE? </a:t>
            </a:r>
          </a:p>
          <a:p>
            <a:pPr algn="ctr"/>
            <a:r>
              <a:rPr lang="it-IT" dirty="0">
                <a:solidFill>
                  <a:srgbClr val="464646"/>
                </a:solidFill>
              </a:rPr>
              <a:t>NOBODY KNOWS </a:t>
            </a:r>
          </a:p>
          <a:p>
            <a:pPr algn="ctr"/>
            <a:endParaRPr lang="en-US" dirty="0">
              <a:solidFill>
                <a:srgbClr val="464646"/>
              </a:solidFill>
            </a:endParaRPr>
          </a:p>
          <a:p>
            <a:pPr algn="ctr"/>
            <a:endParaRPr lang="en-US" dirty="0">
              <a:solidFill>
                <a:srgbClr val="464646"/>
              </a:solidFill>
            </a:endParaRPr>
          </a:p>
        </p:txBody>
      </p:sp>
      <p:sp>
        <p:nvSpPr>
          <p:cNvPr id="15" name="Shape 118"/>
          <p:cNvSpPr/>
          <p:nvPr/>
        </p:nvSpPr>
        <p:spPr>
          <a:xfrm>
            <a:off x="4931665" y="4473252"/>
            <a:ext cx="6298406" cy="838074"/>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marL="285750" indent="-285750" algn="just" defTabSz="402336">
              <a:lnSpc>
                <a:spcPct val="90000"/>
              </a:lnSpc>
              <a:spcBef>
                <a:spcPts val="250"/>
              </a:spcBef>
              <a:buSzPct val="100000"/>
              <a:buFont typeface="Arial" panose="020B0604020202020204" pitchFamily="34" charset="0"/>
              <a:buChar char="•"/>
            </a:pPr>
            <a:endParaRPr lang="en-US" b="1" dirty="0">
              <a:solidFill>
                <a:srgbClr val="000000"/>
              </a:solidFill>
              <a:uFill>
                <a:solidFill>
                  <a:srgbClr val="000000"/>
                </a:solidFill>
              </a:uFill>
              <a:latin typeface="Tahoma" panose="020B0604030504040204" pitchFamily="34" charset="0"/>
              <a:ea typeface="Tahoma" panose="020B0604030504040204" pitchFamily="34" charset="0"/>
              <a:cs typeface="Tahoma" panose="020B0604030504040204" pitchFamily="34" charset="0"/>
            </a:endParaRPr>
          </a:p>
        </p:txBody>
      </p:sp>
      <p:sp>
        <p:nvSpPr>
          <p:cNvPr id="16" name="Rettangolo 15"/>
          <p:cNvSpPr/>
          <p:nvPr/>
        </p:nvSpPr>
        <p:spPr>
          <a:xfrm>
            <a:off x="5349889" y="1141650"/>
            <a:ext cx="6455755" cy="6494085"/>
          </a:xfrm>
          <a:prstGeom prst="rect">
            <a:avLst/>
          </a:prstGeom>
        </p:spPr>
        <p:txBody>
          <a:bodyPr wrap="square">
            <a:spAutoFit/>
          </a:bodyPr>
          <a:lstStyle/>
          <a:p>
            <a:pPr algn="ctr">
              <a:lnSpc>
                <a:spcPct val="80000"/>
              </a:lnSpc>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DISSOCIATION BETWEEN CORTICAL ACTIVITY AND COUSCIOUSNESS</a:t>
            </a:r>
          </a:p>
          <a:p>
            <a:pPr algn="ct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ctr">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During episodes of unconsciousness, the child’s brain is by no means inactive; it is actually hyperactive.</a:t>
            </a:r>
          </a:p>
          <a:p>
            <a:pPr marL="142875" indent="-142875" algn="ctr">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ctr">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observation of similar firing rates between waking and slow-wave sleep represents both the most striking dissociation between cortical activity and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couscioussness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t>
            </a:r>
          </a:p>
          <a:p>
            <a:pPr marL="142875" indent="-142875" algn="ctr">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ctr">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It indicates that the presence of “normal” firing levels in the cerebral cortex is not a sufficient criterion for consciousness. </a:t>
            </a:r>
          </a:p>
          <a:p>
            <a:pPr algn="ct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algn="ct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algn="ct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algn="ct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Edelman, Gerald. A Universe Of Consciousness: How Matter Becomes Imagination </a:t>
            </a:r>
            <a:endPar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28600" indent="-228600" algn="just">
              <a:lnSpc>
                <a:spcPct val="80000"/>
              </a:lnSpc>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Helvetica Neue"/>
            </a:endParaRPr>
          </a:p>
          <a:p>
            <a:pPr marL="228600" indent="-228600" algn="just">
              <a:lnSpc>
                <a:spcPct val="80000"/>
              </a:lnSpc>
              <a:buFont typeface="Arial" panose="020B0604020202020204" pitchFamily="34" charset="0"/>
              <a:buChar char="•"/>
            </a:pPr>
            <a:endParaRPr lang="en-US" sz="2000" u="sng"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Helvetica Neue"/>
            </a:endParaRPr>
          </a:p>
          <a:p>
            <a:pPr marL="228600" indent="-228600" algn="just">
              <a:lnSpc>
                <a:spcPct val="80000"/>
              </a:lnSpc>
              <a:buFont typeface="Arial" panose="020B0604020202020204" pitchFamily="34" charset="0"/>
              <a:buChar char="•"/>
            </a:pPr>
            <a:endParaRPr lang="en-US" sz="2000" u="sng"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Helvetica Neue"/>
            </a:endParaRPr>
          </a:p>
          <a:p>
            <a:pPr marL="228600" indent="-228600" algn="just">
              <a:lnSpc>
                <a:spcPct val="80000"/>
              </a:lnSpc>
              <a:buFont typeface="Arial" panose="020B0604020202020204" pitchFamily="34" charset="0"/>
              <a:buChar char="•"/>
            </a:pPr>
            <a:endParaRPr lang="en-US" sz="2000" u="sng"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7" name="Immagin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938" y="2804340"/>
            <a:ext cx="4306964" cy="2506986"/>
          </a:xfrm>
          <a:prstGeom prst="rect">
            <a:avLst/>
          </a:prstGeom>
        </p:spPr>
      </p:pic>
      <p:pic>
        <p:nvPicPr>
          <p:cNvPr id="18" name="Immagin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23035" y="5284471"/>
            <a:ext cx="1389233" cy="1416336"/>
          </a:xfrm>
          <a:prstGeom prst="rect">
            <a:avLst/>
          </a:prstGeom>
        </p:spPr>
      </p:pic>
    </p:spTree>
    <p:extLst>
      <p:ext uri="{BB962C8B-B14F-4D97-AF65-F5344CB8AC3E}">
        <p14:creationId xmlns:p14="http://schemas.microsoft.com/office/powerpoint/2010/main" val="3616754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5</a:t>
            </a:fld>
            <a:endParaRPr lang="en-US" dirty="0"/>
          </a:p>
        </p:txBody>
      </p:sp>
      <p:sp>
        <p:nvSpPr>
          <p:cNvPr id="20" name="Titolo"/>
          <p:cNvSpPr txBox="1"/>
          <p:nvPr/>
        </p:nvSpPr>
        <p:spPr>
          <a:xfrm>
            <a:off x="630608" y="1815926"/>
            <a:ext cx="3785394" cy="564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21" name="Sottotitolo"/>
          <p:cNvSpPr txBox="1"/>
          <p:nvPr/>
        </p:nvSpPr>
        <p:spPr>
          <a:xfrm>
            <a:off x="630608" y="2803363"/>
            <a:ext cx="3785394" cy="33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22" name="Shape 118"/>
          <p:cNvSpPr/>
          <p:nvPr/>
        </p:nvSpPr>
        <p:spPr>
          <a:xfrm>
            <a:off x="4931665" y="4473252"/>
            <a:ext cx="6298406" cy="838074"/>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marL="285750" indent="-285750" algn="just" defTabSz="402336">
              <a:lnSpc>
                <a:spcPct val="90000"/>
              </a:lnSpc>
              <a:spcBef>
                <a:spcPts val="250"/>
              </a:spcBef>
              <a:buSzPct val="100000"/>
              <a:buFont typeface="Arial" panose="020B0604020202020204" pitchFamily="34" charset="0"/>
              <a:buChar char="•"/>
            </a:pPr>
            <a:endParaRPr lang="en-US" b="1" dirty="0">
              <a:solidFill>
                <a:srgbClr val="000000"/>
              </a:solidFill>
              <a:uFill>
                <a:solidFill>
                  <a:srgbClr val="000000"/>
                </a:solidFill>
              </a:uFill>
              <a:latin typeface="Tahoma" panose="020B0604030504040204" pitchFamily="34" charset="0"/>
              <a:ea typeface="Tahoma" panose="020B0604030504040204" pitchFamily="34" charset="0"/>
              <a:cs typeface="Tahoma" panose="020B0604030504040204" pitchFamily="34" charset="0"/>
            </a:endParaRPr>
          </a:p>
        </p:txBody>
      </p:sp>
      <p:pic>
        <p:nvPicPr>
          <p:cNvPr id="23" name="Immagin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7282" y="2019954"/>
            <a:ext cx="3412046" cy="3022133"/>
          </a:xfrm>
          <a:prstGeom prst="rect">
            <a:avLst/>
          </a:prstGeom>
        </p:spPr>
      </p:pic>
      <p:pic>
        <p:nvPicPr>
          <p:cNvPr id="25" name="Immagine 24"/>
          <p:cNvPicPr>
            <a:picLocks noChangeAspect="1"/>
          </p:cNvPicPr>
          <p:nvPr/>
        </p:nvPicPr>
        <p:blipFill>
          <a:blip r:embed="rId4"/>
          <a:stretch>
            <a:fillRect/>
          </a:stretch>
        </p:blipFill>
        <p:spPr>
          <a:xfrm>
            <a:off x="5785212" y="2477369"/>
            <a:ext cx="4766032" cy="3094838"/>
          </a:xfrm>
          <a:prstGeom prst="rect">
            <a:avLst/>
          </a:prstGeom>
        </p:spPr>
      </p:pic>
      <p:sp>
        <p:nvSpPr>
          <p:cNvPr id="26" name="Rettangolo 25"/>
          <p:cNvSpPr/>
          <p:nvPr/>
        </p:nvSpPr>
        <p:spPr>
          <a:xfrm>
            <a:off x="4931665" y="1314112"/>
            <a:ext cx="7146998" cy="969496"/>
          </a:xfrm>
          <a:prstGeom prst="rect">
            <a:avLst/>
          </a:prstGeom>
          <a:noFill/>
        </p:spPr>
        <p:txBody>
          <a:bodyPr wrap="square" lIns="45720" tIns="22860" rIns="45720" bIns="22860">
            <a:spAutoFit/>
            <a:scene3d>
              <a:camera prst="orthographicFront"/>
              <a:lightRig rig="threePt" dir="t"/>
            </a:scene3d>
            <a:sp3d extrusionH="57150">
              <a:bevelT w="38100" h="38100"/>
            </a:sp3d>
          </a:bodyPr>
          <a:lstStyle/>
          <a:p>
            <a:pPr algn="ct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Conscious</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Experience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requires</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PATTERNS OF NEURAL ACTIVITY THAT ARE HIGHLY DIFFERENTIATED (Gerald Edelman</a:t>
            </a:r>
            <a:endPar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7" name="Rettangolo 26"/>
          <p:cNvSpPr/>
          <p:nvPr/>
        </p:nvSpPr>
        <p:spPr>
          <a:xfrm>
            <a:off x="4255293" y="5833088"/>
            <a:ext cx="7825871" cy="707886"/>
          </a:xfrm>
          <a:prstGeom prst="rect">
            <a:avLst/>
          </a:prstGeom>
        </p:spPr>
        <p:txBody>
          <a:bodyPr wrap="square">
            <a:spAutoFit/>
          </a:bodyPr>
          <a:lstStyle/>
          <a:p>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Tenzin </a:t>
            </a:r>
            <a:r>
              <a:rPr lang="en-US"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Gyatso</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(Dalai Lama): “What if the brain comes from consciousness instead of consciousness coming from the brain?”</a:t>
            </a:r>
            <a:endPar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33726" y="490680"/>
            <a:ext cx="11269308" cy="76944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solidFill>
                  <a:srgbClr val="464646"/>
                </a:solidFill>
              </a:rPr>
              <a:t>How Thoughts can change the Brain </a:t>
            </a:r>
            <a:br>
              <a:rPr lang="it-IT">
                <a:solidFill>
                  <a:srgbClr val="464646"/>
                </a:solidFill>
              </a:rPr>
            </a:br>
            <a:endParaRPr lang="it-IT" dirty="0"/>
          </a:p>
        </p:txBody>
      </p:sp>
    </p:spTree>
    <p:extLst>
      <p:ext uri="{BB962C8B-B14F-4D97-AF65-F5344CB8AC3E}">
        <p14:creationId xmlns:p14="http://schemas.microsoft.com/office/powerpoint/2010/main" val="186892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6</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52498"/>
            <a:ext cx="11269308" cy="11541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HUMAN BRAIN VS CONSCIOUSNESS</a:t>
            </a:r>
            <a:br>
              <a:rPr lang="it-IT"/>
            </a:br>
            <a:r>
              <a:rPr lang="it-IT">
                <a:solidFill>
                  <a:srgbClr val="464646"/>
                </a:solidFill>
              </a:rPr>
              <a:t> </a:t>
            </a:r>
            <a:br>
              <a:rPr lang="it-IT">
                <a:solidFill>
                  <a:srgbClr val="464646"/>
                </a:solidFill>
              </a:rPr>
            </a:br>
            <a:endParaRPr lang="it-IT" dirty="0"/>
          </a:p>
        </p:txBody>
      </p:sp>
      <p:pic>
        <p:nvPicPr>
          <p:cNvPr id="12" name="Oi9BTpzsOns"/>
          <p:cNvPicPr>
            <a:picLocks noRot="1" noChangeAspect="1"/>
          </p:cNvPicPr>
          <p:nvPr>
            <a:videoFile r:link="rId1"/>
          </p:nvPr>
        </p:nvPicPr>
        <p:blipFill>
          <a:blip r:embed="rId4"/>
          <a:stretch>
            <a:fillRect/>
          </a:stretch>
        </p:blipFill>
        <p:spPr>
          <a:xfrm>
            <a:off x="1450065" y="1607282"/>
            <a:ext cx="5760640" cy="2571750"/>
          </a:xfrm>
          <a:prstGeom prst="rect">
            <a:avLst/>
          </a:prstGeom>
        </p:spPr>
      </p:pic>
      <p:sp>
        <p:nvSpPr>
          <p:cNvPr id="13" name="Rettangolo 12"/>
          <p:cNvSpPr/>
          <p:nvPr/>
        </p:nvSpPr>
        <p:spPr>
          <a:xfrm>
            <a:off x="1312116" y="1196805"/>
            <a:ext cx="5220019"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An High </a:t>
            </a:r>
            <a:r>
              <a:rPr lang="it-IT" sz="1600" b="1" dirty="0" err="1">
                <a:ln w="0"/>
                <a:effectLst>
                  <a:outerShdw blurRad="38100" dist="25400" dir="5400000" algn="ctr" rotWithShape="0">
                    <a:srgbClr val="6E747A">
                      <a:alpha val="43000"/>
                    </a:srgbClr>
                  </a:outerShdw>
                </a:effectLst>
              </a:rPr>
              <a:t>Dimensional</a:t>
            </a:r>
            <a:r>
              <a:rPr lang="it-IT" sz="1600" b="1" dirty="0">
                <a:ln w="0"/>
                <a:effectLst>
                  <a:outerShdw blurRad="38100" dist="25400" dir="5400000" algn="ctr" rotWithShape="0">
                    <a:srgbClr val="6E747A">
                      <a:alpha val="43000"/>
                    </a:srgbClr>
                  </a:outerShdw>
                </a:effectLst>
              </a:rPr>
              <a:t> and </a:t>
            </a:r>
            <a:r>
              <a:rPr lang="it-IT" sz="1600" b="1" dirty="0" err="1">
                <a:ln w="0"/>
                <a:effectLst>
                  <a:outerShdw blurRad="38100" dist="25400" dir="5400000" algn="ctr" rotWithShape="0">
                    <a:srgbClr val="6E747A">
                      <a:alpha val="43000"/>
                    </a:srgbClr>
                  </a:outerShdw>
                </a:effectLst>
              </a:rPr>
              <a:t>Complex</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Neural</a:t>
            </a:r>
            <a:r>
              <a:rPr lang="it-IT" sz="1600" b="1" dirty="0">
                <a:ln w="0"/>
                <a:effectLst>
                  <a:outerShdw blurRad="38100" dist="25400" dir="5400000" algn="ctr" rotWithShape="0">
                    <a:srgbClr val="6E747A">
                      <a:alpha val="43000"/>
                    </a:srgbClr>
                  </a:outerShdw>
                </a:effectLst>
              </a:rPr>
              <a:t> Network</a:t>
            </a:r>
            <a:endParaRPr lang="it-IT" sz="1600" b="1" dirty="0">
              <a:ln w="0"/>
              <a:effectLst>
                <a:outerShdw blurRad="38100" dist="19050" dir="2700000" algn="tl" rotWithShape="0">
                  <a:schemeClr val="dk1">
                    <a:alpha val="40000"/>
                  </a:schemeClr>
                </a:outerShdw>
              </a:effectLst>
            </a:endParaRPr>
          </a:p>
        </p:txBody>
      </p:sp>
      <p:sp>
        <p:nvSpPr>
          <p:cNvPr id="14" name="Rettangolo 13"/>
          <p:cNvSpPr/>
          <p:nvPr/>
        </p:nvSpPr>
        <p:spPr>
          <a:xfrm>
            <a:off x="1458886" y="4361183"/>
            <a:ext cx="7051354"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err="1">
                <a:ln w="0"/>
                <a:effectLst>
                  <a:outerShdw blurRad="38100" dist="25400" dir="5400000" algn="ctr" rotWithShape="0">
                    <a:srgbClr val="6E747A">
                      <a:alpha val="43000"/>
                    </a:srgbClr>
                  </a:outerShdw>
                </a:effectLst>
              </a:rPr>
              <a:t>Scientists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find</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evidence</a:t>
            </a:r>
            <a:r>
              <a:rPr lang="it-IT" sz="1600" b="1" dirty="0">
                <a:ln w="0"/>
                <a:effectLst>
                  <a:outerShdw blurRad="38100" dist="25400" dir="5400000" algn="ctr" rotWithShape="0">
                    <a:srgbClr val="6E747A">
                      <a:alpha val="43000"/>
                    </a:srgbClr>
                  </a:outerShdw>
                </a:effectLst>
              </a:rPr>
              <a:t> of a </a:t>
            </a:r>
            <a:r>
              <a:rPr lang="it-IT" sz="1600" b="1" dirty="0" err="1">
                <a:ln w="0"/>
                <a:effectLst>
                  <a:outerShdw blurRad="38100" dist="25400" dir="5400000" algn="ctr" rotWithShape="0">
                    <a:srgbClr val="6E747A">
                      <a:alpha val="43000"/>
                    </a:srgbClr>
                  </a:outerShdw>
                </a:effectLst>
              </a:rPr>
              <a:t>Multidimensional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Universe</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within</a:t>
            </a:r>
            <a:r>
              <a:rPr lang="it-IT" sz="1600" b="1" dirty="0">
                <a:ln w="0"/>
                <a:effectLst>
                  <a:outerShdw blurRad="38100" dist="25400" dir="5400000" algn="ctr" rotWithShape="0">
                    <a:srgbClr val="6E747A">
                      <a:alpha val="43000"/>
                    </a:srgbClr>
                  </a:outerShdw>
                </a:effectLst>
              </a:rPr>
              <a:t> the Brain</a:t>
            </a:r>
            <a:endParaRPr lang="it-IT" sz="1600" b="1" dirty="0">
              <a:ln w="0"/>
              <a:effectLst>
                <a:outerShdw blurRad="38100" dist="19050" dir="2700000" algn="tl" rotWithShape="0">
                  <a:schemeClr val="dk1">
                    <a:alpha val="40000"/>
                  </a:schemeClr>
                </a:outerShdw>
              </a:effectLst>
            </a:endParaRPr>
          </a:p>
        </p:txBody>
      </p:sp>
      <p:pic>
        <p:nvPicPr>
          <p:cNvPr id="15" name="Immagin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2444" y="4781252"/>
            <a:ext cx="4369668" cy="1600200"/>
          </a:xfrm>
          <a:prstGeom prst="rect">
            <a:avLst/>
          </a:prstGeom>
        </p:spPr>
      </p:pic>
      <p:sp>
        <p:nvSpPr>
          <p:cNvPr id="16" name="CasellaDiTesto 15"/>
          <p:cNvSpPr txBox="1"/>
          <p:nvPr/>
        </p:nvSpPr>
        <p:spPr>
          <a:xfrm>
            <a:off x="6103264" y="4669471"/>
            <a:ext cx="3728314" cy="2092879"/>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rtl="0" latinLnBrk="1" hangingPunct="0"/>
            <a:r>
              <a:rPr lang="it-IT" sz="1600" b="1" dirty="0" err="1">
                <a:ln w="0"/>
                <a:effectLst>
                  <a:outerShdw blurRad="38100" dist="25400" dir="5400000" algn="ctr" rotWithShape="0">
                    <a:srgbClr val="6E747A">
                      <a:alpha val="43000"/>
                    </a:srgbClr>
                  </a:outerShdw>
                </a:effectLst>
              </a:rPr>
              <a:t>Reimann</a:t>
            </a:r>
            <a:r>
              <a:rPr lang="it-IT" sz="1600" b="1" dirty="0">
                <a:ln w="0"/>
                <a:effectLst>
                  <a:outerShdw blurRad="38100" dist="25400" dir="5400000" algn="ctr" rotWithShape="0">
                    <a:srgbClr val="6E747A">
                      <a:alpha val="43000"/>
                    </a:srgbClr>
                  </a:outerShdw>
                </a:effectLst>
              </a:rPr>
              <a:t>, M. W., Nolte, M., </a:t>
            </a:r>
            <a:r>
              <a:rPr lang="it-IT" sz="1600" b="1" dirty="0" err="1">
                <a:ln w="0"/>
                <a:effectLst>
                  <a:outerShdw blurRad="38100" dist="25400" dir="5400000" algn="ctr" rotWithShape="0">
                    <a:srgbClr val="6E747A">
                      <a:alpha val="43000"/>
                    </a:srgbClr>
                  </a:outerShdw>
                </a:effectLst>
              </a:rPr>
              <a:t>Scolamiero</a:t>
            </a:r>
            <a:r>
              <a:rPr lang="it-IT" sz="1600" b="1" dirty="0">
                <a:ln w="0"/>
                <a:effectLst>
                  <a:outerShdw blurRad="38100" dist="25400" dir="5400000" algn="ctr" rotWithShape="0">
                    <a:srgbClr val="6E747A">
                      <a:alpha val="43000"/>
                    </a:srgbClr>
                  </a:outerShdw>
                </a:effectLst>
              </a:rPr>
              <a:t>, M., Turner, K., Perin, R., Chindemi, G., ... &amp; </a:t>
            </a:r>
            <a:r>
              <a:rPr lang="it-IT" sz="1600" b="1" dirty="0" err="1">
                <a:ln w="0"/>
                <a:effectLst>
                  <a:outerShdw blurRad="38100" dist="25400" dir="5400000" algn="ctr" rotWithShape="0">
                    <a:srgbClr val="6E747A">
                      <a:alpha val="43000"/>
                    </a:srgbClr>
                  </a:outerShdw>
                </a:effectLst>
              </a:rPr>
              <a:t>Markram</a:t>
            </a:r>
            <a:r>
              <a:rPr lang="it-IT" sz="1600" b="1" dirty="0">
                <a:ln w="0"/>
                <a:effectLst>
                  <a:outerShdw blurRad="38100" dist="25400" dir="5400000" algn="ctr" rotWithShape="0">
                    <a:srgbClr val="6E747A">
                      <a:alpha val="43000"/>
                    </a:srgbClr>
                  </a:outerShdw>
                </a:effectLst>
              </a:rPr>
              <a:t>, H. (2017). </a:t>
            </a:r>
            <a:r>
              <a:rPr lang="it-IT" sz="1600" b="1" dirty="0" err="1">
                <a:ln w="0"/>
                <a:effectLst>
                  <a:outerShdw blurRad="38100" dist="25400" dir="5400000" algn="ctr" rotWithShape="0">
                    <a:srgbClr val="6E747A">
                      <a:alpha val="43000"/>
                    </a:srgbClr>
                  </a:outerShdw>
                </a:effectLst>
              </a:rPr>
              <a:t>Cliques</a:t>
            </a:r>
            <a:r>
              <a:rPr lang="it-IT" sz="1600" b="1" dirty="0">
                <a:ln w="0"/>
                <a:effectLst>
                  <a:outerShdw blurRad="38100" dist="25400" dir="5400000" algn="ctr" rotWithShape="0">
                    <a:srgbClr val="6E747A">
                      <a:alpha val="43000"/>
                    </a:srgbClr>
                  </a:outerShdw>
                </a:effectLst>
              </a:rPr>
              <a:t> of </a:t>
            </a:r>
            <a:r>
              <a:rPr lang="it-IT" sz="1600" b="1" dirty="0" err="1">
                <a:ln w="0"/>
                <a:effectLst>
                  <a:outerShdw blurRad="38100" dist="25400" dir="5400000" algn="ctr" rotWithShape="0">
                    <a:srgbClr val="6E747A">
                      <a:alpha val="43000"/>
                    </a:srgbClr>
                  </a:outerShdw>
                </a:effectLst>
              </a:rPr>
              <a:t>neurons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bound</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into</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cavities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provide</a:t>
            </a:r>
            <a:r>
              <a:rPr lang="it-IT" sz="1600" b="1" dirty="0">
                <a:ln w="0"/>
                <a:effectLst>
                  <a:outerShdw blurRad="38100" dist="25400" dir="5400000" algn="ctr" rotWithShape="0">
                    <a:srgbClr val="6E747A">
                      <a:alpha val="43000"/>
                    </a:srgbClr>
                  </a:outerShdw>
                </a:effectLst>
              </a:rPr>
              <a:t> a </a:t>
            </a:r>
            <a:r>
              <a:rPr lang="it-IT" sz="1600" b="1" dirty="0" err="1">
                <a:ln w="0"/>
                <a:effectLst>
                  <a:outerShdw blurRad="38100" dist="25400" dir="5400000" algn="ctr" rotWithShape="0">
                    <a:srgbClr val="6E747A">
                      <a:alpha val="43000"/>
                    </a:srgbClr>
                  </a:outerShdw>
                </a:effectLst>
              </a:rPr>
              <a:t>missing</a:t>
            </a:r>
            <a:r>
              <a:rPr lang="it-IT" sz="1600" b="1" dirty="0">
                <a:ln w="0"/>
                <a:effectLst>
                  <a:outerShdw blurRad="38100" dist="25400" dir="5400000" algn="ctr" rotWithShape="0">
                    <a:srgbClr val="6E747A">
                      <a:alpha val="43000"/>
                    </a:srgbClr>
                  </a:outerShdw>
                </a:effectLst>
              </a:rPr>
              <a:t> link </a:t>
            </a:r>
            <a:r>
              <a:rPr lang="it-IT" sz="1600" b="1" dirty="0" err="1">
                <a:ln w="0"/>
                <a:effectLst>
                  <a:outerShdw blurRad="38100" dist="25400" dir="5400000" algn="ctr" rotWithShape="0">
                    <a:srgbClr val="6E747A">
                      <a:alpha val="43000"/>
                    </a:srgbClr>
                  </a:outerShdw>
                </a:effectLst>
              </a:rPr>
              <a:t>between</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structure</a:t>
            </a:r>
            <a:r>
              <a:rPr lang="it-IT" sz="1600" b="1" dirty="0">
                <a:ln w="0"/>
                <a:effectLst>
                  <a:outerShdw blurRad="38100" dist="25400" dir="5400000" algn="ctr" rotWithShape="0">
                    <a:srgbClr val="6E747A">
                      <a:alpha val="43000"/>
                    </a:srgbClr>
                  </a:outerShdw>
                </a:effectLst>
              </a:rPr>
              <a:t> and </a:t>
            </a:r>
            <a:r>
              <a:rPr lang="it-IT" sz="1600" b="1" dirty="0" err="1">
                <a:ln w="0"/>
                <a:effectLst>
                  <a:outerShdw blurRad="38100" dist="25400" dir="5400000" algn="ctr" rotWithShape="0">
                    <a:srgbClr val="6E747A">
                      <a:alpha val="43000"/>
                    </a:srgbClr>
                  </a:outerShdw>
                </a:effectLst>
              </a:rPr>
              <a:t>function</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Frontiers</a:t>
            </a:r>
            <a:r>
              <a:rPr lang="it-IT" sz="1600" b="1" dirty="0">
                <a:ln w="0"/>
                <a:effectLst>
                  <a:outerShdw blurRad="38100" dist="25400" dir="5400000" algn="ctr" rotWithShape="0">
                    <a:srgbClr val="6E747A">
                      <a:alpha val="43000"/>
                    </a:srgbClr>
                  </a:outerShdw>
                </a:effectLst>
              </a:rPr>
              <a:t> in </a:t>
            </a:r>
            <a:r>
              <a:rPr lang="it-IT" sz="1600" b="1" dirty="0" err="1">
                <a:ln w="0"/>
                <a:effectLst>
                  <a:outerShdw blurRad="38100" dist="25400" dir="5400000" algn="ctr" rotWithShape="0">
                    <a:srgbClr val="6E747A">
                      <a:alpha val="43000"/>
                    </a:srgbClr>
                  </a:outerShdw>
                </a:effectLst>
              </a:rPr>
              <a:t>computational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neuroscience</a:t>
            </a:r>
            <a:r>
              <a:rPr lang="it-IT" sz="1600" b="1" dirty="0">
                <a:ln w="0"/>
                <a:effectLst>
                  <a:outerShdw blurRad="38100" dist="25400" dir="5400000" algn="ctr" rotWithShape="0">
                    <a:srgbClr val="6E747A">
                      <a:alpha val="43000"/>
                    </a:srgbClr>
                  </a:outerShdw>
                </a:effectLst>
              </a:rPr>
              <a:t>, 11, 48.</a:t>
            </a:r>
          </a:p>
          <a:p>
            <a:pPr defTabSz="914400" fontAlgn="auto" latinLnBrk="1">
              <a:spcBef>
                <a:spcPts val="0"/>
              </a:spcBef>
              <a:spcAft>
                <a:spcPts val="0"/>
              </a:spcAft>
            </a:pPr>
            <a:endParaRPr lang="it-IT" dirty="0">
              <a:latin typeface="Calibri"/>
              <a:ea typeface="Calibri"/>
              <a:cs typeface="Calibri"/>
              <a:sym typeface="Calibri"/>
            </a:endParaRPr>
          </a:p>
        </p:txBody>
      </p:sp>
      <p:sp>
        <p:nvSpPr>
          <p:cNvPr id="17" name="CasellaDiTesto 16"/>
          <p:cNvSpPr txBox="1"/>
          <p:nvPr/>
        </p:nvSpPr>
        <p:spPr>
          <a:xfrm>
            <a:off x="7388257" y="1547417"/>
            <a:ext cx="2504178" cy="23391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285750" indent="-285750" latinLnBrk="1">
              <a:buFont typeface="Arial" panose="020B0604020202020204" pitchFamily="34" charset="0"/>
              <a:buChar char="•"/>
            </a:pPr>
            <a:r>
              <a:rPr lang="en-US" sz="1600" b="1" dirty="0"/>
              <a:t>The lack of a formal link between neural network structure and its emergent function has hampered our understanding of how the brain processes information. </a:t>
            </a:r>
          </a:p>
          <a:p>
            <a:pPr marL="285750" indent="-285750" latinLnBrk="1">
              <a:buFont typeface="Arial" panose="020B0604020202020204" pitchFamily="34" charset="0"/>
              <a:buChar char="•"/>
            </a:pPr>
            <a:endParaRPr lang="it-IT" b="1" dirty="0">
              <a:solidFill>
                <a:srgbClr val="000000"/>
              </a:solidFill>
              <a:sym typeface="Calibri"/>
            </a:endParaRPr>
          </a:p>
        </p:txBody>
      </p:sp>
    </p:spTree>
    <p:extLst>
      <p:ext uri="{BB962C8B-B14F-4D97-AF65-F5344CB8AC3E}">
        <p14:creationId xmlns:p14="http://schemas.microsoft.com/office/powerpoint/2010/main" val="3355022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7</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1211976" y="410587"/>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pPr algn="ctr"/>
            <a:r>
              <a:rPr lang="it-IT"/>
              <a:t>MACHINE LEARNING VS CONSCIOUSNESS</a:t>
            </a:r>
            <a:br>
              <a:rPr lang="it-IT"/>
            </a:br>
            <a:br>
              <a:rPr lang="it-IT"/>
            </a:br>
            <a:br>
              <a:rPr lang="it-IT"/>
            </a:br>
            <a:r>
              <a:rPr lang="it-IT">
                <a:solidFill>
                  <a:srgbClr val="464646"/>
                </a:solidFill>
              </a:rPr>
              <a:t> </a:t>
            </a:r>
            <a:br>
              <a:rPr lang="it-IT">
                <a:solidFill>
                  <a:srgbClr val="464646"/>
                </a:solidFill>
              </a:rPr>
            </a:br>
            <a:endParaRPr lang="it-IT" dirty="0"/>
          </a:p>
        </p:txBody>
      </p:sp>
      <p:sp>
        <p:nvSpPr>
          <p:cNvPr id="10" name="Rettangolo 9"/>
          <p:cNvSpPr/>
          <p:nvPr/>
        </p:nvSpPr>
        <p:spPr>
          <a:xfrm>
            <a:off x="7198576" y="1421893"/>
            <a:ext cx="2434256"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err="1">
                <a:ln w="0"/>
                <a:effectLst>
                  <a:outerShdw blurRad="38100" dist="25400" dir="5400000" algn="ctr" rotWithShape="0">
                    <a:srgbClr val="6E747A">
                      <a:alpha val="43000"/>
                    </a:srgbClr>
                  </a:outerShdw>
                </a:effectLst>
              </a:rPr>
              <a:t>Is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this</a:t>
            </a:r>
            <a:r>
              <a:rPr lang="it-IT" sz="1600" b="1" dirty="0">
                <a:ln w="0"/>
                <a:effectLst>
                  <a:outerShdw blurRad="38100" dist="25400" dir="5400000" algn="ctr" rotWithShape="0">
                    <a:srgbClr val="6E747A">
                      <a:alpha val="43000"/>
                    </a:srgbClr>
                  </a:outerShdw>
                </a:effectLst>
              </a:rPr>
              <a:t> a Glass or a </a:t>
            </a:r>
            <a:r>
              <a:rPr lang="it-IT" sz="1600" b="1" dirty="0" err="1">
                <a:ln w="0"/>
                <a:effectLst>
                  <a:outerShdw blurRad="38100" dist="25400" dir="5400000" algn="ctr" rotWithShape="0">
                    <a:srgbClr val="6E747A">
                      <a:alpha val="43000"/>
                    </a:srgbClr>
                  </a:outerShdw>
                </a:effectLst>
              </a:rPr>
              <a:t>Pot</a:t>
            </a:r>
            <a:r>
              <a:rPr lang="it-IT" sz="1600" b="1" dirty="0">
                <a:ln w="0"/>
                <a:effectLst>
                  <a:outerShdw blurRad="38100" dist="25400" dir="5400000" algn="ctr" rotWithShape="0">
                    <a:srgbClr val="6E747A">
                      <a:alpha val="43000"/>
                    </a:srgbClr>
                  </a:outerShdw>
                </a:effectLst>
              </a:rPr>
              <a:t>? </a:t>
            </a:r>
            <a:endParaRPr lang="it-IT" sz="1600" b="1" dirty="0">
              <a:ln w="0"/>
              <a:effectLst>
                <a:outerShdw blurRad="38100" dist="19050" dir="2700000" algn="tl" rotWithShape="0">
                  <a:schemeClr val="dk1">
                    <a:alpha val="40000"/>
                  </a:schemeClr>
                </a:outerShdw>
              </a:effectLst>
            </a:endParaRPr>
          </a:p>
        </p:txBody>
      </p:sp>
      <p:pic>
        <p:nvPicPr>
          <p:cNvPr id="11" name="Immagin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88039" y="1372389"/>
            <a:ext cx="4608512" cy="2506577"/>
          </a:xfrm>
          <a:prstGeom prst="rect">
            <a:avLst/>
          </a:prstGeom>
        </p:spPr>
      </p:pic>
      <p:pic>
        <p:nvPicPr>
          <p:cNvPr id="18" name="Immagin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1548" y="1870944"/>
            <a:ext cx="2808312" cy="1974570"/>
          </a:xfrm>
          <a:prstGeom prst="rect">
            <a:avLst/>
          </a:prstGeom>
        </p:spPr>
      </p:pic>
      <p:pic>
        <p:nvPicPr>
          <p:cNvPr id="19" name="Immagine 1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2629" y="4639821"/>
            <a:ext cx="3851920" cy="1848817"/>
          </a:xfrm>
          <a:prstGeom prst="rect">
            <a:avLst/>
          </a:prstGeom>
        </p:spPr>
      </p:pic>
      <p:sp>
        <p:nvSpPr>
          <p:cNvPr id="20" name="Rettangolo 19"/>
          <p:cNvSpPr/>
          <p:nvPr/>
        </p:nvSpPr>
        <p:spPr>
          <a:xfrm>
            <a:off x="1578825" y="4961837"/>
            <a:ext cx="4001405" cy="1569660"/>
          </a:xfrm>
          <a:prstGeom prst="rect">
            <a:avLst/>
          </a:prstGeom>
          <a:noFill/>
        </p:spPr>
        <p:txBody>
          <a:bodyPr wrap="square" lIns="91440" tIns="45720" rIns="91440" bIns="45720">
            <a:spAutoFit/>
            <a:scene3d>
              <a:camera prst="orthographicFront"/>
              <a:lightRig rig="threePt" dir="t"/>
            </a:scene3d>
            <a:sp3d extrusionH="57150">
              <a:bevelT w="38100" h="38100"/>
            </a:sp3d>
          </a:bodyPr>
          <a:lstStyle/>
          <a:p>
            <a:pPr algn="ctr"/>
            <a:r>
              <a:rPr lang="it-IT" sz="1600" b="1" dirty="0" err="1">
                <a:ln w="0"/>
                <a:effectLst>
                  <a:outerShdw blurRad="38100" dist="25400" dir="5400000" algn="ctr" rotWithShape="0">
                    <a:srgbClr val="6E747A">
                      <a:alpha val="43000"/>
                    </a:srgbClr>
                  </a:outerShdw>
                </a:effectLst>
              </a:rPr>
              <a:t>Why</a:t>
            </a:r>
            <a:r>
              <a:rPr lang="it-IT" sz="1600" b="1" dirty="0">
                <a:ln w="0"/>
                <a:effectLst>
                  <a:outerShdw blurRad="38100" dist="25400" dir="5400000" algn="ctr" rotWithShape="0">
                    <a:srgbClr val="6E747A">
                      <a:alpha val="43000"/>
                    </a:srgbClr>
                  </a:outerShdw>
                </a:effectLst>
              </a:rPr>
              <a:t> and How Lea </a:t>
            </a:r>
            <a:r>
              <a:rPr lang="it-IT" sz="1600" b="1" dirty="0" err="1">
                <a:ln w="0"/>
                <a:effectLst>
                  <a:outerShdw blurRad="38100" dist="25400" dir="5400000" algn="ctr" rotWithShape="0">
                    <a:srgbClr val="6E747A">
                      <a:alpha val="43000"/>
                    </a:srgbClr>
                  </a:outerShdw>
                </a:effectLst>
              </a:rPr>
              <a:t>Seadol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beats</a:t>
            </a:r>
            <a:r>
              <a:rPr lang="it-IT" sz="1600" b="1" dirty="0">
                <a:ln w="0"/>
                <a:effectLst>
                  <a:outerShdw blurRad="38100" dist="25400" dir="5400000" algn="ctr" rotWithShape="0">
                    <a:srgbClr val="6E747A">
                      <a:alpha val="43000"/>
                    </a:srgbClr>
                  </a:outerShdw>
                </a:effectLst>
              </a:rPr>
              <a:t> Alpha Go Zero </a:t>
            </a:r>
          </a:p>
          <a:p>
            <a:pPr algn="ctr"/>
            <a:r>
              <a:rPr lang="it-IT" sz="1600" b="1" dirty="0">
                <a:ln w="0"/>
                <a:effectLst>
                  <a:outerShdw blurRad="38100" dist="25400" dir="5400000" algn="ctr" rotWithShape="0">
                    <a:srgbClr val="6E747A">
                      <a:alpha val="43000"/>
                    </a:srgbClr>
                  </a:outerShdw>
                </a:effectLst>
              </a:rPr>
              <a:t>once? </a:t>
            </a:r>
          </a:p>
          <a:p>
            <a:pPr algn="ctr"/>
            <a:endParaRPr lang="it-IT" sz="1600" b="1" dirty="0">
              <a:ln w="0"/>
              <a:effectLst>
                <a:outerShdw blurRad="38100" dist="25400" dir="5400000" algn="ctr" rotWithShape="0">
                  <a:srgbClr val="6E747A">
                    <a:alpha val="43000"/>
                  </a:srgbClr>
                </a:outerShdw>
              </a:effectLst>
            </a:endParaRPr>
          </a:p>
          <a:p>
            <a:pPr algn="ctr"/>
            <a:r>
              <a:rPr lang="it-IT" sz="1600" b="1" dirty="0" err="1">
                <a:ln w="0"/>
                <a:effectLst>
                  <a:outerShdw blurRad="38100" dist="25400" dir="5400000" algn="ctr" rotWithShape="0">
                    <a:srgbClr val="6E747A">
                      <a:alpha val="43000"/>
                    </a:srgbClr>
                  </a:outerShdw>
                </a:effectLst>
              </a:rPr>
              <a:t>Even</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though</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all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metrics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say</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it</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is</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impossible</a:t>
            </a:r>
            <a:r>
              <a:rPr lang="it-IT" sz="1600" b="1" dirty="0">
                <a:ln w="0"/>
                <a:effectLst>
                  <a:outerShdw blurRad="38100" dist="25400" dir="5400000" algn="ctr" rotWithShape="0">
                    <a:srgbClr val="6E747A">
                      <a:alpha val="43000"/>
                    </a:srgbClr>
                  </a:outerShdw>
                </a:effectLst>
              </a:rPr>
              <a:t>.</a:t>
            </a:r>
            <a:endParaRPr lang="it-IT" sz="1600" b="1" dirty="0">
              <a:ln w="0"/>
              <a:effectLst>
                <a:outerShdw blurRad="38100" dist="19050" dir="2700000" algn="tl" rotWithShape="0">
                  <a:schemeClr val="dk1">
                    <a:alpha val="40000"/>
                  </a:schemeClr>
                </a:outerShdw>
              </a:effectLst>
            </a:endParaRPr>
          </a:p>
        </p:txBody>
      </p:sp>
      <p:sp>
        <p:nvSpPr>
          <p:cNvPr id="21" name="Rettangolo 20"/>
          <p:cNvSpPr/>
          <p:nvPr/>
        </p:nvSpPr>
        <p:spPr>
          <a:xfrm>
            <a:off x="1254293" y="3934305"/>
            <a:ext cx="9520555" cy="646331"/>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3600" b="1" dirty="0" err="1">
                <a:ln w="0"/>
                <a:effectLst>
                  <a:outerShdw blurRad="38100" dist="25400" dir="5400000" algn="ctr" rotWithShape="0">
                    <a:srgbClr val="6E747A">
                      <a:alpha val="43000"/>
                    </a:srgbClr>
                  </a:outerShdw>
                </a:effectLst>
              </a:rPr>
              <a:t>Where</a:t>
            </a:r>
            <a:r>
              <a:rPr lang="it-IT" sz="3600" b="1" dirty="0">
                <a:ln w="0"/>
                <a:effectLst>
                  <a:outerShdw blurRad="38100" dist="25400" dir="5400000" algn="ctr" rotWithShape="0">
                    <a:srgbClr val="6E747A">
                      <a:alpha val="43000"/>
                    </a:srgbClr>
                  </a:outerShdw>
                </a:effectLst>
              </a:rPr>
              <a:t> </a:t>
            </a:r>
            <a:r>
              <a:rPr lang="it-IT" sz="3600" b="1" dirty="0" err="1">
                <a:ln w="0"/>
                <a:effectLst>
                  <a:outerShdw blurRad="38100" dist="25400" dir="5400000" algn="ctr" rotWithShape="0">
                    <a:srgbClr val="6E747A">
                      <a:alpha val="43000"/>
                    </a:srgbClr>
                  </a:outerShdw>
                </a:effectLst>
              </a:rPr>
              <a:t>is</a:t>
            </a:r>
            <a:r>
              <a:rPr lang="it-IT" sz="3600" b="1" dirty="0">
                <a:ln w="0"/>
                <a:effectLst>
                  <a:outerShdw blurRad="38100" dist="25400" dir="5400000" algn="ctr" rotWithShape="0">
                    <a:srgbClr val="6E747A">
                      <a:alpha val="43000"/>
                    </a:srgbClr>
                  </a:outerShdw>
                </a:effectLst>
              </a:rPr>
              <a:t> the Human-Like </a:t>
            </a:r>
            <a:r>
              <a:rPr lang="it-IT" sz="3600" b="1" dirty="0" err="1">
                <a:ln w="0"/>
                <a:effectLst>
                  <a:outerShdw blurRad="38100" dist="25400" dir="5400000" algn="ctr" rotWithShape="0">
                    <a:srgbClr val="6E747A">
                      <a:alpha val="43000"/>
                    </a:srgbClr>
                  </a:outerShdw>
                </a:effectLst>
              </a:rPr>
              <a:t>Thoughts</a:t>
            </a:r>
            <a:r>
              <a:rPr lang="it-IT" sz="3600" b="1" dirty="0">
                <a:ln w="0"/>
                <a:effectLst>
                  <a:outerShdw blurRad="38100" dist="25400" dir="5400000" algn="ctr" rotWithShape="0">
                    <a:srgbClr val="6E747A">
                      <a:alpha val="43000"/>
                    </a:srgbClr>
                  </a:outerShdw>
                </a:effectLst>
              </a:rPr>
              <a:t> Flow? </a:t>
            </a:r>
            <a:endParaRPr lang="it-IT" sz="3600" b="1"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4639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500" fill="hold"/>
                                        <p:tgtEl>
                                          <p:spTgt spid="21"/>
                                        </p:tgtEl>
                                        <p:attrNameLst>
                                          <p:attrName>ppt_w</p:attrName>
                                        </p:attrNameLst>
                                      </p:cBhvr>
                                      <p:tavLst>
                                        <p:tav tm="0">
                                          <p:val>
                                            <p:fltVal val="0"/>
                                          </p:val>
                                        </p:tav>
                                        <p:tav tm="100000">
                                          <p:val>
                                            <p:strVal val="#ppt_w"/>
                                          </p:val>
                                        </p:tav>
                                      </p:tavLst>
                                    </p:anim>
                                    <p:anim calcmode="lin" valueType="num">
                                      <p:cBhvr>
                                        <p:cTn id="8" dur="500" fill="hold"/>
                                        <p:tgtEl>
                                          <p:spTgt spid="21"/>
                                        </p:tgtEl>
                                        <p:attrNameLst>
                                          <p:attrName>ppt_h</p:attrName>
                                        </p:attrNameLst>
                                      </p:cBhvr>
                                      <p:tavLst>
                                        <p:tav tm="0">
                                          <p:val>
                                            <p:fltVal val="0"/>
                                          </p:val>
                                        </p:tav>
                                        <p:tav tm="100000">
                                          <p:val>
                                            <p:strVal val="#ppt_h"/>
                                          </p:val>
                                        </p:tav>
                                      </p:tavLst>
                                    </p:anim>
                                    <p:animEffect transition="in" filter="fade">
                                      <p:cBhvr>
                                        <p:cTn id="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8</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76429"/>
            <a:ext cx="11269308" cy="153888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MACHINE LEARNING LIMITS</a:t>
            </a:r>
            <a:br>
              <a:rPr lang="it-IT"/>
            </a:br>
            <a:br>
              <a:rPr lang="it-IT"/>
            </a:br>
            <a:r>
              <a:rPr lang="it-IT">
                <a:solidFill>
                  <a:srgbClr val="464646"/>
                </a:solidFill>
              </a:rPr>
              <a:t> </a:t>
            </a:r>
            <a:br>
              <a:rPr lang="it-IT">
                <a:solidFill>
                  <a:srgbClr val="464646"/>
                </a:solidFill>
              </a:rPr>
            </a:br>
            <a:endParaRPr lang="it-IT" dirty="0"/>
          </a:p>
        </p:txBody>
      </p:sp>
      <p:pic>
        <p:nvPicPr>
          <p:cNvPr id="4" name="Immagin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85501" y="1927097"/>
            <a:ext cx="2834484" cy="1939966"/>
          </a:xfrm>
          <a:prstGeom prst="rect">
            <a:avLst/>
          </a:prstGeom>
        </p:spPr>
      </p:pic>
      <p:sp>
        <p:nvSpPr>
          <p:cNvPr id="6" name="Rettangolo 5"/>
          <p:cNvSpPr/>
          <p:nvPr/>
        </p:nvSpPr>
        <p:spPr>
          <a:xfrm>
            <a:off x="3716832" y="1429054"/>
            <a:ext cx="5323573"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Will </a:t>
            </a:r>
            <a:r>
              <a:rPr lang="it-IT" sz="1600" b="1" dirty="0" err="1">
                <a:ln w="0"/>
                <a:effectLst>
                  <a:outerShdw blurRad="38100" dist="25400" dir="5400000" algn="ctr" rotWithShape="0">
                    <a:srgbClr val="6E747A">
                      <a:alpha val="43000"/>
                    </a:srgbClr>
                  </a:outerShdw>
                </a:effectLst>
              </a:rPr>
              <a:t>ever</a:t>
            </a:r>
            <a:r>
              <a:rPr lang="it-IT" sz="1600" b="1" dirty="0">
                <a:ln w="0"/>
                <a:effectLst>
                  <a:outerShdw blurRad="38100" dist="25400" dir="5400000" algn="ctr" rotWithShape="0">
                    <a:srgbClr val="6E747A">
                      <a:alpha val="43000"/>
                    </a:srgbClr>
                  </a:outerShdw>
                </a:effectLst>
              </a:rPr>
              <a:t> Self </a:t>
            </a:r>
            <a:r>
              <a:rPr lang="it-IT" sz="1600" b="1" dirty="0" err="1">
                <a:ln w="0"/>
                <a:effectLst>
                  <a:outerShdw blurRad="38100" dist="25400" dir="5400000" algn="ctr" rotWithShape="0">
                    <a:srgbClr val="6E747A">
                      <a:alpha val="43000"/>
                    </a:srgbClr>
                  </a:outerShdw>
                </a:effectLst>
              </a:rPr>
              <a:t>Driving</a:t>
            </a:r>
            <a:r>
              <a:rPr lang="it-IT" sz="1600" b="1" dirty="0">
                <a:ln w="0"/>
                <a:effectLst>
                  <a:outerShdw blurRad="38100" dist="25400" dir="5400000" algn="ctr" rotWithShape="0">
                    <a:srgbClr val="6E747A">
                      <a:alpha val="43000"/>
                    </a:srgbClr>
                  </a:outerShdw>
                </a:effectLst>
              </a:rPr>
              <a:t> Car </a:t>
            </a:r>
            <a:r>
              <a:rPr lang="it-IT" sz="1600" b="1" dirty="0" err="1">
                <a:ln w="0"/>
                <a:effectLst>
                  <a:outerShdw blurRad="38100" dist="25400" dir="5400000" algn="ctr" rotWithShape="0">
                    <a:srgbClr val="6E747A">
                      <a:alpha val="43000"/>
                    </a:srgbClr>
                  </a:outerShdw>
                </a:effectLst>
              </a:rPr>
              <a:t>cope</a:t>
            </a:r>
            <a:r>
              <a:rPr lang="it-IT" sz="1600" b="1" dirty="0">
                <a:ln w="0"/>
                <a:effectLst>
                  <a:outerShdw blurRad="38100" dist="25400" dir="5400000" algn="ctr" rotWithShape="0">
                    <a:srgbClr val="6E747A">
                      <a:alpha val="43000"/>
                    </a:srgbClr>
                  </a:outerShdw>
                </a:effectLst>
              </a:rPr>
              <a:t> with Mumbai </a:t>
            </a:r>
            <a:r>
              <a:rPr lang="it-IT" sz="1600" b="1" dirty="0" err="1">
                <a:ln w="0"/>
                <a:effectLst>
                  <a:outerShdw blurRad="38100" dist="25400" dir="5400000" algn="ctr" rotWithShape="0">
                    <a:srgbClr val="6E747A">
                      <a:alpha val="43000"/>
                    </a:srgbClr>
                  </a:outerShdw>
                </a:effectLst>
              </a:rPr>
              <a:t>Traffic</a:t>
            </a:r>
            <a:r>
              <a:rPr lang="it-IT" sz="1600" b="1" dirty="0">
                <a:ln w="0"/>
                <a:effectLst>
                  <a:outerShdw blurRad="38100" dist="25400" dir="5400000" algn="ctr" rotWithShape="0">
                    <a:srgbClr val="6E747A">
                      <a:alpha val="43000"/>
                    </a:srgbClr>
                  </a:outerShdw>
                </a:effectLst>
              </a:rPr>
              <a:t>? </a:t>
            </a:r>
            <a:endParaRPr lang="it-IT" sz="1600" b="1" dirty="0">
              <a:ln w="0"/>
              <a:effectLst>
                <a:outerShdw blurRad="38100" dist="19050" dir="2700000" algn="tl" rotWithShape="0">
                  <a:schemeClr val="dk1">
                    <a:alpha val="40000"/>
                  </a:schemeClr>
                </a:outerShdw>
              </a:effectLst>
            </a:endParaRPr>
          </a:p>
        </p:txBody>
      </p:sp>
      <p:pic>
        <p:nvPicPr>
          <p:cNvPr id="7" name="qtApzKnGU94"/>
          <p:cNvPicPr>
            <a:picLocks noRot="1" noChangeAspect="1"/>
          </p:cNvPicPr>
          <p:nvPr>
            <a:videoFile r:link="rId1"/>
          </p:nvPr>
        </p:nvPicPr>
        <p:blipFill>
          <a:blip r:embed="rId5"/>
          <a:stretch>
            <a:fillRect/>
          </a:stretch>
        </p:blipFill>
        <p:spPr>
          <a:xfrm>
            <a:off x="2193445" y="1927098"/>
            <a:ext cx="2622836" cy="2093439"/>
          </a:xfrm>
          <a:prstGeom prst="rect">
            <a:avLst/>
          </a:prstGeom>
        </p:spPr>
      </p:pic>
      <p:sp>
        <p:nvSpPr>
          <p:cNvPr id="8" name="Freccia a destra 7"/>
          <p:cNvSpPr/>
          <p:nvPr/>
        </p:nvSpPr>
        <p:spPr>
          <a:xfrm>
            <a:off x="5248329" y="2694104"/>
            <a:ext cx="1008112" cy="733659"/>
          </a:xfrm>
          <a:prstGeom prst="rightArrow">
            <a:avLst/>
          </a:prstGeom>
          <a:solidFill>
            <a:srgbClr val="FFFFFF"/>
          </a:solidFill>
          <a:ln w="25400" cap="flat">
            <a:solidFill>
              <a:srgbClr val="4F81BD"/>
            </a:solid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914400" fontAlgn="auto" latinLnBrk="1">
              <a:spcBef>
                <a:spcPts val="0"/>
              </a:spcBef>
              <a:spcAft>
                <a:spcPts val="0"/>
              </a:spcAft>
            </a:pPr>
            <a:endParaRPr lang="it-IT">
              <a:latin typeface="Calibri"/>
              <a:ea typeface="Calibri"/>
              <a:cs typeface="Calibri"/>
              <a:sym typeface="Calibri"/>
            </a:endParaRPr>
          </a:p>
        </p:txBody>
      </p:sp>
      <p:pic>
        <p:nvPicPr>
          <p:cNvPr id="9" name="Immagine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8410" y="4118318"/>
            <a:ext cx="3518845" cy="2147853"/>
          </a:xfrm>
          <a:prstGeom prst="rect">
            <a:avLst/>
          </a:prstGeom>
        </p:spPr>
      </p:pic>
      <p:sp>
        <p:nvSpPr>
          <p:cNvPr id="10" name="Rettangolo 9"/>
          <p:cNvSpPr/>
          <p:nvPr/>
        </p:nvSpPr>
        <p:spPr>
          <a:xfrm>
            <a:off x="2019185" y="4634738"/>
            <a:ext cx="3966342"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Will </a:t>
            </a:r>
            <a:r>
              <a:rPr lang="it-IT" sz="1600" b="1" dirty="0" err="1">
                <a:ln w="0"/>
                <a:effectLst>
                  <a:outerShdw blurRad="38100" dist="25400" dir="5400000" algn="ctr" rotWithShape="0">
                    <a:srgbClr val="6E747A">
                      <a:alpha val="43000"/>
                    </a:srgbClr>
                  </a:outerShdw>
                </a:effectLst>
              </a:rPr>
              <a:t>ever</a:t>
            </a:r>
            <a:r>
              <a:rPr lang="it-IT" sz="1600" b="1" dirty="0">
                <a:ln w="0"/>
                <a:effectLst>
                  <a:outerShdw blurRad="38100" dist="25400" dir="5400000" algn="ctr" rotWithShape="0">
                    <a:srgbClr val="6E747A">
                      <a:alpha val="43000"/>
                    </a:srgbClr>
                  </a:outerShdw>
                </a:effectLst>
              </a:rPr>
              <a:t> AI </a:t>
            </a:r>
            <a:r>
              <a:rPr lang="it-IT" sz="1600" b="1" dirty="0" err="1">
                <a:ln w="0"/>
                <a:effectLst>
                  <a:outerShdw blurRad="38100" dist="25400" dir="5400000" algn="ctr" rotWithShape="0">
                    <a:srgbClr val="6E747A">
                      <a:alpha val="43000"/>
                    </a:srgbClr>
                  </a:outerShdw>
                </a:effectLst>
              </a:rPr>
              <a:t>have</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context</a:t>
            </a:r>
            <a:r>
              <a:rPr lang="it-IT" sz="1600" b="1" dirty="0">
                <a:ln w="0"/>
                <a:effectLst>
                  <a:outerShdw blurRad="38100" dist="25400" dir="5400000" algn="ctr" rotWithShape="0">
                    <a:srgbClr val="6E747A">
                      <a:alpha val="43000"/>
                    </a:srgbClr>
                  </a:outerShdw>
                </a:effectLst>
              </a:rPr>
              <a:t> information ?</a:t>
            </a:r>
            <a:endParaRPr lang="it-IT" sz="1600" b="1"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93228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9</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35609"/>
            <a:ext cx="11269308" cy="153888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MACHINE LEARNING BREAKTHROUGHTS</a:t>
            </a:r>
            <a:br>
              <a:rPr lang="it-IT"/>
            </a:br>
            <a:br>
              <a:rPr lang="it-IT"/>
            </a:br>
            <a:r>
              <a:rPr lang="it-IT">
                <a:solidFill>
                  <a:srgbClr val="464646"/>
                </a:solidFill>
              </a:rPr>
              <a:t> </a:t>
            </a:r>
            <a:br>
              <a:rPr lang="it-IT">
                <a:solidFill>
                  <a:srgbClr val="464646"/>
                </a:solidFill>
              </a:rPr>
            </a:br>
            <a:endParaRPr lang="it-IT" dirty="0"/>
          </a:p>
        </p:txBody>
      </p:sp>
      <p:pic>
        <p:nvPicPr>
          <p:cNvPr id="14" name="dW4AR_V-ldE"/>
          <p:cNvPicPr>
            <a:picLocks noRot="1" noChangeAspect="1"/>
          </p:cNvPicPr>
          <p:nvPr>
            <a:videoFile r:link="rId1"/>
          </p:nvPr>
        </p:nvPicPr>
        <p:blipFill>
          <a:blip r:embed="rId7"/>
          <a:stretch>
            <a:fillRect/>
          </a:stretch>
        </p:blipFill>
        <p:spPr>
          <a:xfrm>
            <a:off x="1784436" y="1651149"/>
            <a:ext cx="3330556" cy="2159175"/>
          </a:xfrm>
          <a:prstGeom prst="rect">
            <a:avLst/>
          </a:prstGeom>
        </p:spPr>
      </p:pic>
      <p:sp>
        <p:nvSpPr>
          <p:cNvPr id="15" name="Rettangolo 14"/>
          <p:cNvSpPr/>
          <p:nvPr/>
        </p:nvSpPr>
        <p:spPr>
          <a:xfrm>
            <a:off x="2538504" y="1327109"/>
            <a:ext cx="1822422"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Computer Vision</a:t>
            </a:r>
            <a:endParaRPr lang="it-IT" sz="1600" b="1" dirty="0">
              <a:ln w="0"/>
              <a:effectLst>
                <a:outerShdw blurRad="38100" dist="19050" dir="2700000" algn="tl" rotWithShape="0">
                  <a:schemeClr val="dk1">
                    <a:alpha val="40000"/>
                  </a:schemeClr>
                </a:outerShdw>
              </a:effectLst>
            </a:endParaRPr>
          </a:p>
        </p:txBody>
      </p:sp>
      <p:pic>
        <p:nvPicPr>
          <p:cNvPr id="16" name="lmKqmPoU2ec"/>
          <p:cNvPicPr>
            <a:picLocks noRot="1" noChangeAspect="1"/>
          </p:cNvPicPr>
          <p:nvPr>
            <a:videoFile r:link="rId2"/>
          </p:nvPr>
        </p:nvPicPr>
        <p:blipFill>
          <a:blip r:embed="rId8"/>
          <a:stretch>
            <a:fillRect/>
          </a:stretch>
        </p:blipFill>
        <p:spPr>
          <a:xfrm>
            <a:off x="6059022" y="1693049"/>
            <a:ext cx="4069656" cy="2117275"/>
          </a:xfrm>
          <a:prstGeom prst="rect">
            <a:avLst/>
          </a:prstGeom>
        </p:spPr>
      </p:pic>
      <p:sp>
        <p:nvSpPr>
          <p:cNvPr id="17" name="Rettangolo 16"/>
          <p:cNvSpPr/>
          <p:nvPr/>
        </p:nvSpPr>
        <p:spPr>
          <a:xfrm>
            <a:off x="6554815" y="1381919"/>
            <a:ext cx="3078087"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Natural Language Processing</a:t>
            </a:r>
            <a:endParaRPr lang="it-IT" sz="1600" b="1" dirty="0">
              <a:ln w="0"/>
              <a:effectLst>
                <a:outerShdw blurRad="38100" dist="19050" dir="2700000" algn="tl" rotWithShape="0">
                  <a:schemeClr val="dk1">
                    <a:alpha val="40000"/>
                  </a:schemeClr>
                </a:outerShdw>
              </a:effectLst>
            </a:endParaRPr>
          </a:p>
        </p:txBody>
      </p:sp>
      <p:pic>
        <p:nvPicPr>
          <p:cNvPr id="18" name="Oiipoh0uCx4"/>
          <p:cNvPicPr>
            <a:picLocks noRot="1" noChangeAspect="1"/>
          </p:cNvPicPr>
          <p:nvPr>
            <a:videoFile r:link="rId3"/>
          </p:nvPr>
        </p:nvPicPr>
        <p:blipFill>
          <a:blip r:embed="rId9"/>
          <a:stretch>
            <a:fillRect/>
          </a:stretch>
        </p:blipFill>
        <p:spPr>
          <a:xfrm>
            <a:off x="1807262" y="4401968"/>
            <a:ext cx="3307730" cy="1914307"/>
          </a:xfrm>
          <a:prstGeom prst="rect">
            <a:avLst/>
          </a:prstGeom>
        </p:spPr>
      </p:pic>
      <p:sp>
        <p:nvSpPr>
          <p:cNvPr id="19" name="Rettangolo 18"/>
          <p:cNvSpPr/>
          <p:nvPr/>
        </p:nvSpPr>
        <p:spPr>
          <a:xfrm>
            <a:off x="1550520" y="4063413"/>
            <a:ext cx="3676777"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A </a:t>
            </a:r>
            <a:r>
              <a:rPr lang="it-IT" sz="1600" b="1" dirty="0" err="1">
                <a:ln w="0"/>
                <a:effectLst>
                  <a:outerShdw blurRad="38100" dist="25400" dir="5400000" algn="ctr" rotWithShape="0">
                    <a:srgbClr val="6E747A">
                      <a:alpha val="43000"/>
                    </a:srgbClr>
                  </a:outerShdw>
                </a:effectLst>
              </a:rPr>
              <a:t>truly</a:t>
            </a:r>
            <a:r>
              <a:rPr lang="it-IT" sz="1600" b="1" dirty="0">
                <a:ln w="0"/>
                <a:effectLst>
                  <a:outerShdw blurRad="38100" dist="25400" dir="5400000" algn="ctr" rotWithShape="0">
                    <a:srgbClr val="6E747A">
                      <a:alpha val="43000"/>
                    </a:srgbClr>
                  </a:outerShdw>
                </a:effectLst>
              </a:rPr>
              <a:t> general </a:t>
            </a:r>
            <a:r>
              <a:rPr lang="it-IT" sz="1600" b="1" dirty="0" err="1">
                <a:ln w="0"/>
                <a:effectLst>
                  <a:outerShdw blurRad="38100" dist="25400" dir="5400000" algn="ctr" rotWithShape="0">
                    <a:srgbClr val="6E747A">
                      <a:alpha val="43000"/>
                    </a:srgbClr>
                  </a:outerShdw>
                </a:effectLst>
              </a:rPr>
              <a:t>Artificial</a:t>
            </a:r>
            <a:r>
              <a:rPr lang="it-IT" sz="1600" b="1" dirty="0">
                <a:ln w="0"/>
                <a:effectLst>
                  <a:outerShdw blurRad="38100" dist="25400" dir="5400000" algn="ctr" rotWithShape="0">
                    <a:srgbClr val="6E747A">
                      <a:alpha val="43000"/>
                    </a:srgbClr>
                  </a:outerShdw>
                </a:effectLst>
              </a:rPr>
              <a:t> Intelligence</a:t>
            </a:r>
            <a:endParaRPr lang="it-IT" sz="1600" b="1" dirty="0">
              <a:ln w="0"/>
              <a:effectLst>
                <a:outerShdw blurRad="38100" dist="19050" dir="2700000" algn="tl" rotWithShape="0">
                  <a:schemeClr val="dk1">
                    <a:alpha val="40000"/>
                  </a:schemeClr>
                </a:outerShdw>
              </a:effectLst>
            </a:endParaRPr>
          </a:p>
        </p:txBody>
      </p:sp>
      <p:sp>
        <p:nvSpPr>
          <p:cNvPr id="20" name="Rettangolo 19"/>
          <p:cNvSpPr/>
          <p:nvPr/>
        </p:nvSpPr>
        <p:spPr>
          <a:xfrm>
            <a:off x="6341233" y="4063413"/>
            <a:ext cx="3505255"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a:ln w="0"/>
                <a:effectLst>
                  <a:outerShdw blurRad="38100" dist="25400" dir="5400000" algn="ctr" rotWithShape="0">
                    <a:srgbClr val="6E747A">
                      <a:alpha val="43000"/>
                    </a:srgbClr>
                  </a:outerShdw>
                </a:effectLst>
              </a:rPr>
              <a:t>A Generative </a:t>
            </a:r>
            <a:r>
              <a:rPr lang="it-IT" sz="1600" b="1" dirty="0" err="1">
                <a:ln w="0"/>
                <a:effectLst>
                  <a:outerShdw blurRad="38100" dist="25400" dir="5400000" algn="ctr" rotWithShape="0">
                    <a:srgbClr val="6E747A">
                      <a:alpha val="43000"/>
                    </a:srgbClr>
                  </a:outerShdw>
                </a:effectLst>
              </a:rPr>
              <a:t>Artificial</a:t>
            </a:r>
            <a:r>
              <a:rPr lang="it-IT" sz="1600" b="1" dirty="0">
                <a:ln w="0"/>
                <a:effectLst>
                  <a:outerShdw blurRad="38100" dist="25400" dir="5400000" algn="ctr" rotWithShape="0">
                    <a:srgbClr val="6E747A">
                      <a:alpha val="43000"/>
                    </a:srgbClr>
                  </a:outerShdw>
                </a:effectLst>
              </a:rPr>
              <a:t> Intelligence</a:t>
            </a:r>
            <a:endParaRPr lang="it-IT" sz="1600" b="1" dirty="0">
              <a:ln w="0"/>
              <a:effectLst>
                <a:outerShdw blurRad="38100" dist="19050" dir="2700000" algn="tl" rotWithShape="0">
                  <a:schemeClr val="dk1">
                    <a:alpha val="40000"/>
                  </a:schemeClr>
                </a:outerShdw>
              </a:effectLst>
            </a:endParaRPr>
          </a:p>
        </p:txBody>
      </p:sp>
      <p:pic>
        <p:nvPicPr>
          <p:cNvPr id="21" name="36lE9tV9vm0"/>
          <p:cNvPicPr>
            <a:picLocks noRot="1" noChangeAspect="1"/>
          </p:cNvPicPr>
          <p:nvPr>
            <a:videoFile r:link="rId4"/>
          </p:nvPr>
        </p:nvPicPr>
        <p:blipFill>
          <a:blip r:embed="rId10"/>
          <a:stretch>
            <a:fillRect/>
          </a:stretch>
        </p:blipFill>
        <p:spPr>
          <a:xfrm>
            <a:off x="6059022" y="4401968"/>
            <a:ext cx="4069656" cy="1914307"/>
          </a:xfrm>
          <a:prstGeom prst="rect">
            <a:avLst/>
          </a:prstGeom>
        </p:spPr>
      </p:pic>
    </p:spTree>
    <p:extLst>
      <p:ext uri="{BB962C8B-B14F-4D97-AF65-F5344CB8AC3E}">
        <p14:creationId xmlns:p14="http://schemas.microsoft.com/office/powerpoint/2010/main" val="2898435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10</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486179" y="373118"/>
            <a:ext cx="11269308" cy="26930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t>Traditional programming vs Machine Learning</a:t>
            </a:r>
            <a:br>
              <a:rPr lang="en-GB"/>
            </a:br>
            <a:br>
              <a:rPr lang="en-GB"/>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1" name="TextBox 2">
            <a:extLst>
              <a:ext uri="{FF2B5EF4-FFF2-40B4-BE49-F238E27FC236}">
                <a16:creationId xmlns:a16="http://schemas.microsoft.com/office/drawing/2014/main" id="{0380D1DD-8D7B-9E4C-A72A-083E008477B6}"/>
              </a:ext>
            </a:extLst>
          </p:cNvPr>
          <p:cNvSpPr txBox="1"/>
          <p:nvPr/>
        </p:nvSpPr>
        <p:spPr>
          <a:xfrm>
            <a:off x="975995" y="1212691"/>
            <a:ext cx="10938510" cy="2308324"/>
          </a:xfrm>
          <a:prstGeom prst="rect">
            <a:avLst/>
          </a:prstGeom>
          <a:noFill/>
        </p:spPr>
        <p:txBody>
          <a:bodyPr wrap="square" rtlCol="0">
            <a:spAutoFit/>
          </a:bodyPr>
          <a:lstStyle/>
          <a:p>
            <a:pPr marL="285750" indent="-285750">
              <a:buFont typeface="Wingdings" pitchFamily="2" charset="2"/>
              <a:buChar char="ü"/>
            </a:pPr>
            <a:r>
              <a:rPr lang="en-GB">
                <a:latin typeface="Tahoma" panose="020B0604030504040204" pitchFamily="34" charset="0"/>
                <a:ea typeface="Tahoma" panose="020B0604030504040204" pitchFamily="34" charset="0"/>
                <a:cs typeface="Tahoma" panose="020B0604030504040204" pitchFamily="34" charset="0"/>
              </a:rPr>
              <a:t>Machine learning is a subfield of computer science that is concerned with building algorithms which, to be useful, rely on a collection of examples of some phenomenon.</a:t>
            </a:r>
          </a:p>
          <a:p>
            <a:pPr marL="285750" indent="-285750">
              <a:buFont typeface="Wingdings" pitchFamily="2" charset="2"/>
              <a:buChar char="ü"/>
            </a:pPr>
            <a:endParaRPr lang="en-GB">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GB">
                <a:latin typeface="Tahoma" panose="020B0604030504040204" pitchFamily="34" charset="0"/>
                <a:ea typeface="Tahoma" panose="020B0604030504040204" pitchFamily="34" charset="0"/>
                <a:cs typeface="Tahoma" panose="020B0604030504040204" pitchFamily="34" charset="0"/>
              </a:rPr>
              <a:t>Traditionally</a:t>
            </a:r>
            <a:r>
              <a:rPr lang="en-GB" dirty="0">
                <a:latin typeface="Tahoma" panose="020B0604030504040204" pitchFamily="34" charset="0"/>
                <a:ea typeface="Tahoma" panose="020B0604030504040204" pitchFamily="34" charset="0"/>
                <a:cs typeface="Tahoma" panose="020B0604030504040204" pitchFamily="34" charset="0"/>
              </a:rPr>
              <a:t>, software engineering combined human created rules with data to create answers to a problem. Instead, machine learning uses data and answers to discover the rules behind a problem.</a:t>
            </a:r>
          </a:p>
          <a:p>
            <a:pPr marL="285750" indent="-285750">
              <a:buFont typeface="Wingdings" pitchFamily="2" charset="2"/>
              <a:buChar char="ü"/>
            </a:pPr>
            <a:endParaRPr lang="en-GB"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To learn the rules governing a phenomenon, machines have to go through a learning process, trying different rules and learning from how well they perform. Hence, why it’s known as Machine Learning.</a:t>
            </a:r>
          </a:p>
        </p:txBody>
      </p:sp>
      <p:pic>
        <p:nvPicPr>
          <p:cNvPr id="12" name="Picture 9">
            <a:extLst>
              <a:ext uri="{FF2B5EF4-FFF2-40B4-BE49-F238E27FC236}">
                <a16:creationId xmlns:a16="http://schemas.microsoft.com/office/drawing/2014/main" id="{88A20674-A876-B14F-A60C-F5C880F7D2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905" y="3718796"/>
            <a:ext cx="3592174" cy="2768967"/>
          </a:xfrm>
          <a:prstGeom prst="rect">
            <a:avLst/>
          </a:prstGeom>
        </p:spPr>
      </p:pic>
      <p:pic>
        <p:nvPicPr>
          <p:cNvPr id="13" name="Picture 11">
            <a:extLst>
              <a:ext uri="{FF2B5EF4-FFF2-40B4-BE49-F238E27FC236}">
                <a16:creationId xmlns:a16="http://schemas.microsoft.com/office/drawing/2014/main" id="{6F405438-6DC9-E94E-BE3E-1D5E33871D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1710" y="3718796"/>
            <a:ext cx="3648089" cy="2693047"/>
          </a:xfrm>
          <a:prstGeom prst="rect">
            <a:avLst/>
          </a:prstGeom>
        </p:spPr>
      </p:pic>
      <p:sp>
        <p:nvSpPr>
          <p:cNvPr id="14" name="TextBox 12">
            <a:extLst>
              <a:ext uri="{FF2B5EF4-FFF2-40B4-BE49-F238E27FC236}">
                <a16:creationId xmlns:a16="http://schemas.microsoft.com/office/drawing/2014/main" id="{0AE651D1-34EE-4743-B4C2-D016F65BDD07}"/>
              </a:ext>
            </a:extLst>
          </p:cNvPr>
          <p:cNvSpPr txBox="1"/>
          <p:nvPr/>
        </p:nvSpPr>
        <p:spPr>
          <a:xfrm>
            <a:off x="5536390" y="4826280"/>
            <a:ext cx="688009" cy="553998"/>
          </a:xfrm>
          <a:prstGeom prst="rect">
            <a:avLst/>
          </a:prstGeom>
          <a:noFill/>
        </p:spPr>
        <p:txBody>
          <a:bodyPr wrap="none" rtlCol="0">
            <a:spAutoFit/>
          </a:bodyPr>
          <a:lstStyle/>
          <a:p>
            <a:r>
              <a:rPr lang="en-GB" sz="3000" b="1" dirty="0">
                <a:latin typeface="Tahoma" panose="020B0604030504040204" pitchFamily="34" charset="0"/>
                <a:ea typeface="Tahoma" panose="020B0604030504040204" pitchFamily="34" charset="0"/>
                <a:cs typeface="Tahoma" panose="020B0604030504040204" pitchFamily="34" charset="0"/>
              </a:rPr>
              <a:t>VS</a:t>
            </a:r>
          </a:p>
        </p:txBody>
      </p:sp>
    </p:spTree>
    <p:extLst>
      <p:ext uri="{BB962C8B-B14F-4D97-AF65-F5344CB8AC3E}">
        <p14:creationId xmlns:p14="http://schemas.microsoft.com/office/powerpoint/2010/main" val="2228142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11</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422383" y="0"/>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br>
              <a:rPr lang="en-GB"/>
            </a:br>
            <a:r>
              <a:rPr lang="en-GB"/>
              <a:t>Types of Machine Learning</a:t>
            </a:r>
            <a:br>
              <a:rPr lang="en-GB"/>
            </a:br>
            <a:br>
              <a:rPr lang="en-GB"/>
            </a:br>
            <a:br>
              <a:rPr lang="en-GB"/>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8" name="TextBox 2">
            <a:extLst>
              <a:ext uri="{FF2B5EF4-FFF2-40B4-BE49-F238E27FC236}">
                <a16:creationId xmlns:a16="http://schemas.microsoft.com/office/drawing/2014/main" id="{0380D1DD-8D7B-9E4C-A72A-083E008477B6}"/>
              </a:ext>
            </a:extLst>
          </p:cNvPr>
          <p:cNvSpPr txBox="1"/>
          <p:nvPr/>
        </p:nvSpPr>
        <p:spPr>
          <a:xfrm>
            <a:off x="678283" y="1148896"/>
            <a:ext cx="10938510" cy="6740307"/>
          </a:xfrm>
          <a:prstGeom prst="rect">
            <a:avLst/>
          </a:prstGeom>
          <a:noFill/>
        </p:spPr>
        <p:txBody>
          <a:bodyPr wrap="square" rtlCol="0">
            <a:spAutoFit/>
          </a:bodyPr>
          <a:lstStyle/>
          <a:p>
            <a:pPr marL="285750" indent="-285750">
              <a:lnSpc>
                <a:spcPct val="150000"/>
              </a:lnSpc>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There are broadly 4 types of Machine Learning namely,</a:t>
            </a:r>
          </a:p>
          <a:p>
            <a:pPr marL="742950" lvl="1" indent="-285750">
              <a:lnSpc>
                <a:spcPct val="150000"/>
              </a:lnSpc>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Supervised learning</a:t>
            </a:r>
          </a:p>
          <a:p>
            <a:pPr marL="742950" lvl="1" indent="-285750">
              <a:lnSpc>
                <a:spcPct val="150000"/>
              </a:lnSpc>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Unsupervised learning</a:t>
            </a:r>
          </a:p>
          <a:p>
            <a:pPr marL="742950" lvl="1" indent="-285750">
              <a:lnSpc>
                <a:spcPct val="150000"/>
              </a:lnSpc>
              <a:buFont typeface="Wingdings" pitchFamily="2" charset="2"/>
              <a:buChar char="ü"/>
            </a:pPr>
            <a:r>
              <a:rPr lang="en-GB">
                <a:latin typeface="Tahoma" panose="020B0604030504040204" pitchFamily="34" charset="0"/>
                <a:ea typeface="Tahoma" panose="020B0604030504040204" pitchFamily="34" charset="0"/>
                <a:cs typeface="Tahoma" panose="020B0604030504040204" pitchFamily="34" charset="0"/>
              </a:rPr>
              <a:t>Semi-supervised learning</a:t>
            </a:r>
          </a:p>
          <a:p>
            <a:pPr marL="742950" lvl="1" indent="-285750">
              <a:lnSpc>
                <a:spcPct val="150000"/>
              </a:lnSpc>
              <a:buFont typeface="Wingdings" pitchFamily="2" charset="2"/>
              <a:buChar char="ü"/>
            </a:pPr>
            <a:r>
              <a:rPr lang="en-GB">
                <a:latin typeface="Tahoma" panose="020B0604030504040204" pitchFamily="34" charset="0"/>
                <a:ea typeface="Tahoma" panose="020B0604030504040204" pitchFamily="34" charset="0"/>
                <a:cs typeface="Tahoma" panose="020B0604030504040204" pitchFamily="34" charset="0"/>
              </a:rPr>
              <a:t>Self-supervised learning </a:t>
            </a:r>
            <a:endParaRPr lang="en-GB" dirty="0">
              <a:latin typeface="Tahoma" panose="020B0604030504040204" pitchFamily="34" charset="0"/>
              <a:ea typeface="Tahoma" panose="020B0604030504040204" pitchFamily="34" charset="0"/>
              <a:cs typeface="Tahoma" panose="020B0604030504040204" pitchFamily="34" charset="0"/>
            </a:endParaRPr>
          </a:p>
          <a:p>
            <a:pPr marL="742950" lvl="1" indent="-285750">
              <a:lnSpc>
                <a:spcPct val="150000"/>
              </a:lnSpc>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Reinforcement learning</a:t>
            </a:r>
          </a:p>
          <a:p>
            <a:pPr marL="285750" indent="-285750">
              <a:lnSpc>
                <a:spcPct val="150000"/>
              </a:lnSpc>
              <a:buFont typeface="Wingdings" pitchFamily="2" charset="2"/>
              <a:buChar char="ü"/>
            </a:pPr>
            <a:r>
              <a:rPr lang="en-GB" dirty="0">
                <a:latin typeface="Tahoma" panose="020B0604030504040204" pitchFamily="34" charset="0"/>
                <a:ea typeface="Tahoma" panose="020B0604030504040204" pitchFamily="34" charset="0"/>
                <a:cs typeface="Tahoma" panose="020B0604030504040204" pitchFamily="34" charset="0"/>
              </a:rPr>
              <a:t>Each form of Machine Learning has differing approaches, but they all follow the same underlying process and theory.</a:t>
            </a:r>
          </a:p>
          <a:p>
            <a:pPr marL="285750" indent="-285750">
              <a:lnSpc>
                <a:spcPct val="150000"/>
              </a:lnSpc>
              <a:buFont typeface="Wingdings"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The </a:t>
            </a:r>
            <a:r>
              <a:rPr lang="en-US" b="1" dirty="0">
                <a:latin typeface="Tahoma" panose="020B0604030504040204" pitchFamily="34" charset="0"/>
                <a:ea typeface="Tahoma" panose="020B0604030504040204" pitchFamily="34" charset="0"/>
                <a:cs typeface="Tahoma" panose="020B0604030504040204" pitchFamily="34" charset="0"/>
              </a:rPr>
              <a:t>No Free Lunch theorem </a:t>
            </a:r>
            <a:r>
              <a:rPr lang="en-US" dirty="0">
                <a:latin typeface="Tahoma" panose="020B0604030504040204" pitchFamily="34" charset="0"/>
                <a:ea typeface="Tahoma" panose="020B0604030504040204" pitchFamily="34" charset="0"/>
                <a:cs typeface="Tahoma" panose="020B0604030504040204" pitchFamily="34" charset="0"/>
              </a:rPr>
              <a:t>is famous in Machine Learning. This theorem states that there is no single algorithm that works well for all types of tasks. Each task you attempt to solve has its own idiosyncrasies, meaning its own specificities and adversities to certain Machine Learning models. Therefore, there are many algorithms and approaches that adapt to each specificity and peculiarity of an individual problem.</a:t>
            </a:r>
          </a:p>
          <a:p>
            <a:pPr marL="285750" indent="-285750">
              <a:lnSpc>
                <a:spcPct val="150000"/>
              </a:lnSpc>
              <a:buFont typeface="Wingdings" pitchFamily="2" charset="2"/>
              <a:buChar char="ü"/>
            </a:pPr>
            <a:endParaRPr lang="en-GB" dirty="0">
              <a:latin typeface="Tahoma" panose="020B0604030504040204" pitchFamily="34" charset="0"/>
              <a:ea typeface="Tahoma" panose="020B0604030504040204" pitchFamily="34" charset="0"/>
              <a:cs typeface="Tahoma" panose="020B0604030504040204" pitchFamily="34" charset="0"/>
            </a:endParaRPr>
          </a:p>
          <a:p>
            <a:pPr marL="742950" lvl="1" indent="-285750">
              <a:lnSpc>
                <a:spcPct val="150000"/>
              </a:lnSpc>
              <a:buFont typeface="Wingdings" pitchFamily="2" charset="2"/>
              <a:buChar char="ü"/>
            </a:pPr>
            <a:endParaRPr lang="en-GB" dirty="0">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GB" dirty="0">
                <a:latin typeface="Tahoma" panose="020B0604030504040204" pitchFamily="34" charset="0"/>
                <a:ea typeface="Tahoma" panose="020B0604030504040204" pitchFamily="34" charset="0"/>
                <a:cs typeface="Tahoma" panose="020B0604030504040204" pitchFamily="34" charset="0"/>
              </a:rPr>
              <a:t> </a:t>
            </a:r>
          </a:p>
        </p:txBody>
      </p:sp>
      <p:pic>
        <p:nvPicPr>
          <p:cNvPr id="9" name="Picture 4">
            <a:extLst>
              <a:ext uri="{FF2B5EF4-FFF2-40B4-BE49-F238E27FC236}">
                <a16:creationId xmlns:a16="http://schemas.microsoft.com/office/drawing/2014/main" id="{30166FF1-767A-C94D-89C8-38B4E2C32D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8604" y="1265274"/>
            <a:ext cx="3190634" cy="2232838"/>
          </a:xfrm>
          <a:prstGeom prst="rect">
            <a:avLst/>
          </a:prstGeom>
        </p:spPr>
      </p:pic>
    </p:spTree>
    <p:extLst>
      <p:ext uri="{BB962C8B-B14F-4D97-AF65-F5344CB8AC3E}">
        <p14:creationId xmlns:p14="http://schemas.microsoft.com/office/powerpoint/2010/main" val="4245321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12</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83083"/>
            <a:ext cx="11269308" cy="26930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t>A quick history of Machine Learning</a:t>
            </a:r>
            <a:br>
              <a:rPr lang="en-GB"/>
            </a:br>
            <a:br>
              <a:rPr lang="en-GB"/>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pic>
        <p:nvPicPr>
          <p:cNvPr id="31" name="Picture 4">
            <a:extLst>
              <a:ext uri="{FF2B5EF4-FFF2-40B4-BE49-F238E27FC236}">
                <a16:creationId xmlns:a16="http://schemas.microsoft.com/office/drawing/2014/main" id="{69F928EB-4403-CF4B-A975-89DA5D66F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9548" y="1539194"/>
            <a:ext cx="8551140" cy="5359690"/>
          </a:xfrm>
          <a:prstGeom prst="rect">
            <a:avLst/>
          </a:prstGeom>
        </p:spPr>
      </p:pic>
    </p:spTree>
    <p:extLst>
      <p:ext uri="{BB962C8B-B14F-4D97-AF65-F5344CB8AC3E}">
        <p14:creationId xmlns:p14="http://schemas.microsoft.com/office/powerpoint/2010/main" val="19868997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13</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20968"/>
            <a:ext cx="11269308" cy="153888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ARTIFICIAL NEURAL NETWORKS</a:t>
            </a:r>
            <a:br>
              <a:rPr lang="it-IT"/>
            </a:br>
            <a:br>
              <a:rPr lang="it-IT"/>
            </a:br>
            <a:r>
              <a:rPr lang="it-IT">
                <a:solidFill>
                  <a:srgbClr val="464646"/>
                </a:solidFill>
              </a:rPr>
              <a:t> </a:t>
            </a:r>
            <a:br>
              <a:rPr lang="it-IT">
                <a:solidFill>
                  <a:srgbClr val="464646"/>
                </a:solidFill>
              </a:rPr>
            </a:br>
            <a:endParaRPr lang="it-IT" dirty="0"/>
          </a:p>
        </p:txBody>
      </p:sp>
      <mc:AlternateContent xmlns:mc="http://schemas.openxmlformats.org/markup-compatibility/2006" xmlns:a14="http://schemas.microsoft.com/office/drawing/2010/main">
        <mc:Choice Requires="a14">
          <p:sp>
            <p:nvSpPr>
              <p:cNvPr id="10" name="Rettangolo arrotondato 9"/>
              <p:cNvSpPr/>
              <p:nvPr/>
            </p:nvSpPr>
            <p:spPr>
              <a:xfrm>
                <a:off x="1749415" y="5402272"/>
                <a:ext cx="3049268" cy="766023"/>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err="1">
                    <a:ln>
                      <a:noFill/>
                    </a:ln>
                    <a:solidFill>
                      <a:srgbClr val="C13E29"/>
                    </a:solidFill>
                    <a:latin typeface="AcmeFont" pitchFamily="2" charset="0"/>
                  </a:rPr>
                  <a:t>Neuron</a:t>
                </a:r>
                <a:r>
                  <a:rPr lang="it-IT" dirty="0">
                    <a:ln>
                      <a:noFill/>
                    </a:ln>
                    <a:solidFill>
                      <a:srgbClr val="C13E29"/>
                    </a:solidFill>
                    <a:latin typeface="AcmeFont" pitchFamily="2" charset="0"/>
                  </a:rPr>
                  <a:t> </a:t>
                </a:r>
                <a:r>
                  <a:rPr lang="it-IT" dirty="0" err="1">
                    <a:ln>
                      <a:noFill/>
                    </a:ln>
                    <a:solidFill>
                      <a:srgbClr val="C13E29"/>
                    </a:solidFill>
                    <a:latin typeface="AcmeFont" pitchFamily="2" charset="0"/>
                  </a:rPr>
                  <a:t>Activation</a:t>
                </a:r>
                <a:r>
                  <a:rPr lang="it-IT" dirty="0">
                    <a:ln>
                      <a:noFill/>
                    </a:ln>
                    <a:solidFill>
                      <a:srgbClr val="C13E29"/>
                    </a:solidFill>
                    <a:latin typeface="AcmeFont" pitchFamily="2" charset="0"/>
                  </a:rPr>
                  <a:t> </a:t>
                </a:r>
              </a:p>
              <a:p>
                <a:pPr algn="ctr" defTabSz="914400" fontAlgn="auto" latinLnBrk="1">
                  <a:spcBef>
                    <a:spcPts val="0"/>
                  </a:spcBef>
                  <a:spcAft>
                    <a:spcPts val="0"/>
                  </a:spcAft>
                </a:pPr>
                <a:r>
                  <a:rPr lang="it-IT" b="1" dirty="0">
                    <a:noFill/>
                  </a:rPr>
                  <a:t>i</a:t>
                </a:r>
                <a14:m>
                  <m:oMath xmlns:m="http://schemas.openxmlformats.org/officeDocument/2006/math">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𝒚</m:t>
                        </m:r>
                      </m:e>
                      <m:sub>
                        <m:r>
                          <a:rPr lang="it-IT" b="1" i="1" smtClean="0">
                            <a:ln>
                              <a:noFill/>
                            </a:ln>
                            <a:solidFill>
                              <a:srgbClr val="C13E29"/>
                            </a:solidFill>
                            <a:latin typeface="Cambria Math" panose="02040503050406030204" pitchFamily="18" charset="0"/>
                          </a:rPr>
                          <m:t>𝒋</m:t>
                        </m:r>
                      </m:sub>
                    </m:sSub>
                    <m:r>
                      <a:rPr lang="it-IT" b="1" i="1" smtClean="0">
                        <a:ln>
                          <a:noFill/>
                        </a:ln>
                        <a:solidFill>
                          <a:srgbClr val="C13E29"/>
                        </a:solidFill>
                        <a:latin typeface="Cambria Math" panose="02040503050406030204" pitchFamily="18" charset="0"/>
                      </a:rPr>
                      <m:t>=</m:t>
                    </m:r>
                    <m:r>
                      <a:rPr lang="it-IT" b="1" i="0" smtClean="0">
                        <a:ln>
                          <a:noFill/>
                        </a:ln>
                        <a:solidFill>
                          <a:srgbClr val="C13E29"/>
                        </a:solidFill>
                        <a:latin typeface="Cambria Math" panose="02040503050406030204" pitchFamily="18" charset="0"/>
                        <a:ea typeface="Cambria Math" panose="02040503050406030204" pitchFamily="18" charset="0"/>
                      </a:rPr>
                      <m:t>𝚽</m:t>
                    </m:r>
                    <m:d>
                      <m:dPr>
                        <m:ctrlPr>
                          <a:rPr lang="it-IT" b="1" i="1" smtClean="0">
                            <a:ln>
                              <a:noFill/>
                            </a:ln>
                            <a:solidFill>
                              <a:srgbClr val="C13E29"/>
                            </a:solidFill>
                            <a:latin typeface="Cambria Math" panose="02040503050406030204" pitchFamily="18" charset="0"/>
                            <a:ea typeface="Cambria Math" panose="02040503050406030204" pitchFamily="18" charset="0"/>
                          </a:rPr>
                        </m:ctrlPr>
                      </m:dPr>
                      <m:e>
                        <m:nary>
                          <m:naryPr>
                            <m:chr m:val="∑"/>
                            <m:ctrlPr>
                              <a:rPr lang="it-IT" b="1" i="1" smtClean="0">
                                <a:ln>
                                  <a:noFill/>
                                </a:ln>
                                <a:solidFill>
                                  <a:srgbClr val="C13E29"/>
                                </a:solidFill>
                                <a:latin typeface="Cambria Math" panose="02040503050406030204" pitchFamily="18" charset="0"/>
                                <a:ea typeface="Cambria Math" panose="02040503050406030204" pitchFamily="18" charset="0"/>
                              </a:rPr>
                            </m:ctrlPr>
                          </m:naryPr>
                          <m:sub>
                            <m:r>
                              <m:rPr>
                                <m:brk m:alnAt="23"/>
                              </m:rPr>
                              <a:rPr lang="it-IT" b="1" i="1">
                                <a:solidFill>
                                  <a:srgbClr val="C13E29"/>
                                </a:solidFill>
                                <a:latin typeface="Cambria Math" panose="02040503050406030204" pitchFamily="18" charset="0"/>
                              </a:rPr>
                              <m:t>𝒊</m:t>
                            </m:r>
                            <m:r>
                              <a:rPr lang="it-IT" b="1" i="1">
                                <a:solidFill>
                                  <a:srgbClr val="C13E29"/>
                                </a:solidFill>
                                <a:latin typeface="Cambria Math" panose="02040503050406030204" pitchFamily="18" charset="0"/>
                              </a:rPr>
                              <m:t>=</m:t>
                            </m:r>
                            <m:r>
                              <a:rPr lang="it-IT" b="1" i="1">
                                <a:solidFill>
                                  <a:srgbClr val="C13E29"/>
                                </a:solidFill>
                                <a:latin typeface="Cambria Math" panose="02040503050406030204" pitchFamily="18" charset="0"/>
                              </a:rPr>
                              <m:t>𝟏</m:t>
                            </m:r>
                          </m:sub>
                          <m:sup>
                            <m:r>
                              <a:rPr lang="it-IT" b="1" i="1">
                                <a:solidFill>
                                  <a:srgbClr val="C13E29"/>
                                </a:solidFill>
                                <a:latin typeface="Cambria Math" panose="02040503050406030204" pitchFamily="18" charset="0"/>
                              </a:rPr>
                              <m:t>𝑵</m:t>
                            </m:r>
                          </m:sup>
                          <m:e>
                            <m:sSub>
                              <m:sSubPr>
                                <m:ctrlPr>
                                  <a:rPr lang="it-IT" b="1" i="1">
                                    <a:solidFill>
                                      <a:srgbClr val="C13E29"/>
                                    </a:solidFill>
                                    <a:latin typeface="Cambria Math" panose="02040503050406030204" pitchFamily="18" charset="0"/>
                                  </a:rPr>
                                </m:ctrlPr>
                              </m:sSubPr>
                              <m:e>
                                <m:r>
                                  <a:rPr lang="it-IT" b="1" i="1">
                                    <a:solidFill>
                                      <a:srgbClr val="C13E29"/>
                                    </a:solidFill>
                                    <a:latin typeface="Cambria Math" panose="02040503050406030204" pitchFamily="18" charset="0"/>
                                  </a:rPr>
                                  <m:t>𝒘</m:t>
                                </m:r>
                              </m:e>
                              <m:sub>
                                <m:r>
                                  <a:rPr lang="it-IT" b="1" i="1">
                                    <a:solidFill>
                                      <a:srgbClr val="C13E29"/>
                                    </a:solidFill>
                                    <a:latin typeface="Cambria Math" panose="02040503050406030204" pitchFamily="18" charset="0"/>
                                  </a:rPr>
                                  <m:t>𝒊𝒋</m:t>
                                </m:r>
                              </m:sub>
                            </m:sSub>
                            <m:sSub>
                              <m:sSubPr>
                                <m:ctrlPr>
                                  <a:rPr lang="it-IT" b="1" i="1">
                                    <a:solidFill>
                                      <a:srgbClr val="C13E29"/>
                                    </a:solidFill>
                                    <a:latin typeface="Cambria Math" panose="02040503050406030204" pitchFamily="18" charset="0"/>
                                  </a:rPr>
                                </m:ctrlPr>
                              </m:sSubPr>
                              <m:e>
                                <m:r>
                                  <a:rPr lang="it-IT" b="1" i="1">
                                    <a:solidFill>
                                      <a:srgbClr val="C13E29"/>
                                    </a:solidFill>
                                    <a:latin typeface="Cambria Math" panose="02040503050406030204" pitchFamily="18" charset="0"/>
                                  </a:rPr>
                                  <m:t>𝑿</m:t>
                                </m:r>
                              </m:e>
                              <m:sub>
                                <m:r>
                                  <a:rPr lang="it-IT" b="1" i="1">
                                    <a:solidFill>
                                      <a:srgbClr val="C13E29"/>
                                    </a:solidFill>
                                    <a:latin typeface="Cambria Math" panose="02040503050406030204" pitchFamily="18" charset="0"/>
                                  </a:rPr>
                                  <m:t>𝒊</m:t>
                                </m:r>
                              </m:sub>
                            </m:sSub>
                            <m:r>
                              <a:rPr lang="it-IT" b="1" i="1">
                                <a:solidFill>
                                  <a:srgbClr val="C13E29"/>
                                </a:solidFill>
                                <a:latin typeface="Cambria Math" panose="02040503050406030204" pitchFamily="18" charset="0"/>
                              </a:rPr>
                              <m:t>−</m:t>
                            </m:r>
                            <m:sSub>
                              <m:sSubPr>
                                <m:ctrlPr>
                                  <a:rPr lang="it-IT" b="1" i="1">
                                    <a:solidFill>
                                      <a:srgbClr val="C13E29"/>
                                    </a:solidFill>
                                    <a:latin typeface="Cambria Math" panose="02040503050406030204" pitchFamily="18" charset="0"/>
                                  </a:rPr>
                                </m:ctrlPr>
                              </m:sSubPr>
                              <m:e>
                                <m:r>
                                  <a:rPr lang="it-IT" b="1" i="1">
                                    <a:solidFill>
                                      <a:srgbClr val="C13E29"/>
                                    </a:solidFill>
                                    <a:latin typeface="Cambria Math" panose="02040503050406030204" pitchFamily="18" charset="0"/>
                                  </a:rPr>
                                  <m:t>𝜽</m:t>
                                </m:r>
                              </m:e>
                              <m:sub>
                                <m:r>
                                  <a:rPr lang="it-IT" b="1" i="1">
                                    <a:solidFill>
                                      <a:srgbClr val="C13E29"/>
                                    </a:solidFill>
                                    <a:latin typeface="Cambria Math" panose="02040503050406030204" pitchFamily="18" charset="0"/>
                                  </a:rPr>
                                  <m:t>𝒊</m:t>
                                </m:r>
                              </m:sub>
                            </m:sSub>
                          </m:e>
                        </m:nary>
                      </m:e>
                    </m:d>
                  </m:oMath>
                </a14:m>
                <a:endParaRPr lang="it-IT" dirty="0">
                  <a:ln>
                    <a:noFill/>
                  </a:ln>
                  <a:solidFill>
                    <a:srgbClr val="C00000"/>
                  </a:solidFill>
                  <a:latin typeface="AcmeFont" pitchFamily="2" charset="0"/>
                </a:endParaRPr>
              </a:p>
            </p:txBody>
          </p:sp>
        </mc:Choice>
        <mc:Fallback xmlns="">
          <p:sp>
            <p:nvSpPr>
              <p:cNvPr id="10" name="Rettangolo arrotondato 9"/>
              <p:cNvSpPr>
                <a:spLocks noRot="1" noChangeAspect="1" noMove="1" noResize="1" noEditPoints="1" noAdjustHandles="1" noChangeArrowheads="1" noChangeShapeType="1" noTextEdit="1"/>
              </p:cNvSpPr>
              <p:nvPr/>
            </p:nvSpPr>
            <p:spPr>
              <a:xfrm>
                <a:off x="1749415" y="5402272"/>
                <a:ext cx="3049268" cy="766023"/>
              </a:xfrm>
              <a:prstGeom prst="roundRect">
                <a:avLst/>
              </a:prstGeom>
              <a:blipFill>
                <a:blip r:embed="rId4"/>
                <a:stretch>
                  <a:fillRect/>
                </a:stretch>
              </a:blipFill>
              <a:ln w="25400" cap="flat">
                <a:noFill/>
                <a:prstDash val="solid"/>
                <a:bevel/>
              </a:ln>
              <a:effectLst>
                <a:outerShdw blurRad="44450" dist="27940" dir="5400000" algn="ctr">
                  <a:srgbClr val="000000">
                    <a:alpha val="32000"/>
                  </a:srgbClr>
                </a:outerShdw>
              </a:effectLst>
            </p:spPr>
            <p:txBody>
              <a:bodyPr/>
              <a:lstStyle/>
              <a:p>
                <a:r>
                  <a:rPr lang="it-IT">
                    <a:noFill/>
                  </a:rPr>
                  <a:t> </a:t>
                </a:r>
              </a:p>
            </p:txBody>
          </p:sp>
        </mc:Fallback>
      </mc:AlternateContent>
      <p:pic>
        <p:nvPicPr>
          <p:cNvPr id="11" name="3JQ3hYko51Y"/>
          <p:cNvPicPr>
            <a:picLocks noRot="1" noChangeAspect="1"/>
          </p:cNvPicPr>
          <p:nvPr>
            <a:videoFile r:link="rId1"/>
          </p:nvPr>
        </p:nvPicPr>
        <p:blipFill>
          <a:blip r:embed="rId5"/>
          <a:stretch>
            <a:fillRect/>
          </a:stretch>
        </p:blipFill>
        <p:spPr>
          <a:xfrm>
            <a:off x="5378369" y="2485137"/>
            <a:ext cx="4905198" cy="3912088"/>
          </a:xfrm>
          <a:prstGeom prst="rect">
            <a:avLst/>
          </a:prstGeom>
        </p:spPr>
      </p:pic>
      <p:sp>
        <p:nvSpPr>
          <p:cNvPr id="18" name="Rettangolo 17"/>
          <p:cNvSpPr/>
          <p:nvPr/>
        </p:nvSpPr>
        <p:spPr>
          <a:xfrm>
            <a:off x="1718336" y="1364635"/>
            <a:ext cx="8565231" cy="830997"/>
          </a:xfrm>
          <a:prstGeom prst="rect">
            <a:avLst/>
          </a:prstGeom>
        </p:spPr>
        <p:txBody>
          <a:bodyPr wrap="square">
            <a:spAutoFit/>
          </a:bodyPr>
          <a:lstStyle/>
          <a:p>
            <a:pPr marL="285750" indent="-285750" fontAlgn="auto">
              <a:spcBef>
                <a:spcPts val="0"/>
              </a:spcBef>
              <a:spcAft>
                <a:spcPts val="0"/>
              </a:spcAft>
              <a:buFont typeface="Arial" panose="020B0604020202020204" pitchFamily="34" charset="0"/>
              <a:buChar char="•"/>
              <a:defRPr/>
            </a:pPr>
            <a:r>
              <a:rPr lang="en-US" sz="1600" b="1" dirty="0">
                <a:ln w="0"/>
                <a:effectLst>
                  <a:outerShdw blurRad="38100" dist="25400" dir="5400000" algn="ctr" rotWithShape="0">
                    <a:srgbClr val="6E747A">
                      <a:alpha val="43000"/>
                    </a:srgbClr>
                  </a:outerShdw>
                </a:effectLst>
              </a:rPr>
              <a:t>Artificial neural networks (ANN) or Connectionist Systems are computing systems vaguely inspired by the biological neural networks that constitute animal brains  (van </a:t>
            </a:r>
            <a:r>
              <a:rPr lang="en-US" sz="1600" b="1" dirty="0" err="1">
                <a:ln w="0"/>
                <a:effectLst>
                  <a:outerShdw blurRad="38100" dist="25400" dir="5400000" algn="ctr" rotWithShape="0">
                    <a:srgbClr val="6E747A">
                      <a:alpha val="43000"/>
                    </a:srgbClr>
                  </a:outerShdw>
                </a:effectLst>
              </a:rPr>
              <a:t>Gerven</a:t>
            </a:r>
            <a:r>
              <a:rPr lang="en-US" sz="1600" b="1" dirty="0">
                <a:ln w="0"/>
                <a:effectLst>
                  <a:outerShdw blurRad="38100" dist="25400" dir="5400000" algn="ctr" rotWithShape="0">
                    <a:srgbClr val="6E747A">
                      <a:alpha val="43000"/>
                    </a:srgbClr>
                  </a:outerShdw>
                </a:effectLst>
              </a:rPr>
              <a:t> &amp; </a:t>
            </a:r>
            <a:r>
              <a:rPr lang="en-US" sz="1600" b="1" dirty="0" err="1">
                <a:ln w="0"/>
                <a:effectLst>
                  <a:outerShdw blurRad="38100" dist="25400" dir="5400000" algn="ctr" rotWithShape="0">
                    <a:srgbClr val="6E747A">
                      <a:alpha val="43000"/>
                    </a:srgbClr>
                  </a:outerShdw>
                </a:effectLst>
              </a:rPr>
              <a:t>Bohte</a:t>
            </a:r>
            <a:r>
              <a:rPr lang="en-US" sz="1600" b="1" dirty="0">
                <a:ln w="0"/>
                <a:effectLst>
                  <a:outerShdw blurRad="38100" dist="25400" dir="5400000" algn="ctr" rotWithShape="0">
                    <a:srgbClr val="6E747A">
                      <a:alpha val="43000"/>
                    </a:srgbClr>
                  </a:outerShdw>
                </a:effectLst>
              </a:rPr>
              <a:t>, 2018)</a:t>
            </a:r>
            <a:endParaRPr lang="it-IT" sz="1600" b="1" dirty="0">
              <a:ln w="0"/>
              <a:effectLst>
                <a:outerShdw blurRad="38100" dist="25400" dir="5400000" algn="ctr" rotWithShape="0">
                  <a:srgbClr val="6E747A">
                    <a:alpha val="43000"/>
                  </a:srgbClr>
                </a:outerShdw>
              </a:effectLst>
            </a:endParaRPr>
          </a:p>
        </p:txBody>
      </p:sp>
      <p:pic>
        <p:nvPicPr>
          <p:cNvPr id="19" name="Immagine 1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00660" y="2691225"/>
            <a:ext cx="3362164" cy="2422336"/>
          </a:xfrm>
          <a:prstGeom prst="rect">
            <a:avLst/>
          </a:prstGeom>
        </p:spPr>
      </p:pic>
      <p:sp>
        <p:nvSpPr>
          <p:cNvPr id="20" name="Rettangolo 19"/>
          <p:cNvSpPr/>
          <p:nvPr/>
        </p:nvSpPr>
        <p:spPr>
          <a:xfrm>
            <a:off x="1433741" y="2248562"/>
            <a:ext cx="3896003" cy="338554"/>
          </a:xfrm>
          <a:prstGeom prst="rect">
            <a:avLst/>
          </a:prstGeom>
          <a:noFill/>
        </p:spPr>
        <p:txBody>
          <a:bodyPr wrap="none" lIns="91440" tIns="45720" rIns="91440" bIns="45720">
            <a:spAutoFit/>
            <a:scene3d>
              <a:camera prst="orthographicFront"/>
              <a:lightRig rig="threePt" dir="t"/>
            </a:scene3d>
            <a:sp3d extrusionH="57150">
              <a:bevelT w="38100" h="38100"/>
            </a:sp3d>
          </a:bodyPr>
          <a:lstStyle/>
          <a:p>
            <a:pPr algn="ctr"/>
            <a:r>
              <a:rPr lang="it-IT" sz="1600" b="1" dirty="0" err="1">
                <a:ln w="0"/>
                <a:effectLst>
                  <a:outerShdw blurRad="38100" dist="25400" dir="5400000" algn="ctr" rotWithShape="0">
                    <a:srgbClr val="6E747A">
                      <a:alpha val="43000"/>
                    </a:srgbClr>
                  </a:outerShdw>
                </a:effectLst>
              </a:rPr>
              <a:t>Biological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Neuron</a:t>
            </a:r>
            <a:r>
              <a:rPr lang="it-IT" sz="1600" b="1" dirty="0">
                <a:ln w="0"/>
                <a:effectLst>
                  <a:outerShdw blurRad="38100" dist="25400" dir="5400000" algn="ctr" rotWithShape="0">
                    <a:srgbClr val="6E747A">
                      <a:alpha val="43000"/>
                    </a:srgbClr>
                  </a:outerShdw>
                </a:effectLst>
              </a:rPr>
              <a:t> Vs </a:t>
            </a:r>
            <a:r>
              <a:rPr lang="it-IT" sz="1600" b="1" dirty="0" err="1">
                <a:ln w="0"/>
                <a:effectLst>
                  <a:outerShdw blurRad="38100" dist="25400" dir="5400000" algn="ctr" rotWithShape="0">
                    <a:srgbClr val="6E747A">
                      <a:alpha val="43000"/>
                    </a:srgbClr>
                  </a:outerShdw>
                </a:effectLst>
              </a:rPr>
              <a:t>Artificial</a:t>
            </a:r>
            <a:r>
              <a:rPr lang="it-IT" sz="1600" b="1" dirty="0">
                <a:ln w="0"/>
                <a:effectLst>
                  <a:outerShdw blurRad="38100" dist="25400" dir="5400000" algn="ctr" rotWithShape="0">
                    <a:srgbClr val="6E747A">
                      <a:alpha val="43000"/>
                    </a:srgbClr>
                  </a:outerShdw>
                </a:effectLst>
              </a:rPr>
              <a:t> </a:t>
            </a:r>
            <a:r>
              <a:rPr lang="it-IT" sz="1600" b="1" dirty="0" err="1">
                <a:ln w="0"/>
                <a:effectLst>
                  <a:outerShdw blurRad="38100" dist="25400" dir="5400000" algn="ctr" rotWithShape="0">
                    <a:srgbClr val="6E747A">
                      <a:alpha val="43000"/>
                    </a:srgbClr>
                  </a:outerShdw>
                </a:effectLst>
              </a:rPr>
              <a:t>Neuron</a:t>
            </a:r>
            <a:endParaRPr lang="it-IT" sz="1600" b="1"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89364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14</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84926" y="351199"/>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One traditional application ANN: Evolutionary robotics</a:t>
            </a:r>
            <a:br>
              <a:rPr lang="en-US"/>
            </a:br>
            <a:br>
              <a:rPr lang="it-IT"/>
            </a:br>
            <a:br>
              <a:rPr lang="it-IT"/>
            </a:br>
            <a:r>
              <a:rPr lang="it-IT">
                <a:solidFill>
                  <a:srgbClr val="464646"/>
                </a:solidFill>
              </a:rPr>
              <a:t> </a:t>
            </a:r>
            <a:br>
              <a:rPr lang="it-IT">
                <a:solidFill>
                  <a:srgbClr val="464646"/>
                </a:solidFill>
              </a:rPr>
            </a:br>
            <a:endParaRPr lang="it-IT" dirty="0"/>
          </a:p>
        </p:txBody>
      </p:sp>
      <p:sp>
        <p:nvSpPr>
          <p:cNvPr id="9" name="Sottotitolo 14"/>
          <p:cNvSpPr txBox="1">
            <a:spLocks/>
          </p:cNvSpPr>
          <p:nvPr/>
        </p:nvSpPr>
        <p:spPr>
          <a:xfrm>
            <a:off x="1711966" y="1338972"/>
            <a:ext cx="8534152" cy="1871662"/>
          </a:xfrm>
          <a:prstGeom prst="rect">
            <a:avLst/>
          </a:prstGeom>
          <a:solidFill>
            <a:schemeClr val="bg1">
              <a:alpha val="50000"/>
            </a:schemeClr>
          </a:solidFill>
        </p:spPr>
        <p:txBody>
          <a:bodyPr anchor="ctr"/>
          <a:lstStyle/>
          <a:p>
            <a:pPr algn="ctr" fontAlgn="auto">
              <a:spcBef>
                <a:spcPts val="0"/>
              </a:spcBef>
              <a:spcAft>
                <a:spcPts val="0"/>
              </a:spcAft>
              <a:defRPr/>
            </a:pPr>
            <a:r>
              <a:rPr lang="it-IT" sz="2200" b="1" cap="small" dirty="0">
                <a:latin typeface="Arial" panose="020B0604020202020204" pitchFamily="34" charset="0"/>
                <a:cs typeface="Arial" panose="020B0604020202020204" pitchFamily="34" charset="0"/>
              </a:rPr>
              <a:t>In </a:t>
            </a:r>
            <a:r>
              <a:rPr lang="it-IT" sz="2200" b="1" cap="small" dirty="0" err="1">
                <a:latin typeface="Arial" panose="020B0604020202020204" pitchFamily="34" charset="0"/>
                <a:cs typeface="Arial" panose="020B0604020202020204" pitchFamily="34" charset="0"/>
              </a:rPr>
              <a:t>order</a:t>
            </a:r>
            <a:r>
              <a:rPr lang="it-IT" sz="2200" b="1" cap="small" dirty="0">
                <a:latin typeface="Arial" panose="020B0604020202020204" pitchFamily="34" charset="0"/>
                <a:cs typeface="Arial" panose="020B0604020202020204" pitchFamily="34" charset="0"/>
              </a:rPr>
              <a:t> to </a:t>
            </a:r>
            <a:r>
              <a:rPr lang="it-IT" sz="2200" b="1" cap="small" dirty="0" err="1">
                <a:latin typeface="Arial" panose="020B0604020202020204" pitchFamily="34" charset="0"/>
                <a:cs typeface="Arial" panose="020B0604020202020204" pitchFamily="34" charset="0"/>
              </a:rPr>
              <a:t>overcome</a:t>
            </a:r>
            <a:r>
              <a:rPr lang="it-IT" sz="2200" b="1" cap="small" dirty="0">
                <a:latin typeface="Arial" panose="020B0604020202020204" pitchFamily="34" charset="0"/>
                <a:cs typeface="Arial" panose="020B0604020202020204" pitchFamily="34" charset="0"/>
              </a:rPr>
              <a:t> the </a:t>
            </a:r>
            <a:r>
              <a:rPr lang="it-IT" sz="2200" b="1" cap="small" dirty="0" err="1">
                <a:latin typeface="Arial" panose="020B0604020202020204" pitchFamily="34" charset="0"/>
                <a:cs typeface="Arial" panose="020B0604020202020204" pitchFamily="34" charset="0"/>
              </a:rPr>
              <a:t>problems</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associated</a:t>
            </a:r>
            <a:r>
              <a:rPr lang="it-IT" sz="2200" b="1" cap="small" dirty="0">
                <a:latin typeface="Arial" panose="020B0604020202020204" pitchFamily="34" charset="0"/>
                <a:cs typeface="Arial" panose="020B0604020202020204" pitchFamily="34" charset="0"/>
              </a:rPr>
              <a:t> with the </a:t>
            </a:r>
            <a:r>
              <a:rPr lang="it-IT" sz="2200" b="1" cap="small" dirty="0" err="1">
                <a:latin typeface="Arial" panose="020B0604020202020204" pitchFamily="34" charset="0"/>
                <a:cs typeface="Arial" panose="020B0604020202020204" pitchFamily="34" charset="0"/>
              </a:rPr>
              <a:t>robotic</a:t>
            </a:r>
            <a:r>
              <a:rPr lang="it-IT" sz="2200" b="1" cap="small" dirty="0">
                <a:latin typeface="Arial" panose="020B0604020202020204" pitchFamily="34" charset="0"/>
                <a:cs typeface="Arial" panose="020B0604020202020204" pitchFamily="34" charset="0"/>
              </a:rPr>
              <a:t> system </a:t>
            </a:r>
            <a:r>
              <a:rPr lang="it-IT" sz="2200" b="1" cap="small" dirty="0" err="1">
                <a:latin typeface="Arial" panose="020B0604020202020204" pitchFamily="34" charset="0"/>
                <a:cs typeface="Arial" panose="020B0604020202020204" pitchFamily="34" charset="0"/>
              </a:rPr>
              <a:t>decomposition</a:t>
            </a:r>
            <a:r>
              <a:rPr lang="it-IT" sz="2200" b="1" cap="small" dirty="0">
                <a:latin typeface="Arial" panose="020B0604020202020204" pitchFamily="34" charset="0"/>
                <a:cs typeface="Arial" panose="020B0604020202020204" pitchFamily="34" charset="0"/>
              </a:rPr>
              <a:t> of </a:t>
            </a:r>
            <a:r>
              <a:rPr lang="it-IT" sz="2200" b="1" cap="small" dirty="0" err="1">
                <a:latin typeface="Arial" panose="020B0604020202020204" pitchFamily="34" charset="0"/>
                <a:cs typeface="Arial" panose="020B0604020202020204" pitchFamily="34" charset="0"/>
              </a:rPr>
              <a:t>traditional</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approaches</a:t>
            </a:r>
            <a:r>
              <a:rPr lang="it-IT" sz="2200" b="1" cap="small" dirty="0">
                <a:latin typeface="Arial" panose="020B0604020202020204" pitchFamily="34" charset="0"/>
                <a:cs typeface="Arial" panose="020B0604020202020204" pitchFamily="34" charset="0"/>
              </a:rPr>
              <a:t> (i.e. </a:t>
            </a:r>
            <a:r>
              <a:rPr lang="it-IT" sz="2200" b="1" cap="small" dirty="0" err="1">
                <a:latin typeface="Arial" panose="020B0604020202020204" pitchFamily="34" charset="0"/>
                <a:cs typeface="Arial" panose="020B0604020202020204" pitchFamily="34" charset="0"/>
              </a:rPr>
              <a:t>behavior-based</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robotics</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evolutionary</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robotics</a:t>
            </a:r>
            <a:r>
              <a:rPr lang="it-IT" sz="2200" b="1" cap="small" dirty="0">
                <a:latin typeface="Arial" panose="020B0604020202020204" pitchFamily="34" charset="0"/>
                <a:cs typeface="Arial" panose="020B0604020202020204" pitchFamily="34" charset="0"/>
              </a:rPr>
              <a:t> can be </a:t>
            </a:r>
            <a:r>
              <a:rPr lang="it-IT" sz="2200" b="1" cap="small" dirty="0" err="1">
                <a:latin typeface="Arial" panose="020B0604020202020204" pitchFamily="34" charset="0"/>
                <a:cs typeface="Arial" panose="020B0604020202020204" pitchFamily="34" charset="0"/>
              </a:rPr>
              <a:t>used</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where</a:t>
            </a:r>
            <a:r>
              <a:rPr lang="it-IT" sz="2200" b="1" cap="small" dirty="0">
                <a:latin typeface="Arial" panose="020B0604020202020204" pitchFamily="34" charset="0"/>
                <a:cs typeface="Arial" panose="020B0604020202020204" pitchFamily="34" charset="0"/>
              </a:rPr>
              <a:t> the </a:t>
            </a:r>
            <a:r>
              <a:rPr lang="it-IT" sz="2200" b="1" cap="small" dirty="0" err="1">
                <a:latin typeface="Arial" panose="020B0604020202020204" pitchFamily="34" charset="0"/>
                <a:cs typeface="Arial" panose="020B0604020202020204" pitchFamily="34" charset="0"/>
              </a:rPr>
              <a:t>robotic</a:t>
            </a:r>
            <a:r>
              <a:rPr lang="it-IT" sz="2200" b="1" cap="small" dirty="0">
                <a:latin typeface="Arial" panose="020B0604020202020204" pitchFamily="34" charset="0"/>
                <a:cs typeface="Arial" panose="020B0604020202020204" pitchFamily="34" charset="0"/>
              </a:rPr>
              <a:t> system </a:t>
            </a:r>
            <a:r>
              <a:rPr lang="it-IT" sz="2200" b="1" cap="small" dirty="0" err="1">
                <a:latin typeface="Arial" panose="020B0604020202020204" pitchFamily="34" charset="0"/>
                <a:cs typeface="Arial" panose="020B0604020202020204" pitchFamily="34" charset="0"/>
              </a:rPr>
              <a:t>is</a:t>
            </a:r>
            <a:r>
              <a:rPr lang="it-IT" sz="2200" b="1" cap="small" dirty="0">
                <a:latin typeface="Arial" panose="020B0604020202020204" pitchFamily="34" charset="0"/>
                <a:cs typeface="Arial" panose="020B0604020202020204" pitchFamily="34" charset="0"/>
              </a:rPr>
              <a:t> </a:t>
            </a:r>
            <a:r>
              <a:rPr lang="it-IT" sz="2200" b="1" cap="small" dirty="0" err="1">
                <a:latin typeface="Arial" panose="020B0604020202020204" pitchFamily="34" charset="0"/>
                <a:cs typeface="Arial" panose="020B0604020202020204" pitchFamily="34" charset="0"/>
              </a:rPr>
              <a:t>able</a:t>
            </a:r>
            <a:r>
              <a:rPr lang="it-IT" sz="2200" b="1" cap="small" dirty="0">
                <a:latin typeface="Arial" panose="020B0604020202020204" pitchFamily="34" charset="0"/>
                <a:cs typeface="Arial" panose="020B0604020202020204" pitchFamily="34" charset="0"/>
              </a:rPr>
              <a:t> to self-</a:t>
            </a:r>
            <a:r>
              <a:rPr lang="it-IT" sz="2200" b="1" cap="small" dirty="0" err="1">
                <a:latin typeface="Arial" panose="020B0604020202020204" pitchFamily="34" charset="0"/>
                <a:cs typeface="Arial" panose="020B0604020202020204" pitchFamily="34" charset="0"/>
              </a:rPr>
              <a:t>organize</a:t>
            </a:r>
            <a:endParaRPr lang="en-US" sz="2200" b="1" dirty="0">
              <a:latin typeface="Arial" panose="020B0604020202020204" pitchFamily="34" charset="0"/>
              <a:cs typeface="Arial" panose="020B0604020202020204" pitchFamily="34" charset="0"/>
            </a:endParaRPr>
          </a:p>
          <a:p>
            <a:pPr algn="ctr" fontAlgn="auto">
              <a:spcBef>
                <a:spcPts val="0"/>
              </a:spcBef>
              <a:spcAft>
                <a:spcPts val="0"/>
              </a:spcAft>
              <a:defRPr/>
            </a:pPr>
            <a:r>
              <a:rPr lang="en-US" sz="2200" cap="small" dirty="0">
                <a:latin typeface="Arial" panose="020B0604020202020204" pitchFamily="34" charset="0"/>
                <a:cs typeface="Arial" panose="020B0604020202020204" pitchFamily="34" charset="0"/>
              </a:rPr>
              <a:t>[</a:t>
            </a:r>
            <a:r>
              <a:rPr lang="en-US" sz="2200" i="1" cap="small" dirty="0" err="1">
                <a:latin typeface="Arial" panose="020B0604020202020204" pitchFamily="34" charset="0"/>
                <a:cs typeface="Arial" panose="020B0604020202020204" pitchFamily="34" charset="0"/>
              </a:rPr>
              <a:t>Nolfi</a:t>
            </a:r>
            <a:r>
              <a:rPr lang="en-US" sz="2200" i="1" cap="small" dirty="0">
                <a:latin typeface="Arial" panose="020B0604020202020204" pitchFamily="34" charset="0"/>
                <a:cs typeface="Arial" panose="020B0604020202020204" pitchFamily="34" charset="0"/>
              </a:rPr>
              <a:t>, S., </a:t>
            </a:r>
            <a:r>
              <a:rPr lang="en-US" sz="2200" i="1" cap="small" dirty="0" err="1">
                <a:latin typeface="Arial" panose="020B0604020202020204" pitchFamily="34" charset="0"/>
                <a:cs typeface="Arial" panose="020B0604020202020204" pitchFamily="34" charset="0"/>
              </a:rPr>
              <a:t>Floreano</a:t>
            </a:r>
            <a:r>
              <a:rPr lang="en-US" sz="2200" i="1" cap="small" dirty="0">
                <a:latin typeface="Arial" panose="020B0604020202020204" pitchFamily="34" charset="0"/>
                <a:cs typeface="Arial" panose="020B0604020202020204" pitchFamily="34" charset="0"/>
              </a:rPr>
              <a:t>, D </a:t>
            </a:r>
            <a:r>
              <a:rPr lang="en-US" sz="2200" i="1" cap="small">
                <a:latin typeface="Arial" panose="020B0604020202020204" pitchFamily="34" charset="0"/>
                <a:cs typeface="Arial" panose="020B0604020202020204" pitchFamily="34" charset="0"/>
              </a:rPr>
              <a:t>., 2002</a:t>
            </a:r>
            <a:r>
              <a:rPr lang="en-US" sz="2200" cap="small">
                <a:latin typeface="Arial" panose="020B0604020202020204" pitchFamily="34" charset="0"/>
                <a:cs typeface="Arial" panose="020B0604020202020204" pitchFamily="34" charset="0"/>
              </a:rPr>
              <a:t>].</a:t>
            </a:r>
            <a:endParaRPr lang="it-IT" sz="2200" cap="small" dirty="0">
              <a:latin typeface="Arial" panose="020B0604020202020204" pitchFamily="34" charset="0"/>
              <a:cs typeface="Arial" panose="020B0604020202020204" pitchFamily="34" charset="0"/>
            </a:endParaRPr>
          </a:p>
        </p:txBody>
      </p:sp>
      <p:grpSp>
        <p:nvGrpSpPr>
          <p:cNvPr id="13" name="Gruppo 12"/>
          <p:cNvGrpSpPr/>
          <p:nvPr/>
        </p:nvGrpSpPr>
        <p:grpSpPr>
          <a:xfrm>
            <a:off x="2954707" y="3607836"/>
            <a:ext cx="2921479" cy="2436048"/>
            <a:chOff x="1344844" y="3794927"/>
            <a:chExt cx="2921479" cy="2436048"/>
          </a:xfrm>
        </p:grpSpPr>
        <p:pic>
          <p:nvPicPr>
            <p:cNvPr id="14" name="Picture 2" descr="Risultati immagini per Genetic Algorithm"/>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185" r="1246" b="10878"/>
            <a:stretch/>
          </p:blipFill>
          <p:spPr bwMode="auto">
            <a:xfrm>
              <a:off x="1403648" y="3794927"/>
              <a:ext cx="2803872" cy="2025544"/>
            </a:xfrm>
            <a:prstGeom prst="rect">
              <a:avLst/>
            </a:prstGeom>
            <a:noFill/>
            <a:extLst>
              <a:ext uri="{909E8E84-426E-40DD-AFC4-6F175D3DCCD1}">
                <a14:hiddenFill xmlns:a14="http://schemas.microsoft.com/office/drawing/2010/main">
                  <a:solidFill>
                    <a:srgbClr val="FFFFFF"/>
                  </a:solidFill>
                </a14:hiddenFill>
              </a:ext>
            </a:extLst>
          </p:spPr>
        </p:pic>
        <p:sp>
          <p:nvSpPr>
            <p:cNvPr id="15" name="Rettangolo arrotondato 14"/>
            <p:cNvSpPr/>
            <p:nvPr/>
          </p:nvSpPr>
          <p:spPr>
            <a:xfrm>
              <a:off x="1344844" y="5822355"/>
              <a:ext cx="2921479"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err="1">
                  <a:solidFill>
                    <a:srgbClr val="C13E29"/>
                  </a:solidFill>
                  <a:latin typeface="AcmeFont" pitchFamily="2" charset="0"/>
                </a:rPr>
                <a:t>NeuroGenetic</a:t>
              </a:r>
              <a:r>
                <a:rPr lang="it-IT" dirty="0">
                  <a:solidFill>
                    <a:srgbClr val="C13E29"/>
                  </a:solidFill>
                  <a:latin typeface="AcmeFont" pitchFamily="2" charset="0"/>
                </a:rPr>
                <a:t> </a:t>
              </a:r>
              <a:r>
                <a:rPr lang="it-IT" dirty="0" err="1">
                  <a:solidFill>
                    <a:srgbClr val="C13E29"/>
                  </a:solidFill>
                  <a:latin typeface="AcmeFont" pitchFamily="2" charset="0"/>
                </a:rPr>
                <a:t>Algorithm</a:t>
              </a:r>
              <a:r>
                <a:rPr lang="it-IT" dirty="0">
                  <a:ln>
                    <a:noFill/>
                  </a:ln>
                  <a:solidFill>
                    <a:srgbClr val="C00000"/>
                  </a:solidFill>
                  <a:latin typeface="AcmeFont" pitchFamily="2" charset="0"/>
                </a:rPr>
                <a:t> </a:t>
              </a:r>
            </a:p>
          </p:txBody>
        </p:sp>
      </p:grpSp>
      <p:grpSp>
        <p:nvGrpSpPr>
          <p:cNvPr id="16" name="Gruppo 15"/>
          <p:cNvGrpSpPr/>
          <p:nvPr/>
        </p:nvGrpSpPr>
        <p:grpSpPr>
          <a:xfrm>
            <a:off x="6059083" y="3505460"/>
            <a:ext cx="2921479" cy="2531076"/>
            <a:chOff x="4860032" y="3698015"/>
            <a:chExt cx="2921479" cy="2531076"/>
          </a:xfrm>
        </p:grpSpPr>
        <p:sp>
          <p:nvSpPr>
            <p:cNvPr id="17" name="Rettangolo arrotondato 16"/>
            <p:cNvSpPr/>
            <p:nvPr/>
          </p:nvSpPr>
          <p:spPr>
            <a:xfrm>
              <a:off x="5060630" y="3698015"/>
              <a:ext cx="2520281" cy="2136290"/>
            </a:xfrm>
            <a:prstGeom prst="roundRect">
              <a:avLst>
                <a:gd name="adj" fmla="val 10000"/>
              </a:avLst>
            </a:prstGeom>
            <a:blipFill rotWithShape="0">
              <a:blip r:embed="rId4" cstate="print"/>
              <a:srcRect/>
              <a:stretch>
                <a:fillRect l="-17858" r="-10704" b="-6042"/>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1" name="Rettangolo arrotondato 20"/>
            <p:cNvSpPr/>
            <p:nvPr/>
          </p:nvSpPr>
          <p:spPr>
            <a:xfrm>
              <a:off x="4860032" y="5820471"/>
              <a:ext cx="2921479"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Control </a:t>
              </a:r>
              <a:r>
                <a:rPr lang="it-IT" dirty="0" err="1">
                  <a:solidFill>
                    <a:srgbClr val="C00000"/>
                  </a:solidFill>
                  <a:latin typeface="AcmeFont" pitchFamily="2" charset="0"/>
                </a:rPr>
                <a:t>Neural</a:t>
              </a:r>
              <a:r>
                <a:rPr lang="it-IT" dirty="0">
                  <a:solidFill>
                    <a:srgbClr val="C00000"/>
                  </a:solidFill>
                  <a:latin typeface="AcmeFont" pitchFamily="2" charset="0"/>
                </a:rPr>
                <a:t> Network</a:t>
              </a:r>
            </a:p>
          </p:txBody>
        </p:sp>
      </p:grpSp>
    </p:spTree>
    <p:extLst>
      <p:ext uri="{BB962C8B-B14F-4D97-AF65-F5344CB8AC3E}">
        <p14:creationId xmlns:p14="http://schemas.microsoft.com/office/powerpoint/2010/main" val="1915898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15</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71924"/>
            <a:ext cx="11269308" cy="230832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EXPERIMENTAL  SETUP</a:t>
            </a:r>
            <a:br>
              <a:rPr lang="en-US"/>
            </a:br>
            <a:br>
              <a:rPr lang="en-US"/>
            </a:br>
            <a:br>
              <a:rPr lang="it-IT"/>
            </a:br>
            <a:br>
              <a:rPr lang="it-IT"/>
            </a:br>
            <a:r>
              <a:rPr lang="it-IT">
                <a:solidFill>
                  <a:srgbClr val="464646"/>
                </a:solidFill>
              </a:rPr>
              <a:t> </a:t>
            </a:r>
            <a:br>
              <a:rPr lang="it-IT">
                <a:solidFill>
                  <a:srgbClr val="464646"/>
                </a:solidFill>
              </a:rPr>
            </a:br>
            <a:endParaRPr lang="it-IT" dirty="0"/>
          </a:p>
        </p:txBody>
      </p:sp>
      <p:grpSp>
        <p:nvGrpSpPr>
          <p:cNvPr id="11" name="Gruppo 10"/>
          <p:cNvGrpSpPr/>
          <p:nvPr/>
        </p:nvGrpSpPr>
        <p:grpSpPr>
          <a:xfrm>
            <a:off x="5879976" y="1744540"/>
            <a:ext cx="4135058" cy="3637403"/>
            <a:chOff x="4279618" y="2131356"/>
            <a:chExt cx="4135058" cy="3637403"/>
          </a:xfrm>
        </p:grpSpPr>
        <p:pic>
          <p:nvPicPr>
            <p:cNvPr id="12" name="Immagine 13" descr="neural_net1.jpg"/>
            <p:cNvPicPr>
              <a:picLocks noChangeAspect="1"/>
            </p:cNvPicPr>
            <p:nvPr/>
          </p:nvPicPr>
          <p:blipFill rotWithShape="1">
            <a:blip r:embed="rId3">
              <a:extLst>
                <a:ext uri="{28A0092B-C50C-407E-A947-70E740481C1C}">
                  <a14:useLocalDpi xmlns:a14="http://schemas.microsoft.com/office/drawing/2010/main" val="0"/>
                </a:ext>
              </a:extLst>
            </a:blip>
            <a:srcRect b="2518"/>
            <a:stretch/>
          </p:blipFill>
          <p:spPr bwMode="auto">
            <a:xfrm>
              <a:off x="4279618" y="2539976"/>
              <a:ext cx="4135058" cy="3228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ttangolo arrotondato 17"/>
            <p:cNvSpPr/>
            <p:nvPr/>
          </p:nvSpPr>
          <p:spPr>
            <a:xfrm>
              <a:off x="4886408" y="2131356"/>
              <a:ext cx="2921479"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NEURAL NETWORK</a:t>
              </a:r>
            </a:p>
          </p:txBody>
        </p:sp>
      </p:grpSp>
      <p:sp>
        <p:nvSpPr>
          <p:cNvPr id="19" name="CasellaDiTesto 23"/>
          <p:cNvSpPr txBox="1">
            <a:spLocks noChangeArrowheads="1"/>
          </p:cNvSpPr>
          <p:nvPr/>
        </p:nvSpPr>
        <p:spPr bwMode="auto">
          <a:xfrm>
            <a:off x="2024064" y="1428750"/>
            <a:ext cx="80724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it-IT" altLang="it-IT">
              <a:latin typeface="Calibri" pitchFamily="34" charset="0"/>
            </a:endParaRPr>
          </a:p>
        </p:txBody>
      </p:sp>
      <mc:AlternateContent xmlns:mc="http://schemas.openxmlformats.org/markup-compatibility/2006" xmlns:a14="http://schemas.microsoft.com/office/drawing/2010/main">
        <mc:Choice Requires="a14">
          <p:sp>
            <p:nvSpPr>
              <p:cNvPr id="20" name="Rettangolo arrotondato 19"/>
              <p:cNvSpPr/>
              <p:nvPr/>
            </p:nvSpPr>
            <p:spPr>
              <a:xfrm>
                <a:off x="1919537" y="5384619"/>
                <a:ext cx="8534151" cy="888042"/>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ln>
                      <a:noFill/>
                    </a:ln>
                    <a:solidFill>
                      <a:srgbClr val="C13E29"/>
                    </a:solidFill>
                    <a:latin typeface="AcmeFont" pitchFamily="2" charset="0"/>
                  </a:rPr>
                  <a:t>LEAKY </a:t>
                </a:r>
                <a:r>
                  <a:rPr lang="it-IT" dirty="0" err="1">
                    <a:ln>
                      <a:noFill/>
                    </a:ln>
                    <a:solidFill>
                      <a:srgbClr val="C13E29"/>
                    </a:solidFill>
                    <a:latin typeface="AcmeFont" pitchFamily="2" charset="0"/>
                  </a:rPr>
                  <a:t>Activation</a:t>
                </a:r>
                <a:endParaRPr lang="it-IT" dirty="0">
                  <a:ln>
                    <a:noFill/>
                  </a:ln>
                  <a:solidFill>
                    <a:srgbClr val="C13E29"/>
                  </a:solidFill>
                  <a:latin typeface="AcmeFont" pitchFamily="2" charset="0"/>
                </a:endParaRPr>
              </a:p>
              <a:p>
                <a:pPr algn="ctr" defTabSz="914400" fontAlgn="auto" latinLnBrk="1">
                  <a:spcBef>
                    <a:spcPts val="0"/>
                  </a:spcBef>
                  <a:spcAft>
                    <a:spcPts val="0"/>
                  </a:spcAft>
                </a:pPr>
                <a14:m>
                  <m:oMath xmlns:m="http://schemas.openxmlformats.org/officeDocument/2006/math">
                    <m:sSub>
                      <m:sSubPr>
                        <m:ctrlPr>
                          <a:rPr lang="it-IT" b="1" i="1">
                            <a:ln>
                              <a:noFill/>
                            </a:ln>
                            <a:solidFill>
                              <a:srgbClr val="C13E29"/>
                            </a:solidFill>
                            <a:latin typeface="Cambria Math" panose="02040503050406030204" pitchFamily="18" charset="0"/>
                          </a:rPr>
                        </m:ctrlPr>
                      </m:sSubPr>
                      <m:e>
                        <m:r>
                          <a:rPr lang="it-IT" b="1" i="1">
                            <a:ln>
                              <a:noFill/>
                            </a:ln>
                            <a:solidFill>
                              <a:srgbClr val="C13E29"/>
                            </a:solidFill>
                            <a:latin typeface="Cambria Math" panose="02040503050406030204" pitchFamily="18" charset="0"/>
                          </a:rPr>
                          <m:t>𝑨</m:t>
                        </m:r>
                      </m:e>
                      <m:sub>
                        <m:r>
                          <a:rPr lang="it-IT" b="1" i="1">
                            <a:ln>
                              <a:noFill/>
                            </a:ln>
                            <a:solidFill>
                              <a:srgbClr val="C13E29"/>
                            </a:solidFill>
                            <a:latin typeface="Cambria Math" panose="02040503050406030204" pitchFamily="18" charset="0"/>
                          </a:rPr>
                          <m:t>𝒋</m:t>
                        </m:r>
                      </m:sub>
                    </m:sSub>
                    <m:r>
                      <a:rPr lang="it-IT" b="1" i="1">
                        <a:ln>
                          <a:noFill/>
                        </a:ln>
                        <a:solidFill>
                          <a:srgbClr val="C13E29"/>
                        </a:solidFill>
                        <a:latin typeface="Cambria Math" panose="02040503050406030204" pitchFamily="18" charset="0"/>
                      </a:rPr>
                      <m:t>=</m:t>
                    </m:r>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𝒕</m:t>
                        </m:r>
                      </m:e>
                      <m:sub>
                        <m:r>
                          <a:rPr lang="it-IT" b="1" i="1" smtClean="0">
                            <a:ln>
                              <a:noFill/>
                            </a:ln>
                            <a:solidFill>
                              <a:srgbClr val="C13E29"/>
                            </a:solidFill>
                            <a:latin typeface="Cambria Math" panose="02040503050406030204" pitchFamily="18" charset="0"/>
                          </a:rPr>
                          <m:t>𝒋</m:t>
                        </m:r>
                      </m:sub>
                    </m:sSub>
                    <m:r>
                      <a:rPr lang="it-IT" b="1" i="1" smtClean="0">
                        <a:ln>
                          <a:noFill/>
                        </a:ln>
                        <a:solidFill>
                          <a:srgbClr val="C13E29"/>
                        </a:solidFill>
                        <a:latin typeface="Cambria Math" panose="02040503050406030204" pitchFamily="18" charset="0"/>
                      </a:rPr>
                      <m:t>+</m:t>
                    </m:r>
                    <m:nary>
                      <m:naryPr>
                        <m:chr m:val="∑"/>
                        <m:subHide m:val="on"/>
                        <m:supHide m:val="on"/>
                        <m:ctrlPr>
                          <a:rPr lang="it-IT" b="1" i="1" smtClean="0">
                            <a:ln>
                              <a:noFill/>
                            </a:ln>
                            <a:solidFill>
                              <a:srgbClr val="C13E29"/>
                            </a:solidFill>
                            <a:latin typeface="Cambria Math" panose="02040503050406030204" pitchFamily="18" charset="0"/>
                          </a:rPr>
                        </m:ctrlPr>
                      </m:naryPr>
                      <m:sub/>
                      <m:sup/>
                      <m:e>
                        <m:sSub>
                          <m:sSubPr>
                            <m:ctrlPr>
                              <a:rPr lang="it-IT" b="1" i="1">
                                <a:solidFill>
                                  <a:srgbClr val="C13E29"/>
                                </a:solidFill>
                                <a:latin typeface="Cambria Math" panose="02040503050406030204" pitchFamily="18" charset="0"/>
                              </a:rPr>
                            </m:ctrlPr>
                          </m:sSubPr>
                          <m:e>
                            <m:r>
                              <a:rPr lang="it-IT" b="1">
                                <a:solidFill>
                                  <a:srgbClr val="C13E29"/>
                                </a:solidFill>
                                <a:latin typeface="Cambria Math" panose="02040503050406030204" pitchFamily="18" charset="0"/>
                              </a:rPr>
                              <m:t>𝐰</m:t>
                            </m:r>
                          </m:e>
                          <m:sub>
                            <m:r>
                              <a:rPr lang="it-IT" b="1">
                                <a:solidFill>
                                  <a:srgbClr val="C13E29"/>
                                </a:solidFill>
                                <a:latin typeface="Cambria Math" panose="02040503050406030204" pitchFamily="18" charset="0"/>
                              </a:rPr>
                              <m:t>𝐢𝐣</m:t>
                            </m:r>
                          </m:sub>
                        </m:sSub>
                        <m:sSub>
                          <m:sSubPr>
                            <m:ctrlPr>
                              <a:rPr lang="it-IT" b="1" i="1">
                                <a:solidFill>
                                  <a:srgbClr val="C13E29"/>
                                </a:solidFill>
                                <a:latin typeface="Cambria Math" panose="02040503050406030204" pitchFamily="18" charset="0"/>
                              </a:rPr>
                            </m:ctrlPr>
                          </m:sSubPr>
                          <m:e>
                            <m:r>
                              <a:rPr lang="it-IT" b="1">
                                <a:solidFill>
                                  <a:srgbClr val="C13E29"/>
                                </a:solidFill>
                                <a:latin typeface="Cambria Math" panose="02040503050406030204" pitchFamily="18" charset="0"/>
                              </a:rPr>
                              <m:t>𝐎</m:t>
                            </m:r>
                          </m:e>
                          <m:sub>
                            <m:r>
                              <a:rPr lang="it-IT" b="1">
                                <a:solidFill>
                                  <a:srgbClr val="C13E29"/>
                                </a:solidFill>
                                <a:latin typeface="Cambria Math" panose="02040503050406030204" pitchFamily="18" charset="0"/>
                              </a:rPr>
                              <m:t>𝐢</m:t>
                            </m:r>
                          </m:sub>
                        </m:sSub>
                      </m:e>
                    </m:nary>
                  </m:oMath>
                </a14:m>
                <a:r>
                  <a:rPr lang="it-IT" i="0" dirty="0">
                    <a:solidFill>
                      <a:srgbClr val="C13E29"/>
                    </a:solidFill>
                    <a:latin typeface="+mj-lt"/>
                  </a:rPr>
                  <a:t> , </a:t>
                </a:r>
                <a14:m>
                  <m:oMath xmlns:m="http://schemas.openxmlformats.org/officeDocument/2006/math">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𝑶</m:t>
                        </m:r>
                      </m:e>
                      <m:sub>
                        <m:r>
                          <a:rPr lang="it-IT" b="1" i="1" smtClean="0">
                            <a:ln>
                              <a:noFill/>
                            </a:ln>
                            <a:solidFill>
                              <a:srgbClr val="C13E29"/>
                            </a:solidFill>
                            <a:latin typeface="Cambria Math" panose="02040503050406030204" pitchFamily="18" charset="0"/>
                          </a:rPr>
                          <m:t>𝒋</m:t>
                        </m:r>
                      </m:sub>
                    </m:sSub>
                    <m:r>
                      <a:rPr lang="it-IT" b="1" i="1" smtClean="0">
                        <a:ln>
                          <a:noFill/>
                        </a:ln>
                        <a:solidFill>
                          <a:srgbClr val="C13E29"/>
                        </a:solidFill>
                        <a:latin typeface="Cambria Math" panose="02040503050406030204" pitchFamily="18" charset="0"/>
                      </a:rPr>
                      <m:t>=</m:t>
                    </m:r>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𝜹</m:t>
                        </m:r>
                      </m:e>
                      <m:sub>
                        <m:r>
                          <a:rPr lang="it-IT" b="1" i="1" smtClean="0">
                            <a:ln>
                              <a:noFill/>
                            </a:ln>
                            <a:solidFill>
                              <a:srgbClr val="C13E29"/>
                            </a:solidFill>
                            <a:latin typeface="Cambria Math" panose="02040503050406030204" pitchFamily="18" charset="0"/>
                          </a:rPr>
                          <m:t>𝒋</m:t>
                        </m:r>
                      </m:sub>
                    </m:sSub>
                    <m:sSup>
                      <m:sSupPr>
                        <m:ctrlPr>
                          <a:rPr lang="it-IT" b="1" i="1" smtClean="0">
                            <a:ln>
                              <a:noFill/>
                            </a:ln>
                            <a:solidFill>
                              <a:srgbClr val="C13E29"/>
                            </a:solidFill>
                            <a:latin typeface="Cambria Math" panose="02040503050406030204" pitchFamily="18" charset="0"/>
                          </a:rPr>
                        </m:ctrlPr>
                      </m:sSupPr>
                      <m:e>
                        <m:r>
                          <a:rPr lang="it-IT" b="1" i="1" smtClean="0">
                            <a:ln>
                              <a:noFill/>
                            </a:ln>
                            <a:solidFill>
                              <a:srgbClr val="C13E29"/>
                            </a:solidFill>
                            <a:latin typeface="Cambria Math" panose="02040503050406030204" pitchFamily="18" charset="0"/>
                          </a:rPr>
                          <m:t>𝑶</m:t>
                        </m:r>
                      </m:e>
                      <m:sup>
                        <m:r>
                          <a:rPr lang="it-IT" b="1" i="1" smtClean="0">
                            <a:ln>
                              <a:noFill/>
                            </a:ln>
                            <a:solidFill>
                              <a:srgbClr val="C13E29"/>
                            </a:solidFill>
                            <a:latin typeface="Cambria Math" panose="02040503050406030204" pitchFamily="18" charset="0"/>
                          </a:rPr>
                          <m:t>𝒕</m:t>
                        </m:r>
                        <m:r>
                          <a:rPr lang="it-IT" b="1" i="1" smtClean="0">
                            <a:ln>
                              <a:noFill/>
                            </a:ln>
                            <a:solidFill>
                              <a:srgbClr val="C13E29"/>
                            </a:solidFill>
                            <a:latin typeface="Cambria Math" panose="02040503050406030204" pitchFamily="18" charset="0"/>
                          </a:rPr>
                          <m:t>−</m:t>
                        </m:r>
                        <m:r>
                          <a:rPr lang="it-IT" b="1" i="1" smtClean="0">
                            <a:ln>
                              <a:noFill/>
                            </a:ln>
                            <a:solidFill>
                              <a:srgbClr val="C13E29"/>
                            </a:solidFill>
                            <a:latin typeface="Cambria Math" panose="02040503050406030204" pitchFamily="18" charset="0"/>
                          </a:rPr>
                          <m:t>𝟏</m:t>
                        </m:r>
                      </m:sup>
                    </m:sSup>
                    <m:r>
                      <a:rPr lang="it-IT" b="1" i="1" smtClean="0">
                        <a:ln>
                          <a:noFill/>
                        </a:ln>
                        <a:solidFill>
                          <a:srgbClr val="C13E29"/>
                        </a:solidFill>
                        <a:latin typeface="Cambria Math" panose="02040503050406030204" pitchFamily="18" charset="0"/>
                      </a:rPr>
                      <m:t>+</m:t>
                    </m:r>
                    <m:d>
                      <m:dPr>
                        <m:ctrlPr>
                          <a:rPr lang="it-IT" b="1" i="1" smtClean="0">
                            <a:ln>
                              <a:noFill/>
                            </a:ln>
                            <a:solidFill>
                              <a:srgbClr val="C13E29"/>
                            </a:solidFill>
                            <a:latin typeface="Cambria Math" panose="02040503050406030204" pitchFamily="18" charset="0"/>
                          </a:rPr>
                        </m:ctrlPr>
                      </m:dPr>
                      <m:e>
                        <m:r>
                          <a:rPr lang="it-IT" b="1" i="1" smtClean="0">
                            <a:ln>
                              <a:noFill/>
                            </a:ln>
                            <a:solidFill>
                              <a:srgbClr val="C13E29"/>
                            </a:solidFill>
                            <a:latin typeface="Cambria Math" panose="02040503050406030204" pitchFamily="18" charset="0"/>
                          </a:rPr>
                          <m:t>𝟏</m:t>
                        </m:r>
                        <m:r>
                          <a:rPr lang="it-IT" b="1" i="1" smtClean="0">
                            <a:ln>
                              <a:noFill/>
                            </a:ln>
                            <a:solidFill>
                              <a:srgbClr val="C13E29"/>
                            </a:solidFill>
                            <a:latin typeface="Cambria Math" panose="02040503050406030204" pitchFamily="18" charset="0"/>
                          </a:rPr>
                          <m:t>−</m:t>
                        </m:r>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𝜹</m:t>
                            </m:r>
                          </m:e>
                          <m:sub>
                            <m:r>
                              <a:rPr lang="it-IT" b="1" i="1" smtClean="0">
                                <a:ln>
                                  <a:noFill/>
                                </a:ln>
                                <a:solidFill>
                                  <a:srgbClr val="C13E29"/>
                                </a:solidFill>
                                <a:latin typeface="Cambria Math" panose="02040503050406030204" pitchFamily="18" charset="0"/>
                              </a:rPr>
                              <m:t>𝒋</m:t>
                            </m:r>
                          </m:sub>
                        </m:sSub>
                      </m:e>
                    </m:d>
                    <m:d>
                      <m:dPr>
                        <m:ctrlPr>
                          <a:rPr lang="it-IT" b="1" i="1" smtClean="0">
                            <a:ln>
                              <a:noFill/>
                            </a:ln>
                            <a:solidFill>
                              <a:srgbClr val="C13E29"/>
                            </a:solidFill>
                            <a:latin typeface="Cambria Math" panose="02040503050406030204" pitchFamily="18" charset="0"/>
                          </a:rPr>
                        </m:ctrlPr>
                      </m:dPr>
                      <m:e>
                        <m:r>
                          <a:rPr lang="it-IT" b="1" i="1" smtClean="0">
                            <a:ln>
                              <a:noFill/>
                            </a:ln>
                            <a:solidFill>
                              <a:srgbClr val="C13E29"/>
                            </a:solidFill>
                            <a:latin typeface="Cambria Math" panose="02040503050406030204" pitchFamily="18" charset="0"/>
                          </a:rPr>
                          <m:t>𝟏</m:t>
                        </m:r>
                        <m:r>
                          <a:rPr lang="it-IT" b="1" i="1" smtClean="0">
                            <a:ln>
                              <a:noFill/>
                            </a:ln>
                            <a:solidFill>
                              <a:srgbClr val="C13E29"/>
                            </a:solidFill>
                            <a:latin typeface="Cambria Math" panose="02040503050406030204" pitchFamily="18" charset="0"/>
                          </a:rPr>
                          <m:t>+</m:t>
                        </m:r>
                        <m:f>
                          <m:fPr>
                            <m:ctrlPr>
                              <a:rPr lang="it-IT" b="1" i="1" smtClean="0">
                                <a:ln>
                                  <a:noFill/>
                                </a:ln>
                                <a:solidFill>
                                  <a:srgbClr val="C13E29"/>
                                </a:solidFill>
                                <a:latin typeface="Cambria Math" panose="02040503050406030204" pitchFamily="18" charset="0"/>
                              </a:rPr>
                            </m:ctrlPr>
                          </m:fPr>
                          <m:num>
                            <m:r>
                              <a:rPr lang="it-IT" b="1" i="1" smtClean="0">
                                <a:ln>
                                  <a:noFill/>
                                </a:ln>
                                <a:solidFill>
                                  <a:srgbClr val="C13E29"/>
                                </a:solidFill>
                                <a:latin typeface="Cambria Math" panose="02040503050406030204" pitchFamily="18" charset="0"/>
                              </a:rPr>
                              <m:t>𝟏</m:t>
                            </m:r>
                          </m:num>
                          <m:den>
                            <m:sSup>
                              <m:sSupPr>
                                <m:ctrlPr>
                                  <a:rPr lang="it-IT" b="1" i="1" smtClean="0">
                                    <a:ln>
                                      <a:noFill/>
                                    </a:ln>
                                    <a:solidFill>
                                      <a:srgbClr val="C13E29"/>
                                    </a:solidFill>
                                    <a:latin typeface="Cambria Math" panose="02040503050406030204" pitchFamily="18" charset="0"/>
                                  </a:rPr>
                                </m:ctrlPr>
                              </m:sSupPr>
                              <m:e>
                                <m:r>
                                  <a:rPr lang="it-IT" b="1" i="1" smtClean="0">
                                    <a:ln>
                                      <a:noFill/>
                                    </a:ln>
                                    <a:solidFill>
                                      <a:srgbClr val="C13E29"/>
                                    </a:solidFill>
                                    <a:latin typeface="Cambria Math" panose="02040503050406030204" pitchFamily="18" charset="0"/>
                                  </a:rPr>
                                  <m:t>𝒆</m:t>
                                </m:r>
                              </m:e>
                              <m:sup>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𝑨</m:t>
                                    </m:r>
                                  </m:e>
                                  <m:sub>
                                    <m:r>
                                      <a:rPr lang="it-IT" b="1" i="1" smtClean="0">
                                        <a:ln>
                                          <a:noFill/>
                                        </a:ln>
                                        <a:solidFill>
                                          <a:srgbClr val="C13E29"/>
                                        </a:solidFill>
                                        <a:latin typeface="Cambria Math" panose="02040503050406030204" pitchFamily="18" charset="0"/>
                                      </a:rPr>
                                      <m:t>𝒋</m:t>
                                    </m:r>
                                  </m:sub>
                                </m:sSub>
                              </m:sup>
                            </m:sSup>
                          </m:den>
                        </m:f>
                      </m:e>
                    </m:d>
                    <m:r>
                      <a:rPr lang="it-IT" b="1" i="1" smtClean="0">
                        <a:ln>
                          <a:noFill/>
                        </a:ln>
                        <a:solidFill>
                          <a:srgbClr val="C13E29"/>
                        </a:solidFill>
                        <a:latin typeface="Cambria Math" panose="02040503050406030204" pitchFamily="18" charset="0"/>
                      </a:rPr>
                      <m:t>, </m:t>
                    </m:r>
                    <m:r>
                      <a:rPr lang="it-IT" b="1" i="1" smtClean="0">
                        <a:ln>
                          <a:noFill/>
                        </a:ln>
                        <a:solidFill>
                          <a:srgbClr val="C13E29"/>
                        </a:solidFill>
                        <a:latin typeface="Cambria Math" panose="02040503050406030204" pitchFamily="18" charset="0"/>
                      </a:rPr>
                      <m:t>𝟎</m:t>
                    </m:r>
                    <m:r>
                      <a:rPr lang="it-IT" b="1" i="1" smtClean="0">
                        <a:ln>
                          <a:noFill/>
                        </a:ln>
                        <a:solidFill>
                          <a:srgbClr val="C13E29"/>
                        </a:solidFill>
                        <a:latin typeface="Cambria Math" panose="02040503050406030204" pitchFamily="18" charset="0"/>
                      </a:rPr>
                      <m:t>≤</m:t>
                    </m:r>
                    <m:sSub>
                      <m:sSubPr>
                        <m:ctrlPr>
                          <a:rPr lang="it-IT" b="1" i="1" smtClean="0">
                            <a:ln>
                              <a:noFill/>
                            </a:ln>
                            <a:solidFill>
                              <a:srgbClr val="C13E29"/>
                            </a:solidFill>
                            <a:latin typeface="Cambria Math" panose="02040503050406030204" pitchFamily="18" charset="0"/>
                          </a:rPr>
                        </m:ctrlPr>
                      </m:sSubPr>
                      <m:e>
                        <m:r>
                          <a:rPr lang="it-IT" b="1" i="1" smtClean="0">
                            <a:ln>
                              <a:noFill/>
                            </a:ln>
                            <a:solidFill>
                              <a:srgbClr val="C13E29"/>
                            </a:solidFill>
                            <a:latin typeface="Cambria Math" panose="02040503050406030204" pitchFamily="18" charset="0"/>
                          </a:rPr>
                          <m:t>𝜹</m:t>
                        </m:r>
                      </m:e>
                      <m:sub>
                        <m:r>
                          <a:rPr lang="it-IT" b="1" i="1" smtClean="0">
                            <a:ln>
                              <a:noFill/>
                            </a:ln>
                            <a:solidFill>
                              <a:srgbClr val="C13E29"/>
                            </a:solidFill>
                            <a:latin typeface="Cambria Math" panose="02040503050406030204" pitchFamily="18" charset="0"/>
                          </a:rPr>
                          <m:t>𝒋</m:t>
                        </m:r>
                      </m:sub>
                    </m:sSub>
                    <m:r>
                      <a:rPr lang="it-IT" b="1" i="1" smtClean="0">
                        <a:ln>
                          <a:noFill/>
                        </a:ln>
                        <a:solidFill>
                          <a:srgbClr val="C13E29"/>
                        </a:solidFill>
                        <a:latin typeface="Cambria Math" panose="02040503050406030204" pitchFamily="18" charset="0"/>
                      </a:rPr>
                      <m:t>≤</m:t>
                    </m:r>
                    <m:r>
                      <a:rPr lang="it-IT" b="1" i="1" smtClean="0">
                        <a:ln>
                          <a:noFill/>
                        </a:ln>
                        <a:solidFill>
                          <a:srgbClr val="C13E29"/>
                        </a:solidFill>
                        <a:latin typeface="Cambria Math" panose="02040503050406030204" pitchFamily="18" charset="0"/>
                      </a:rPr>
                      <m:t>𝟏</m:t>
                    </m:r>
                  </m:oMath>
                </a14:m>
                <a:endParaRPr lang="it-IT" dirty="0">
                  <a:ln>
                    <a:noFill/>
                  </a:ln>
                  <a:solidFill>
                    <a:srgbClr val="C00000"/>
                  </a:solidFill>
                  <a:latin typeface="AcmeFont" pitchFamily="2" charset="0"/>
                </a:endParaRPr>
              </a:p>
            </p:txBody>
          </p:sp>
        </mc:Choice>
        <mc:Fallback xmlns="">
          <p:sp>
            <p:nvSpPr>
              <p:cNvPr id="20" name="Rettangolo arrotondato 19"/>
              <p:cNvSpPr>
                <a:spLocks noRot="1" noChangeAspect="1" noMove="1" noResize="1" noEditPoints="1" noAdjustHandles="1" noChangeArrowheads="1" noChangeShapeType="1" noTextEdit="1"/>
              </p:cNvSpPr>
              <p:nvPr/>
            </p:nvSpPr>
            <p:spPr>
              <a:xfrm>
                <a:off x="1919537" y="5384619"/>
                <a:ext cx="8534151" cy="888042"/>
              </a:xfrm>
              <a:prstGeom prst="roundRect">
                <a:avLst/>
              </a:prstGeom>
              <a:blipFill>
                <a:blip r:embed="rId4"/>
                <a:stretch>
                  <a:fillRect/>
                </a:stretch>
              </a:blipFill>
              <a:ln w="25400" cap="flat">
                <a:noFill/>
                <a:prstDash val="solid"/>
                <a:bevel/>
              </a:ln>
              <a:effectLst>
                <a:outerShdw blurRad="44450" dist="27940" dir="5400000" algn="ctr">
                  <a:srgbClr val="000000">
                    <a:alpha val="32000"/>
                  </a:srgbClr>
                </a:outerShdw>
              </a:effectLst>
            </p:spPr>
            <p:txBody>
              <a:bodyPr/>
              <a:lstStyle/>
              <a:p>
                <a:r>
                  <a:rPr lang="it-IT">
                    <a:noFill/>
                  </a:rPr>
                  <a:t> </a:t>
                </a:r>
              </a:p>
            </p:txBody>
          </p:sp>
        </mc:Fallback>
      </mc:AlternateContent>
      <p:grpSp>
        <p:nvGrpSpPr>
          <p:cNvPr id="22" name="Gruppo 21"/>
          <p:cNvGrpSpPr/>
          <p:nvPr/>
        </p:nvGrpSpPr>
        <p:grpSpPr>
          <a:xfrm>
            <a:off x="2135560" y="1740775"/>
            <a:ext cx="4361342" cy="2393107"/>
            <a:chOff x="251520" y="2665434"/>
            <a:chExt cx="4361342" cy="2393107"/>
          </a:xfrm>
        </p:grpSpPr>
        <p:pic>
          <p:nvPicPr>
            <p:cNvPr id="23" name="Immagine 20" descr="Robot chassis.jpg"/>
            <p:cNvPicPr>
              <a:picLocks noChangeAspect="1"/>
            </p:cNvPicPr>
            <p:nvPr/>
          </p:nvPicPr>
          <p:blipFill rotWithShape="1">
            <a:blip r:embed="rId5">
              <a:extLst>
                <a:ext uri="{28A0092B-C50C-407E-A947-70E740481C1C}">
                  <a14:useLocalDpi xmlns:a14="http://schemas.microsoft.com/office/drawing/2010/main" val="0"/>
                </a:ext>
              </a:extLst>
            </a:blip>
            <a:srcRect l="-4" t="15154" r="1785" b="9075"/>
            <a:stretch/>
          </p:blipFill>
          <p:spPr bwMode="auto">
            <a:xfrm>
              <a:off x="251520" y="3076113"/>
              <a:ext cx="4361342" cy="1982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Rettangolo arrotondato 23"/>
            <p:cNvSpPr/>
            <p:nvPr/>
          </p:nvSpPr>
          <p:spPr>
            <a:xfrm>
              <a:off x="971600" y="2665434"/>
              <a:ext cx="2921479"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ROBOT’S CHASSIS</a:t>
              </a:r>
            </a:p>
          </p:txBody>
        </p:sp>
      </p:grpSp>
    </p:spTree>
    <p:extLst>
      <p:ext uri="{BB962C8B-B14F-4D97-AF65-F5344CB8AC3E}">
        <p14:creationId xmlns:p14="http://schemas.microsoft.com/office/powerpoint/2010/main" val="3380630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16</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84926" y="351199"/>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Evolutionary robotics</a:t>
            </a:r>
            <a:br>
              <a:rPr lang="en-US"/>
            </a:br>
            <a:br>
              <a:rPr lang="it-IT"/>
            </a:br>
            <a:br>
              <a:rPr lang="it-IT"/>
            </a:br>
            <a:r>
              <a:rPr lang="it-IT">
                <a:solidFill>
                  <a:srgbClr val="464646"/>
                </a:solidFill>
              </a:rPr>
              <a:t> </a:t>
            </a:r>
            <a:br>
              <a:rPr lang="it-IT">
                <a:solidFill>
                  <a:srgbClr val="464646"/>
                </a:solidFill>
              </a:rPr>
            </a:br>
            <a:endParaRPr lang="it-IT" dirty="0"/>
          </a:p>
        </p:txBody>
      </p:sp>
      <p:pic>
        <p:nvPicPr>
          <p:cNvPr id="4" name="Picture 11" descr="fig1Def"/>
          <p:cNvPicPr>
            <a:picLocks noChangeAspect="1" noChangeArrowheads="1"/>
          </p:cNvPicPr>
          <p:nvPr/>
        </p:nvPicPr>
        <p:blipFill rotWithShape="1">
          <a:blip r:embed="rId3" cstate="print"/>
          <a:srcRect l="1123" t="5931" r="1123" b="12755"/>
          <a:stretch/>
        </p:blipFill>
        <p:spPr bwMode="auto">
          <a:xfrm>
            <a:off x="1670910" y="1313000"/>
            <a:ext cx="8298291" cy="4864515"/>
          </a:xfrm>
          <a:prstGeom prst="rect">
            <a:avLst/>
          </a:prstGeom>
          <a:noFill/>
          <a:ln w="25400">
            <a:solidFill>
              <a:schemeClr val="tx2"/>
            </a:solidFill>
            <a:miter lim="800000"/>
            <a:headEnd/>
            <a:tailEnd/>
          </a:ln>
        </p:spPr>
      </p:pic>
    </p:spTree>
    <p:extLst>
      <p:ext uri="{BB962C8B-B14F-4D97-AF65-F5344CB8AC3E}">
        <p14:creationId xmlns:p14="http://schemas.microsoft.com/office/powerpoint/2010/main" val="3803034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17</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44056"/>
            <a:ext cx="11269308" cy="230832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EXPERIMENTAL  SETUP N.1 </a:t>
            </a:r>
            <a:br>
              <a:rPr lang="en-US"/>
            </a:br>
            <a:br>
              <a:rPr lang="en-US"/>
            </a:br>
            <a:br>
              <a:rPr lang="it-IT"/>
            </a:br>
            <a:br>
              <a:rPr lang="it-IT"/>
            </a:br>
            <a:r>
              <a:rPr lang="it-IT">
                <a:solidFill>
                  <a:srgbClr val="464646"/>
                </a:solidFill>
              </a:rPr>
              <a:t> </a:t>
            </a:r>
            <a:br>
              <a:rPr lang="it-IT">
                <a:solidFill>
                  <a:srgbClr val="464646"/>
                </a:solidFill>
              </a:rPr>
            </a:br>
            <a:endParaRPr lang="it-IT"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2087" y="3715981"/>
            <a:ext cx="5651841" cy="2513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ttangolo arrotondato 5"/>
          <p:cNvSpPr/>
          <p:nvPr/>
        </p:nvSpPr>
        <p:spPr>
          <a:xfrm>
            <a:off x="4980863" y="3530889"/>
            <a:ext cx="2374286"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FITNESS CURVE</a:t>
            </a:r>
          </a:p>
        </p:txBody>
      </p:sp>
      <p:sp>
        <p:nvSpPr>
          <p:cNvPr id="7" name="Ovale 6"/>
          <p:cNvSpPr/>
          <p:nvPr/>
        </p:nvSpPr>
        <p:spPr>
          <a:xfrm>
            <a:off x="2603612" y="2376573"/>
            <a:ext cx="6984776" cy="519348"/>
          </a:xfrm>
          <a:prstGeom prst="ellipse">
            <a:avLst/>
          </a:prstGeom>
          <a:solidFill>
            <a:schemeClr val="bg1"/>
          </a:solidFill>
          <a:ln w="25400" cap="flat">
            <a:noFill/>
            <a:prstDash val="solid"/>
            <a:bevel/>
          </a:ln>
          <a:effectLst>
            <a:outerShdw blurRad="38100" dist="23000" dir="5400000" rotWithShape="0">
              <a:srgbClr val="000000">
                <a:alpha val="35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defTabSz="914400" fontAlgn="auto" latinLnBrk="1">
              <a:spcBef>
                <a:spcPts val="0"/>
              </a:spcBef>
              <a:spcAft>
                <a:spcPts val="0"/>
              </a:spcAft>
            </a:pPr>
            <a:endParaRPr lang="it-IT">
              <a:solidFill>
                <a:srgbClr val="000000"/>
              </a:solidFill>
              <a:latin typeface="Calibri"/>
              <a:ea typeface="Calibri"/>
              <a:cs typeface="Calibri"/>
              <a:sym typeface="Calibri"/>
            </a:endParaRPr>
          </a:p>
        </p:txBody>
      </p:sp>
      <p:pic>
        <p:nvPicPr>
          <p:cNvPr id="8"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73826" t="41986" r="11107" b="8243"/>
          <a:stretch/>
        </p:blipFill>
        <p:spPr bwMode="auto">
          <a:xfrm>
            <a:off x="7717160" y="2178143"/>
            <a:ext cx="720080" cy="8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39092" t="19562" r="39815" b="14972"/>
          <a:stretch/>
        </p:blipFill>
        <p:spPr bwMode="auto">
          <a:xfrm>
            <a:off x="6295641" y="2014216"/>
            <a:ext cx="1008112" cy="1080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763" t="5857" r="77401" b="9840"/>
          <a:stretch/>
        </p:blipFill>
        <p:spPr bwMode="auto">
          <a:xfrm>
            <a:off x="5142728" y="1819101"/>
            <a:ext cx="995835" cy="1390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ttangolo arrotondato 10"/>
          <p:cNvSpPr/>
          <p:nvPr/>
        </p:nvSpPr>
        <p:spPr>
          <a:xfrm>
            <a:off x="3064564" y="2436583"/>
            <a:ext cx="1698767"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RESULTS</a:t>
            </a:r>
          </a:p>
        </p:txBody>
      </p:sp>
    </p:spTree>
    <p:extLst>
      <p:ext uri="{BB962C8B-B14F-4D97-AF65-F5344CB8AC3E}">
        <p14:creationId xmlns:p14="http://schemas.microsoft.com/office/powerpoint/2010/main" val="2032315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18</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70516"/>
            <a:ext cx="11269308" cy="230832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Emergence of Leadership in Robots</a:t>
            </a:r>
            <a:br>
              <a:rPr lang="en-US"/>
            </a:br>
            <a:br>
              <a:rPr lang="en-US"/>
            </a:br>
            <a:br>
              <a:rPr lang="it-IT"/>
            </a:br>
            <a:br>
              <a:rPr lang="it-IT"/>
            </a:br>
            <a:r>
              <a:rPr lang="it-IT">
                <a:solidFill>
                  <a:srgbClr val="464646"/>
                </a:solidFill>
              </a:rPr>
              <a:t> </a:t>
            </a:r>
            <a:br>
              <a:rPr lang="it-IT">
                <a:solidFill>
                  <a:srgbClr val="464646"/>
                </a:solidFill>
              </a:rPr>
            </a:br>
            <a:endParaRPr lang="it-IT" dirty="0"/>
          </a:p>
        </p:txBody>
      </p:sp>
      <p:sp>
        <p:nvSpPr>
          <p:cNvPr id="4" name="CasellaDiTesto 3"/>
          <p:cNvSpPr txBox="1"/>
          <p:nvPr/>
        </p:nvSpPr>
        <p:spPr>
          <a:xfrm>
            <a:off x="7032885" y="5707949"/>
            <a:ext cx="2160587" cy="461962"/>
          </a:xfrm>
          <a:prstGeom prst="rect">
            <a:avLst/>
          </a:prstGeom>
          <a:noFill/>
        </p:spPr>
        <p:txBody>
          <a:bodyPr>
            <a:spAutoFit/>
          </a:bodyPr>
          <a:lstStyle/>
          <a:p>
            <a:pPr marL="457200" indent="-457200" fontAlgn="auto">
              <a:spcBef>
                <a:spcPts val="0"/>
              </a:spcBef>
              <a:spcAft>
                <a:spcPts val="0"/>
              </a:spcAft>
              <a:defRPr/>
            </a:pPr>
            <a:r>
              <a:rPr lang="it-IT" sz="2400" b="1" cap="small" dirty="0">
                <a:latin typeface="+mn-lt"/>
              </a:rPr>
              <a:t>    </a:t>
            </a:r>
            <a:endParaRPr lang="it-IT" dirty="0">
              <a:latin typeface="+mn-lt"/>
            </a:endParaRPr>
          </a:p>
        </p:txBody>
      </p:sp>
      <p:grpSp>
        <p:nvGrpSpPr>
          <p:cNvPr id="6" name="Gruppo 5"/>
          <p:cNvGrpSpPr/>
          <p:nvPr/>
        </p:nvGrpSpPr>
        <p:grpSpPr>
          <a:xfrm>
            <a:off x="6244341" y="1407643"/>
            <a:ext cx="3679380" cy="4617187"/>
            <a:chOff x="4603490" y="1551044"/>
            <a:chExt cx="3679380" cy="4617187"/>
          </a:xfrm>
        </p:grpSpPr>
        <p:pic>
          <p:nvPicPr>
            <p:cNvPr id="7"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52" t="1726" r="53702" b="7576"/>
            <a:stretch/>
          </p:blipFill>
          <p:spPr bwMode="auto">
            <a:xfrm>
              <a:off x="4603490" y="1551044"/>
              <a:ext cx="1728192" cy="4617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72" r="13515"/>
            <a:stretch/>
          </p:blipFill>
          <p:spPr bwMode="auto">
            <a:xfrm>
              <a:off x="6353180" y="1563758"/>
              <a:ext cx="1929690" cy="45661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9" name="Shape 170"/>
          <p:cNvSpPr/>
          <p:nvPr/>
        </p:nvSpPr>
        <p:spPr>
          <a:xfrm>
            <a:off x="1632457" y="1407643"/>
            <a:ext cx="4838620" cy="3663019"/>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marL="342900" indent="-342900">
              <a:lnSpc>
                <a:spcPct val="80000"/>
              </a:lnSpc>
              <a:buFont typeface="Arial" panose="020B0604020202020204" pitchFamily="34" charset="0"/>
              <a:buChar char="•"/>
            </a:pPr>
            <a:r>
              <a:rPr lang="en-US" sz="2200" dirty="0" err="1">
                <a:latin typeface="Arial" panose="020B0604020202020204" pitchFamily="34" charset="0"/>
                <a:cs typeface="Arial" panose="020B0604020202020204" pitchFamily="34" charset="0"/>
              </a:rPr>
              <a:t>Behavioural</a:t>
            </a:r>
            <a:r>
              <a:rPr lang="en-US" sz="2200" dirty="0">
                <a:latin typeface="Arial" panose="020B0604020202020204" pitchFamily="34" charset="0"/>
                <a:cs typeface="Arial" panose="020B0604020202020204" pitchFamily="34" charset="0"/>
              </a:rPr>
              <a:t> and quantitative analysis indicate that a form of leadership emerges</a:t>
            </a:r>
          </a:p>
          <a:p>
            <a:pPr lvl="0" algn="l">
              <a:lnSpc>
                <a:spcPct val="80000"/>
              </a:lnSpc>
            </a:pPr>
            <a:endParaRPr lang="en-US"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sz="2200" dirty="0">
                <a:latin typeface="Arial" panose="020B0604020202020204" pitchFamily="34" charset="0"/>
                <a:cs typeface="Arial" panose="020B0604020202020204" pitchFamily="34" charset="0"/>
              </a:rPr>
              <a:t>Groups with a leader are more effective than groups without.</a:t>
            </a:r>
          </a:p>
          <a:p>
            <a:pPr lvl="0" algn="l">
              <a:lnSpc>
                <a:spcPct val="80000"/>
              </a:lnSpc>
            </a:pPr>
            <a:endParaRPr lang="en-US"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sz="2200" dirty="0">
                <a:latin typeface="Arial" panose="020B0604020202020204" pitchFamily="34" charset="0"/>
                <a:cs typeface="Arial" panose="020B0604020202020204" pitchFamily="34" charset="0"/>
              </a:rPr>
              <a:t>The most skilled individuals in a group tend to be the leaders. </a:t>
            </a:r>
          </a:p>
          <a:p>
            <a:pPr lvl="0" algn="l">
              <a:lnSpc>
                <a:spcPct val="80000"/>
              </a:lnSpc>
            </a:pPr>
            <a:endParaRPr lang="en-US" dirty="0">
              <a:latin typeface="Arial" panose="020B0604020202020204" pitchFamily="34" charset="0"/>
              <a:cs typeface="Arial" panose="020B0604020202020204" pitchFamily="34" charset="0"/>
            </a:endParaRPr>
          </a:p>
          <a:p>
            <a:pPr marL="342900" indent="-342900">
              <a:lnSpc>
                <a:spcPct val="80000"/>
              </a:lnSpc>
              <a:buFont typeface="Arial" panose="020B0604020202020204" pitchFamily="34" charset="0"/>
              <a:buChar char="•"/>
            </a:pPr>
            <a:r>
              <a:rPr lang="en-US" sz="2200" dirty="0">
                <a:latin typeface="Arial" panose="020B0604020202020204" pitchFamily="34" charset="0"/>
                <a:cs typeface="Arial" panose="020B0604020202020204" pitchFamily="34" charset="0"/>
              </a:rPr>
              <a:t>Further analysis reveals the emergence of different “styles” of leadership (active and passive).</a:t>
            </a:r>
            <a:endParaRPr sz="2200" dirty="0">
              <a:latin typeface="Arial" panose="020B0604020202020204" pitchFamily="34" charset="0"/>
              <a:cs typeface="Arial" panose="020B0604020202020204" pitchFamily="34" charset="0"/>
            </a:endParaRPr>
          </a:p>
        </p:txBody>
      </p:sp>
      <p:sp>
        <p:nvSpPr>
          <p:cNvPr id="10" name="CasellaDiTesto 9"/>
          <p:cNvSpPr txBox="1"/>
          <p:nvPr/>
        </p:nvSpPr>
        <p:spPr>
          <a:xfrm>
            <a:off x="1552596" y="5188466"/>
            <a:ext cx="4912253" cy="9541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defTabSz="914400" fontAlgn="auto" latinLnBrk="1">
              <a:spcBef>
                <a:spcPts val="0"/>
              </a:spcBef>
              <a:spcAft>
                <a:spcPts val="0"/>
              </a:spcAft>
            </a:pPr>
            <a:r>
              <a:rPr lang="it-IT" sz="1400" i="1" dirty="0">
                <a:solidFill>
                  <a:srgbClr val="000000"/>
                </a:solidFill>
                <a:latin typeface="Arial" panose="020B0604020202020204" pitchFamily="34" charset="0"/>
                <a:cs typeface="Arial" panose="020B0604020202020204" pitchFamily="34" charset="0"/>
              </a:rPr>
              <a:t>- A -  Passive Leadership. - B -  </a:t>
            </a:r>
            <a:r>
              <a:rPr lang="it-IT" sz="1400" i="1" dirty="0" err="1">
                <a:solidFill>
                  <a:srgbClr val="000000"/>
                </a:solidFill>
                <a:latin typeface="Arial" panose="020B0604020202020204" pitchFamily="34" charset="0"/>
                <a:cs typeface="Arial" panose="020B0604020202020204" pitchFamily="34" charset="0"/>
              </a:rPr>
              <a:t>Weak</a:t>
            </a:r>
            <a:r>
              <a:rPr lang="it-IT" sz="1400" i="1" dirty="0">
                <a:solidFill>
                  <a:srgbClr val="000000"/>
                </a:solidFill>
                <a:latin typeface="Arial" panose="020B0604020202020204" pitchFamily="34" charset="0"/>
                <a:cs typeface="Arial" panose="020B0604020202020204" pitchFamily="34" charset="0"/>
              </a:rPr>
              <a:t> Active Leadership. </a:t>
            </a:r>
          </a:p>
          <a:p>
            <a:pPr marL="285750" indent="-285750" algn="ctr" defTabSz="914400" fontAlgn="auto" latinLnBrk="1">
              <a:spcBef>
                <a:spcPts val="0"/>
              </a:spcBef>
              <a:spcAft>
                <a:spcPts val="0"/>
              </a:spcAft>
              <a:buFontTx/>
              <a:buChar char="-"/>
            </a:pPr>
            <a:r>
              <a:rPr lang="it-IT" sz="1400" i="1" dirty="0">
                <a:solidFill>
                  <a:srgbClr val="000000"/>
                </a:solidFill>
                <a:latin typeface="Arial" panose="020B0604020202020204" pitchFamily="34" charset="0"/>
                <a:cs typeface="Arial" panose="020B0604020202020204" pitchFamily="34" charset="0"/>
              </a:rPr>
              <a:t>C -  Strong Active Leadership.</a:t>
            </a:r>
          </a:p>
          <a:p>
            <a:pPr marL="285750" indent="-285750" algn="ctr" defTabSz="914400" fontAlgn="auto" latinLnBrk="1">
              <a:spcBef>
                <a:spcPts val="0"/>
              </a:spcBef>
              <a:spcAft>
                <a:spcPts val="0"/>
              </a:spcAft>
              <a:buFontTx/>
              <a:buChar char="-"/>
            </a:pPr>
            <a:endParaRPr lang="it-IT" sz="1400" i="1" dirty="0">
              <a:solidFill>
                <a:srgbClr val="000000"/>
              </a:solidFill>
              <a:latin typeface="Arial" panose="020B0604020202020204" pitchFamily="34" charset="0"/>
              <a:cs typeface="Arial" panose="020B0604020202020204" pitchFamily="34" charset="0"/>
            </a:endParaRPr>
          </a:p>
          <a:p>
            <a:pPr marL="285750" indent="-285750" algn="ctr" defTabSz="914400" fontAlgn="auto" latinLnBrk="1">
              <a:spcBef>
                <a:spcPts val="0"/>
              </a:spcBef>
              <a:spcAft>
                <a:spcPts val="0"/>
              </a:spcAft>
              <a:buFontTx/>
              <a:buChar char="-"/>
            </a:pPr>
            <a:r>
              <a:rPr lang="en-US" sz="1400" dirty="0"/>
              <a:t>(Pugliese, et. Al., 2015)</a:t>
            </a:r>
            <a:endParaRPr lang="it-IT" sz="1400" i="1" dirty="0">
              <a:solidFill>
                <a:srgbClr val="000000"/>
              </a:solidFill>
              <a:latin typeface="Arial" panose="020B0604020202020204" pitchFamily="34" charset="0"/>
              <a:cs typeface="Arial" panose="020B0604020202020204" pitchFamily="34" charset="0"/>
              <a:sym typeface="Calibri"/>
            </a:endParaRPr>
          </a:p>
        </p:txBody>
      </p:sp>
    </p:spTree>
    <p:extLst>
      <p:ext uri="{BB962C8B-B14F-4D97-AF65-F5344CB8AC3E}">
        <p14:creationId xmlns:p14="http://schemas.microsoft.com/office/powerpoint/2010/main" val="2706883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19</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59355" y="122069"/>
            <a:ext cx="11269308" cy="30777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MAY Robotics help to understand social and psychological problems? </a:t>
            </a: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pic>
        <p:nvPicPr>
          <p:cNvPr id="11" name="iCub playing with objects.avi">
            <a:hlinkClick r:id="" action="ppaction://media"/>
          </p:cNvPr>
          <p:cNvPicPr>
            <a:picLocks noRot="1" noChangeAspect="1"/>
          </p:cNvPicPr>
          <p:nvPr>
            <a:videoFile r:link="rId1"/>
          </p:nvPr>
        </p:nvPicPr>
        <p:blipFill>
          <a:blip r:embed="rId4" cstate="print"/>
          <a:stretch>
            <a:fillRect/>
          </a:stretch>
        </p:blipFill>
        <p:spPr>
          <a:xfrm>
            <a:off x="2450136" y="1524678"/>
            <a:ext cx="6818441" cy="4872547"/>
          </a:xfrm>
          <a:prstGeom prst="rect">
            <a:avLst/>
          </a:prstGeom>
        </p:spPr>
      </p:pic>
    </p:spTree>
    <p:extLst>
      <p:ext uri="{BB962C8B-B14F-4D97-AF65-F5344CB8AC3E}">
        <p14:creationId xmlns:p14="http://schemas.microsoft.com/office/powerpoint/2010/main" val="9851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780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1"/>
                                        </p:tgtEl>
                                      </p:cBhvr>
                                    </p:cmd>
                                  </p:childTnLst>
                                </p:cTn>
                              </p:par>
                            </p:childTnLst>
                          </p:cTn>
                        </p:par>
                      </p:childTnLst>
                    </p:cTn>
                  </p:par>
                </p:childTnLst>
              </p:cTn>
              <p:nextCondLst>
                <p:cond evt="onClick" delay="0">
                  <p:tgtEl>
                    <p:spTgt spid="11"/>
                  </p:tgtEl>
                </p:cond>
              </p:nextCondLst>
            </p:seq>
            <p:video>
              <p:cMediaNode>
                <p:cTn id="12" fill="hold" display="0">
                  <p:stCondLst>
                    <p:cond delay="indefinite"/>
                  </p:stCondLst>
                  <p:endCondLst>
                    <p:cond evt="onNext" delay="0">
                      <p:tgtEl>
                        <p:sldTgt/>
                      </p:tgtEl>
                    </p:cond>
                    <p:cond evt="onPrev" delay="0">
                      <p:tgtEl>
                        <p:sldTgt/>
                      </p:tgtEl>
                    </p:cond>
                  </p:endCondLst>
                </p:cTn>
                <p:tgtEl>
                  <p:spTgt spid="11"/>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20</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716800" y="381265"/>
            <a:ext cx="11269308" cy="30777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DEEP LEARNING: Neural Networks become more effective</a:t>
            </a:r>
            <a:br>
              <a:rPr lang="en-US"/>
            </a:br>
            <a:r>
              <a:rPr lang="en-US"/>
              <a:t> </a:t>
            </a: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sp>
        <p:nvSpPr>
          <p:cNvPr id="7" name="Shape 170"/>
          <p:cNvSpPr/>
          <p:nvPr/>
        </p:nvSpPr>
        <p:spPr>
          <a:xfrm>
            <a:off x="2010148" y="1489660"/>
            <a:ext cx="8352928" cy="1800200"/>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algn="just">
              <a:lnSpc>
                <a:spcPct val="80000"/>
              </a:lnSpc>
            </a:pPr>
            <a:r>
              <a:rPr lang="en-US" sz="2200" dirty="0">
                <a:latin typeface="Arial" panose="020B0604020202020204" pitchFamily="34" charset="0"/>
                <a:cs typeface="Arial" panose="020B0604020202020204" pitchFamily="34" charset="0"/>
                <a:sym typeface="Helvetica Neue"/>
              </a:rPr>
              <a:t>In recent years </a:t>
            </a:r>
            <a:r>
              <a:rPr lang="en-US" sz="2200" b="1" dirty="0">
                <a:latin typeface="Arial" panose="020B0604020202020204" pitchFamily="34" charset="0"/>
                <a:cs typeface="Arial" panose="020B0604020202020204" pitchFamily="34" charset="0"/>
                <a:sym typeface="Helvetica Neue"/>
              </a:rPr>
              <a:t>Deep Neural Networks</a:t>
            </a:r>
            <a:r>
              <a:rPr lang="en-US" sz="2200" dirty="0">
                <a:latin typeface="Arial" panose="020B0604020202020204" pitchFamily="34" charset="0"/>
                <a:cs typeface="Arial" panose="020B0604020202020204" pitchFamily="34" charset="0"/>
                <a:sym typeface="Helvetica Neue"/>
              </a:rPr>
              <a:t> have achieved noticeably breakthroughs in research (</a:t>
            </a:r>
            <a:r>
              <a:rPr lang="en-US" sz="2200" i="1" dirty="0" err="1">
                <a:latin typeface="Arial" panose="020B0604020202020204" pitchFamily="34" charset="0"/>
                <a:cs typeface="Arial" panose="020B0604020202020204" pitchFamily="34" charset="0"/>
              </a:rPr>
              <a:t>Bengio</a:t>
            </a:r>
            <a:r>
              <a:rPr lang="en-US" sz="2200" i="1" dirty="0">
                <a:latin typeface="Arial" panose="020B0604020202020204" pitchFamily="34" charset="0"/>
                <a:cs typeface="Arial" panose="020B0604020202020204" pitchFamily="34" charset="0"/>
              </a:rPr>
              <a:t>, 2009</a:t>
            </a:r>
            <a:r>
              <a:rPr lang="en-US" sz="2200" dirty="0">
                <a:latin typeface="Arial" panose="020B0604020202020204" pitchFamily="34" charset="0"/>
                <a:cs typeface="Arial" panose="020B0604020202020204" pitchFamily="34" charset="0"/>
              </a:rPr>
              <a:t>)</a:t>
            </a:r>
            <a:r>
              <a:rPr lang="en-US" sz="2200" dirty="0">
                <a:latin typeface="Arial" panose="020B0604020202020204" pitchFamily="34" charset="0"/>
                <a:cs typeface="Arial" panose="020B0604020202020204" pitchFamily="34" charset="0"/>
                <a:sym typeface="Helvetica Neue"/>
              </a:rPr>
              <a:t>. This new methodology dealing with deep neural networks and their training algorithms is called </a:t>
            </a:r>
            <a:r>
              <a:rPr lang="en-US" sz="2200" i="1" dirty="0">
                <a:latin typeface="Arial" panose="020B0604020202020204" pitchFamily="34" charset="0"/>
                <a:cs typeface="Arial" panose="020B0604020202020204" pitchFamily="34" charset="0"/>
                <a:sym typeface="Helvetica Neue"/>
              </a:rPr>
              <a:t>“Deep Learning”</a:t>
            </a:r>
            <a:r>
              <a:rPr lang="en-US" sz="2200" dirty="0">
                <a:latin typeface="Arial" panose="020B0604020202020204" pitchFamily="34" charset="0"/>
                <a:cs typeface="Arial" panose="020B0604020202020204" pitchFamily="34" charset="0"/>
                <a:sym typeface="Helvetica Neue"/>
              </a:rPr>
              <a:t>. </a:t>
            </a:r>
            <a:r>
              <a:rPr lang="en-US" sz="2200" b="1" u="sng" dirty="0">
                <a:latin typeface="Arial" panose="020B0604020202020204" pitchFamily="34" charset="0"/>
                <a:cs typeface="Arial" panose="020B0604020202020204" pitchFamily="34" charset="0"/>
                <a:sym typeface="Helvetica Neue"/>
              </a:rPr>
              <a:t>So far, in all the experiments, the resulting performances were many magnitudes better than other machine learning techniques available. </a:t>
            </a:r>
            <a:endParaRPr sz="2400" dirty="0"/>
          </a:p>
        </p:txBody>
      </p:sp>
      <p:grpSp>
        <p:nvGrpSpPr>
          <p:cNvPr id="8" name="Gruppo 7"/>
          <p:cNvGrpSpPr/>
          <p:nvPr/>
        </p:nvGrpSpPr>
        <p:grpSpPr>
          <a:xfrm>
            <a:off x="3206358" y="3573017"/>
            <a:ext cx="5960509" cy="2558529"/>
            <a:chOff x="1671496" y="3663275"/>
            <a:chExt cx="5960509" cy="2558529"/>
          </a:xfrm>
        </p:grpSpPr>
        <p:grpSp>
          <p:nvGrpSpPr>
            <p:cNvPr id="9" name="Gruppo 8"/>
            <p:cNvGrpSpPr/>
            <p:nvPr/>
          </p:nvGrpSpPr>
          <p:grpSpPr>
            <a:xfrm>
              <a:off x="1671496" y="3663275"/>
              <a:ext cx="2815413" cy="2558529"/>
              <a:chOff x="1087075" y="3670441"/>
              <a:chExt cx="2815413" cy="2558529"/>
            </a:xfrm>
          </p:grpSpPr>
          <p:pic>
            <p:nvPicPr>
              <p:cNvPr id="14" name="Immagine 13"/>
              <p:cNvPicPr/>
              <p:nvPr/>
            </p:nvPicPr>
            <p:blipFill rotWithShape="1">
              <a:blip r:embed="rId3">
                <a:extLst>
                  <a:ext uri="{28A0092B-C50C-407E-A947-70E740481C1C}">
                    <a14:useLocalDpi xmlns:a14="http://schemas.microsoft.com/office/drawing/2010/main" val="0"/>
                  </a:ext>
                </a:extLst>
              </a:blip>
              <a:srcRect l="2505" t="17522" r="52769" b="7679"/>
              <a:stretch/>
            </p:blipFill>
            <p:spPr>
              <a:xfrm>
                <a:off x="1331640" y="3670441"/>
                <a:ext cx="2340164" cy="2558529"/>
              </a:xfrm>
              <a:prstGeom prst="rect">
                <a:avLst/>
              </a:prstGeom>
            </p:spPr>
          </p:pic>
          <p:sp>
            <p:nvSpPr>
              <p:cNvPr id="15" name="Rettangolo arrotondato 14"/>
              <p:cNvSpPr/>
              <p:nvPr/>
            </p:nvSpPr>
            <p:spPr>
              <a:xfrm>
                <a:off x="1087075" y="5352518"/>
                <a:ext cx="2815413"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GOOGLE DATACENTER</a:t>
                </a:r>
              </a:p>
            </p:txBody>
          </p:sp>
        </p:grpSp>
        <p:grpSp>
          <p:nvGrpSpPr>
            <p:cNvPr id="10" name="Gruppo 9"/>
            <p:cNvGrpSpPr/>
            <p:nvPr/>
          </p:nvGrpSpPr>
          <p:grpSpPr>
            <a:xfrm>
              <a:off x="4816592" y="3663275"/>
              <a:ext cx="2815413" cy="2558529"/>
              <a:chOff x="4835026" y="3686806"/>
              <a:chExt cx="2815413" cy="2558529"/>
            </a:xfrm>
          </p:grpSpPr>
          <p:pic>
            <p:nvPicPr>
              <p:cNvPr id="12" name="Immagine 11"/>
              <p:cNvPicPr/>
              <p:nvPr/>
            </p:nvPicPr>
            <p:blipFill rotWithShape="1">
              <a:blip r:embed="rId3">
                <a:extLst>
                  <a:ext uri="{28A0092B-C50C-407E-A947-70E740481C1C}">
                    <a14:useLocalDpi xmlns:a14="http://schemas.microsoft.com/office/drawing/2010/main" val="0"/>
                  </a:ext>
                </a:extLst>
              </a:blip>
              <a:srcRect l="53733" t="22760" r="1744" b="6819"/>
              <a:stretch/>
            </p:blipFill>
            <p:spPr>
              <a:xfrm>
                <a:off x="5004048" y="3686806"/>
                <a:ext cx="2448272" cy="2558529"/>
              </a:xfrm>
              <a:prstGeom prst="rect">
                <a:avLst/>
              </a:prstGeom>
            </p:spPr>
          </p:pic>
          <p:sp>
            <p:nvSpPr>
              <p:cNvPr id="13" name="Rettangolo arrotondato 12"/>
              <p:cNvSpPr/>
              <p:nvPr/>
            </p:nvSpPr>
            <p:spPr>
              <a:xfrm>
                <a:off x="4835026" y="5368883"/>
                <a:ext cx="2815413" cy="408620"/>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sp3d extrusionH="57150">
                  <a:bevelT w="38100" h="38100"/>
                </a:sp3d>
              </a:bodyPr>
              <a:lstStyle/>
              <a:p>
                <a:pPr algn="ctr" defTabSz="914400" fontAlgn="auto" latinLnBrk="1">
                  <a:spcBef>
                    <a:spcPts val="0"/>
                  </a:spcBef>
                  <a:spcAft>
                    <a:spcPts val="0"/>
                  </a:spcAft>
                </a:pPr>
                <a:r>
                  <a:rPr lang="it-IT" dirty="0">
                    <a:solidFill>
                      <a:srgbClr val="C00000"/>
                    </a:solidFill>
                    <a:latin typeface="AcmeFont" pitchFamily="2" charset="0"/>
                  </a:rPr>
                  <a:t>STANFORD AI LAB</a:t>
                </a:r>
              </a:p>
            </p:txBody>
          </p:sp>
        </p:grpSp>
      </p:grpSp>
    </p:spTree>
    <p:extLst>
      <p:ext uri="{BB962C8B-B14F-4D97-AF65-F5344CB8AC3E}">
        <p14:creationId xmlns:p14="http://schemas.microsoft.com/office/powerpoint/2010/main" val="2166384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21</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59355" y="113581"/>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DEEP LEARNING: a cutting-edge approach to Computer Vision and NLP</a:t>
            </a:r>
            <a:br>
              <a:rPr lang="en-US"/>
            </a:b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graphicFrame>
        <p:nvGraphicFramePr>
          <p:cNvPr id="6" name="Diagramma 5"/>
          <p:cNvGraphicFramePr/>
          <p:nvPr>
            <p:extLst>
              <p:ext uri="{D42A27DB-BD31-4B8C-83A1-F6EECF244321}">
                <p14:modId xmlns:p14="http://schemas.microsoft.com/office/powerpoint/2010/main" val="2797721193"/>
              </p:ext>
            </p:extLst>
          </p:nvPr>
        </p:nvGraphicFramePr>
        <p:xfrm>
          <a:off x="1925845" y="1844824"/>
          <a:ext cx="3882123" cy="43924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Immagine 6"/>
          <p:cNvPicPr/>
          <p:nvPr/>
        </p:nvPicPr>
        <p:blipFill>
          <a:blip r:embed="rId8">
            <a:extLst>
              <a:ext uri="{28A0092B-C50C-407E-A947-70E740481C1C}">
                <a14:useLocalDpi xmlns:a14="http://schemas.microsoft.com/office/drawing/2010/main" val="0"/>
              </a:ext>
            </a:extLst>
          </a:blip>
          <a:stretch>
            <a:fillRect/>
          </a:stretch>
        </p:blipFill>
        <p:spPr>
          <a:xfrm>
            <a:off x="5951984" y="1748922"/>
            <a:ext cx="4346072" cy="4392488"/>
          </a:xfrm>
          <a:prstGeom prst="rect">
            <a:avLst/>
          </a:prstGeom>
        </p:spPr>
      </p:pic>
    </p:spTree>
    <p:extLst>
      <p:ext uri="{BB962C8B-B14F-4D97-AF65-F5344CB8AC3E}">
        <p14:creationId xmlns:p14="http://schemas.microsoft.com/office/powerpoint/2010/main" val="2604425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22</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21925"/>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it-IT"/>
              <a:t>Deep Learning is Machine Learning</a:t>
            </a:r>
            <a:br>
              <a:rPr lang="it-IT"/>
            </a:br>
            <a:br>
              <a:rPr lang="en-US"/>
            </a:br>
            <a:br>
              <a:rPr lang="en-US"/>
            </a:br>
            <a:br>
              <a:rPr lang="en-US"/>
            </a:br>
            <a:br>
              <a:rPr lang="en-US"/>
            </a:br>
            <a:br>
              <a:rPr lang="it-IT"/>
            </a:br>
            <a:br>
              <a:rPr lang="it-IT"/>
            </a:br>
            <a:r>
              <a:rPr lang="it-IT">
                <a:solidFill>
                  <a:srgbClr val="464646"/>
                </a:solidFill>
              </a:rPr>
              <a:t> </a:t>
            </a:r>
            <a:br>
              <a:rPr lang="it-IT">
                <a:solidFill>
                  <a:srgbClr val="464646"/>
                </a:solidFill>
              </a:rPr>
            </a:br>
            <a:endParaRPr lang="it-IT" dirty="0"/>
          </a:p>
        </p:txBody>
      </p:sp>
      <p:sp>
        <p:nvSpPr>
          <p:cNvPr id="8" name="Shape 170"/>
          <p:cNvSpPr/>
          <p:nvPr/>
        </p:nvSpPr>
        <p:spPr>
          <a:xfrm>
            <a:off x="2063552" y="1260815"/>
            <a:ext cx="8390136" cy="2289959"/>
          </a:xfrm>
          <a:prstGeom prst="rect">
            <a:avLst/>
          </a:prstGeom>
          <a:solidFill>
            <a:schemeClr val="bg1">
              <a:alpha val="50000"/>
            </a:schemeClr>
          </a:solid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lvl="0" algn="ctr">
              <a:lnSpc>
                <a:spcPct val="80000"/>
              </a:lnSpc>
            </a:pPr>
            <a:endParaRPr lang="it-IT" sz="2200" dirty="0">
              <a:latin typeface="Arial" panose="020B0604020202020204" pitchFamily="34" charset="0"/>
              <a:cs typeface="Arial" panose="020B0604020202020204" pitchFamily="34" charset="0"/>
            </a:endParaRPr>
          </a:p>
          <a:p>
            <a:r>
              <a:rPr lang="en-US" sz="2200" dirty="0">
                <a:latin typeface="Arial" panose="020B0604020202020204" pitchFamily="34" charset="0"/>
                <a:cs typeface="Arial" panose="020B0604020202020204" pitchFamily="34" charset="0"/>
              </a:rPr>
              <a:t>Deep Learning refers to algorithms that automatically ‘model’ high-level abstractions in data</a:t>
            </a:r>
          </a:p>
          <a:p>
            <a:pPr marL="514350" lvl="1" indent="-514350">
              <a:buFont typeface="+mj-lt"/>
              <a:buAutoNum type="romanLcPeriod"/>
            </a:pPr>
            <a:r>
              <a:rPr lang="en-US" sz="2200" dirty="0">
                <a:latin typeface="Arial" panose="020B0604020202020204" pitchFamily="34" charset="0"/>
                <a:cs typeface="Arial" panose="020B0604020202020204" pitchFamily="34" charset="0"/>
              </a:rPr>
              <a:t>here ‘model’ means: define, find, recognize and exploit</a:t>
            </a:r>
          </a:p>
          <a:p>
            <a:pPr marL="514350" lvl="1" indent="-514350">
              <a:buFont typeface="+mj-lt"/>
              <a:buAutoNum type="romanLcPeriod"/>
            </a:pPr>
            <a:r>
              <a:rPr lang="en-US" sz="2200" dirty="0">
                <a:latin typeface="Arial" panose="020B0604020202020204" pitchFamily="34" charset="0"/>
                <a:cs typeface="Arial" panose="020B0604020202020204" pitchFamily="34" charset="0"/>
              </a:rPr>
              <a:t>here ‘automatically’ means: directly from data, without hinging upon handcrafted, task-specific features.</a:t>
            </a:r>
          </a:p>
          <a:p>
            <a:pPr lvl="0" algn="ctr">
              <a:lnSpc>
                <a:spcPct val="80000"/>
              </a:lnSpc>
            </a:pPr>
            <a:endParaRPr sz="2200" dirty="0">
              <a:latin typeface="Arial" panose="020B0604020202020204" pitchFamily="34" charset="0"/>
              <a:cs typeface="Arial" panose="020B0604020202020204" pitchFamily="34" charset="0"/>
            </a:endParaRPr>
          </a:p>
        </p:txBody>
      </p:sp>
      <p:pic>
        <p:nvPicPr>
          <p:cNvPr id="9" name="Immagin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9657" y="3550774"/>
            <a:ext cx="6336704" cy="2456295"/>
          </a:xfrm>
          <a:prstGeom prst="rect">
            <a:avLst/>
          </a:prstGeom>
        </p:spPr>
      </p:pic>
    </p:spTree>
    <p:extLst>
      <p:ext uri="{BB962C8B-B14F-4D97-AF65-F5344CB8AC3E}">
        <p14:creationId xmlns:p14="http://schemas.microsoft.com/office/powerpoint/2010/main" val="2434860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23</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61909" y="438577"/>
            <a:ext cx="11269308" cy="115416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solidFill>
                  <a:srgbClr val="464646"/>
                </a:solidFill>
              </a:rPr>
              <a:t>Why Deep Learning over-performed traditional statistics models?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2" name="Titolo"/>
          <p:cNvSpPr txBox="1"/>
          <p:nvPr/>
        </p:nvSpPr>
        <p:spPr>
          <a:xfrm>
            <a:off x="630608" y="1815926"/>
            <a:ext cx="3785394" cy="564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3" name="Sottotitolo"/>
          <p:cNvSpPr txBox="1"/>
          <p:nvPr/>
        </p:nvSpPr>
        <p:spPr>
          <a:xfrm>
            <a:off x="630608" y="2803363"/>
            <a:ext cx="3785394" cy="33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4" name="Shape 128"/>
          <p:cNvSpPr txBox="1">
            <a:spLocks/>
          </p:cNvSpPr>
          <p:nvPr/>
        </p:nvSpPr>
        <p:spPr>
          <a:xfrm>
            <a:off x="8239125" y="4520076"/>
            <a:ext cx="1066800" cy="134620"/>
          </a:xfrm>
          <a:prstGeom prst="rect">
            <a:avLst/>
          </a:prstGeom>
          <a:extLst>
            <a:ext uri="{C572A759-6A51-4108-AA02-DFA0A04FC94B}">
              <ma14:wrappingTextBoxFlag xmlns="" xmlns:ma14="http://schemas.microsoft.com/office/mac/drawingml/2011/main" val="1"/>
            </a:ext>
          </a:extLst>
        </p:spPr>
        <p:txBody>
          <a:bodyPr lIns="0" tIns="0" rIns="0" bIns="0">
            <a:normAutofit/>
          </a:bodyPr>
          <a:lstStyle>
            <a:defPPr>
              <a:defRPr lang="en-US"/>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a:lstStyle>
          <a:p>
            <a:pPr>
              <a:defRPr sz="1800">
                <a:solidFill>
                  <a:srgbClr val="000000"/>
                </a:solidFill>
              </a:defRPr>
            </a:pPr>
            <a:fld id="{86CB4B4D-7CA3-9044-876B-883B54F8677D}" type="slidenum">
              <a:rPr lang="it-IT" sz="600" smtClean="0">
                <a:solidFill>
                  <a:srgbClr val="888888"/>
                </a:solidFill>
              </a:rPr>
              <a:pPr>
                <a:defRPr sz="1800">
                  <a:solidFill>
                    <a:srgbClr val="000000"/>
                  </a:solidFill>
                </a:defRPr>
              </a:pPr>
              <a:t>23</a:t>
            </a:fld>
            <a:endParaRPr lang="it-IT" sz="600" dirty="0">
              <a:solidFill>
                <a:srgbClr val="888888"/>
              </a:solidFill>
            </a:endParaRPr>
          </a:p>
        </p:txBody>
      </p:sp>
      <p:pic>
        <p:nvPicPr>
          <p:cNvPr id="16" name="Picture 2" descr="Risultati immagini per alpha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08" y="1974886"/>
            <a:ext cx="3477594" cy="3286839"/>
          </a:xfrm>
          <a:prstGeom prst="rect">
            <a:avLst/>
          </a:prstGeom>
          <a:noFill/>
          <a:extLst>
            <a:ext uri="{909E8E84-426E-40DD-AFC4-6F175D3DCCD1}">
              <a14:hiddenFill xmlns:a14="http://schemas.microsoft.com/office/drawing/2010/main">
                <a:solidFill>
                  <a:srgbClr val="FFFFFF"/>
                </a:solidFill>
              </a14:hiddenFill>
            </a:ext>
          </a:extLst>
        </p:spPr>
      </p:pic>
      <p:sp>
        <p:nvSpPr>
          <p:cNvPr id="17" name="Shape 118"/>
          <p:cNvSpPr/>
          <p:nvPr/>
        </p:nvSpPr>
        <p:spPr>
          <a:xfrm>
            <a:off x="5188120" y="2322162"/>
            <a:ext cx="6643097" cy="1296144"/>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marL="228600" indent="-228600">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“Deep Learning” approaches can be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end-to-end trained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without a task-specific feature engineering.</a:t>
            </a:r>
          </a:p>
          <a:p>
            <a:pPr marL="228600" indent="-228600">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28600" indent="-228600">
              <a:buFont typeface="Arial" panose="020B0604020202020204" pitchFamily="34" charset="0"/>
              <a:buChar char="•"/>
            </a:pPr>
            <a:r>
              <a:rPr lang="en-US" sz="2000" b="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These models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are scalable</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adding GPUs they can be trained faster. </a:t>
            </a:r>
          </a:p>
          <a:p>
            <a:pPr marL="228600" indent="-228600">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28600" indent="-228600">
              <a:buFont typeface="Arial" panose="020B0604020202020204" pitchFamily="34" charset="0"/>
              <a:buChar char="•"/>
            </a:pPr>
            <a:r>
              <a:rPr lang="en-US" sz="2000" b="1" i="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“Deep Learning is killing every problem in AI”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(Elizabeth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Gibney</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2016)</a:t>
            </a:r>
          </a:p>
        </p:txBody>
      </p:sp>
      <p:sp>
        <p:nvSpPr>
          <p:cNvPr id="18" name="Shape 118"/>
          <p:cNvSpPr/>
          <p:nvPr/>
        </p:nvSpPr>
        <p:spPr>
          <a:xfrm>
            <a:off x="5188120" y="5148317"/>
            <a:ext cx="6559121" cy="900100"/>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oAutofit/>
          </a:bodyPr>
          <a:lstStyle/>
          <a:p>
            <a:pPr marL="228600" indent="-228600" eaLnBrk="1" fontAlgn="auto" hangingPunct="1">
              <a:spcBef>
                <a:spcPts val="0"/>
              </a:spcBef>
              <a:spcAft>
                <a:spcPts val="0"/>
              </a:spcAft>
              <a:buFont typeface="Arial" panose="020B0604020202020204" pitchFamily="34" charset="0"/>
              <a:buChar char="•"/>
              <a:defRPr sz="1800"/>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Basically,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statistics is not able to deal with very high dimensionalities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of data as Deep Learning does. </a:t>
            </a:r>
          </a:p>
        </p:txBody>
      </p:sp>
    </p:spTree>
    <p:extLst>
      <p:ext uri="{BB962C8B-B14F-4D97-AF65-F5344CB8AC3E}">
        <p14:creationId xmlns:p14="http://schemas.microsoft.com/office/powerpoint/2010/main" val="4023787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24</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15623"/>
            <a:ext cx="11269308" cy="1538883"/>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t>Computer Vision: Where does Traditional Statistics fail?</a:t>
            </a: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1" name="Titolo"/>
          <p:cNvSpPr txBox="1"/>
          <p:nvPr/>
        </p:nvSpPr>
        <p:spPr>
          <a:xfrm>
            <a:off x="630608" y="1815926"/>
            <a:ext cx="3785394" cy="56457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5" name="Sottotitolo"/>
          <p:cNvSpPr txBox="1"/>
          <p:nvPr/>
        </p:nvSpPr>
        <p:spPr>
          <a:xfrm>
            <a:off x="630608" y="2803363"/>
            <a:ext cx="3785394" cy="33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pic>
        <p:nvPicPr>
          <p:cNvPr id="20" name="Immagin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119" y="1719253"/>
            <a:ext cx="3390899" cy="3033499"/>
          </a:xfrm>
          <a:prstGeom prst="rect">
            <a:avLst/>
          </a:prstGeom>
        </p:spPr>
      </p:pic>
      <p:sp>
        <p:nvSpPr>
          <p:cNvPr id="21" name="Shape 118"/>
          <p:cNvSpPr/>
          <p:nvPr/>
        </p:nvSpPr>
        <p:spPr>
          <a:xfrm>
            <a:off x="4572146" y="2150849"/>
            <a:ext cx="7487671" cy="729081"/>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oAutofit/>
          </a:bodyPr>
          <a:lstStyle/>
          <a:p>
            <a:pPr marL="228600" indent="-228600">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Computer Vision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is an interdisciplinary field that deals with the way algorithms can be made for gaining high-level understanding from digital images or videos.</a:t>
            </a:r>
          </a:p>
        </p:txBody>
      </p:sp>
      <p:sp>
        <p:nvSpPr>
          <p:cNvPr id="22" name="Shape 118"/>
          <p:cNvSpPr/>
          <p:nvPr/>
        </p:nvSpPr>
        <p:spPr>
          <a:xfrm>
            <a:off x="4572146" y="3980351"/>
            <a:ext cx="7273066" cy="1515780"/>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oAutofit/>
          </a:bodyPr>
          <a:lstStyle/>
          <a:p>
            <a:pPr marL="228600" indent="-228600">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Statistical methods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are not always welcome in computer vision.</a:t>
            </a:r>
          </a:p>
          <a:p>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28600" indent="-228600">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28600" indent="-228600">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Statistical methods seem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not scaling up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to the challenges of computer vision problems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Chellappa</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R., 2012). </a:t>
            </a:r>
          </a:p>
        </p:txBody>
      </p:sp>
    </p:spTree>
    <p:extLst>
      <p:ext uri="{BB962C8B-B14F-4D97-AF65-F5344CB8AC3E}">
        <p14:creationId xmlns:p14="http://schemas.microsoft.com/office/powerpoint/2010/main" val="2143601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25</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13106"/>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solidFill>
                  <a:srgbClr val="464646"/>
                </a:solidFill>
              </a:rPr>
              <a:t>Why does Computer Vision matter so much?</a:t>
            </a: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2" name="Sottotitolo"/>
          <p:cNvSpPr txBox="1"/>
          <p:nvPr/>
        </p:nvSpPr>
        <p:spPr>
          <a:xfrm>
            <a:off x="630608" y="2803363"/>
            <a:ext cx="3785394" cy="3337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3" name="Shape 128"/>
          <p:cNvSpPr txBox="1">
            <a:spLocks/>
          </p:cNvSpPr>
          <p:nvPr/>
        </p:nvSpPr>
        <p:spPr>
          <a:xfrm>
            <a:off x="8260460" y="5272103"/>
            <a:ext cx="1066800" cy="134620"/>
          </a:xfrm>
          <a:prstGeom prst="rect">
            <a:avLst/>
          </a:prstGeom>
          <a:extLst>
            <a:ext uri="{C572A759-6A51-4108-AA02-DFA0A04FC94B}">
              <ma14:wrappingTextBoxFlag xmlns="" xmlns:ma14="http://schemas.microsoft.com/office/mac/drawingml/2011/main" val="1"/>
            </a:ext>
          </a:extLst>
        </p:spPr>
        <p:txBody>
          <a:bodyPr lIns="0" tIns="0" rIns="0" bIns="0">
            <a:normAutofit/>
          </a:bodyPr>
          <a:lstStyle>
            <a:defPPr>
              <a:defRPr lang="en-US"/>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a:lstStyle>
          <a:p>
            <a:pPr>
              <a:defRPr sz="1800">
                <a:solidFill>
                  <a:srgbClr val="000000"/>
                </a:solidFill>
              </a:defRPr>
            </a:pPr>
            <a:fld id="{86CB4B4D-7CA3-9044-876B-883B54F8677D}" type="slidenum">
              <a:rPr lang="it-IT" sz="600" smtClean="0">
                <a:solidFill>
                  <a:srgbClr val="888888"/>
                </a:solidFill>
              </a:rPr>
              <a:pPr>
                <a:defRPr sz="1800">
                  <a:solidFill>
                    <a:srgbClr val="000000"/>
                  </a:solidFill>
                </a:defRPr>
              </a:pPr>
              <a:t>25</a:t>
            </a:fld>
            <a:endParaRPr lang="it-IT" sz="600" dirty="0">
              <a:solidFill>
                <a:srgbClr val="888888"/>
              </a:solidFill>
            </a:endParaRPr>
          </a:p>
        </p:txBody>
      </p:sp>
      <p:sp>
        <p:nvSpPr>
          <p:cNvPr id="16" name="Shape 118"/>
          <p:cNvSpPr/>
          <p:nvPr/>
        </p:nvSpPr>
        <p:spPr>
          <a:xfrm>
            <a:off x="4931665" y="4473252"/>
            <a:ext cx="6298406" cy="838074"/>
          </a:xfrm>
          <a:prstGeom prst="rect">
            <a:avLst/>
          </a:prstGeom>
          <a:noFill/>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marL="285750" indent="-285750" algn="just" defTabSz="402336">
              <a:lnSpc>
                <a:spcPct val="90000"/>
              </a:lnSpc>
              <a:spcBef>
                <a:spcPts val="250"/>
              </a:spcBef>
              <a:buSzPct val="100000"/>
              <a:buFont typeface="Arial" panose="020B0604020202020204" pitchFamily="34" charset="0"/>
              <a:buChar char="•"/>
            </a:pPr>
            <a:endParaRPr lang="en-US" b="1" dirty="0">
              <a:solidFill>
                <a:srgbClr val="000000"/>
              </a:solidFill>
              <a:uFill>
                <a:solidFill>
                  <a:srgbClr val="000000"/>
                </a:solidFill>
              </a:uFill>
              <a:latin typeface="Tahoma" panose="020B0604030504040204" pitchFamily="34" charset="0"/>
              <a:ea typeface="Tahoma" panose="020B0604030504040204" pitchFamily="34" charset="0"/>
              <a:cs typeface="Tahoma" panose="020B0604030504040204" pitchFamily="34" charset="0"/>
            </a:endParaRPr>
          </a:p>
        </p:txBody>
      </p:sp>
      <p:grpSp>
        <p:nvGrpSpPr>
          <p:cNvPr id="17" name="Gruppo 16"/>
          <p:cNvGrpSpPr/>
          <p:nvPr/>
        </p:nvGrpSpPr>
        <p:grpSpPr>
          <a:xfrm>
            <a:off x="386396" y="1961339"/>
            <a:ext cx="4273818" cy="3079325"/>
            <a:chOff x="835642" y="2596571"/>
            <a:chExt cx="8547636" cy="3378147"/>
          </a:xfrm>
        </p:grpSpPr>
        <p:pic>
          <p:nvPicPr>
            <p:cNvPr id="18" name="Immagine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92080" y="3598453"/>
              <a:ext cx="4091198" cy="2376265"/>
            </a:xfrm>
            <a:prstGeom prst="rect">
              <a:avLst/>
            </a:prstGeom>
          </p:spPr>
        </p:pic>
        <p:pic>
          <p:nvPicPr>
            <p:cNvPr id="19" name="Immagin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642" y="3598453"/>
              <a:ext cx="3952381" cy="2376264"/>
            </a:xfrm>
            <a:prstGeom prst="rect">
              <a:avLst/>
            </a:prstGeom>
          </p:spPr>
        </p:pic>
        <p:sp>
          <p:nvSpPr>
            <p:cNvPr id="23" name="Rettangolo arrotondato 22"/>
            <p:cNvSpPr/>
            <p:nvPr/>
          </p:nvSpPr>
          <p:spPr>
            <a:xfrm>
              <a:off x="870068" y="2782877"/>
              <a:ext cx="3952384" cy="434709"/>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22860" tIns="22860" rIns="22860" bIns="22860" numCol="1" spcCol="38100" rtlCol="0" anchor="ctr">
              <a:spAutoFit/>
              <a:sp3d extrusionH="57150">
                <a:bevelT w="38100" h="38100"/>
              </a:sp3d>
            </a:bodyPr>
            <a:lstStyle/>
            <a:p>
              <a:pPr algn="ctr" fontAlgn="auto" latinLnBrk="1">
                <a:spcBef>
                  <a:spcPts val="0"/>
                </a:spcBef>
                <a:spcAft>
                  <a:spcPts val="0"/>
                </a:spcAft>
              </a:pPr>
              <a:r>
                <a:rPr lang="en-US" dirty="0">
                  <a:solidFill>
                    <a:srgbClr val="C00000"/>
                  </a:solidFill>
                  <a:latin typeface="AcmeFont" pitchFamily="2" charset="0"/>
                </a:rPr>
                <a:t>EVERYDAY LIFE</a:t>
              </a:r>
            </a:p>
          </p:txBody>
        </p:sp>
        <p:sp>
          <p:nvSpPr>
            <p:cNvPr id="24" name="Rettangolo arrotondato 23"/>
            <p:cNvSpPr/>
            <p:nvPr/>
          </p:nvSpPr>
          <p:spPr>
            <a:xfrm>
              <a:off x="5190404" y="2596571"/>
              <a:ext cx="4192874" cy="807317"/>
            </a:xfrm>
            <a:prstGeom prst="roundRect">
              <a:avLst/>
            </a:prstGeom>
            <a:solidFill>
              <a:srgbClr val="EDEDED"/>
            </a:solidFill>
            <a:ln w="25400" cap="flat">
              <a:noFill/>
              <a:prstDash val="solid"/>
              <a:beve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txBody>
            <a:bodyPr rot="0" spcFirstLastPara="1" vertOverflow="overflow" horzOverflow="overflow" vert="horz" wrap="square" lIns="22860" tIns="22860" rIns="22860" bIns="22860" numCol="1" spcCol="38100" rtlCol="0" anchor="ctr">
              <a:spAutoFit/>
              <a:sp3d extrusionH="57150">
                <a:bevelT w="38100" h="38100"/>
              </a:sp3d>
            </a:bodyPr>
            <a:lstStyle/>
            <a:p>
              <a:pPr algn="ctr" fontAlgn="auto" latinLnBrk="1">
                <a:spcBef>
                  <a:spcPts val="0"/>
                </a:spcBef>
                <a:spcAft>
                  <a:spcPts val="0"/>
                </a:spcAft>
              </a:pPr>
              <a:r>
                <a:rPr lang="en-US" dirty="0">
                  <a:solidFill>
                    <a:srgbClr val="C00000"/>
                  </a:solidFill>
                  <a:latin typeface="AcmeFont" pitchFamily="2" charset="0"/>
                </a:rPr>
                <a:t>BIOMEDICAL IMAGES</a:t>
              </a:r>
            </a:p>
          </p:txBody>
        </p:sp>
      </p:grpSp>
      <p:sp>
        <p:nvSpPr>
          <p:cNvPr id="25" name="Rettangolo 24"/>
          <p:cNvSpPr/>
          <p:nvPr/>
        </p:nvSpPr>
        <p:spPr>
          <a:xfrm>
            <a:off x="4942821" y="1815926"/>
            <a:ext cx="6812235" cy="3370153"/>
          </a:xfrm>
          <a:prstGeom prst="rect">
            <a:avLst/>
          </a:prstGeom>
          <a:noFill/>
        </p:spPr>
        <p:txBody>
          <a:bodyPr wrap="square" lIns="45720" tIns="22860" rIns="45720" bIns="22860">
            <a:spAutoFit/>
            <a:scene3d>
              <a:camera prst="orthographicFront"/>
              <a:lightRig rig="threePt" dir="t"/>
            </a:scene3d>
            <a:sp3d extrusionH="57150">
              <a:bevelT w="38100" h="38100"/>
            </a:sp3d>
          </a:bodyPr>
          <a:lstStyle/>
          <a:p>
            <a:pPr algn="ctr"/>
            <a:endParaRPr lang="en-US" sz="800" b="1" dirty="0">
              <a:ln w="0"/>
              <a:effectLst>
                <a:outerShdw blurRad="38100" dist="25400" dir="5400000" algn="ctr" rotWithShape="0">
                  <a:srgbClr val="6E747A">
                    <a:alpha val="43000"/>
                  </a:srgbClr>
                </a:outerShdw>
              </a:effectLst>
            </a:endParaRPr>
          </a:p>
          <a:p>
            <a:pPr marL="142875" indent="-142875" algn="just">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 new study proves 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relationship</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between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Vision capabilities and Intelligence</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Tsukahara</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et al., 2016).</a:t>
            </a:r>
          </a:p>
          <a:p>
            <a:pPr marL="142875" indent="-142875" algn="just">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just">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Seemingly,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human beings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have one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most complex vision systems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within 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animal realm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and this fact would have fostered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evolution of human intelligence. </a:t>
            </a:r>
          </a:p>
          <a:p>
            <a:pPr marL="142875" indent="-142875" algn="just">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just">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In other words,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Computer Vision</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needs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human-like intellectual capabilities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in order to achieve the vision performances required by humans for every-day applications. </a:t>
            </a:r>
          </a:p>
        </p:txBody>
      </p:sp>
    </p:spTree>
    <p:extLst>
      <p:ext uri="{BB962C8B-B14F-4D97-AF65-F5344CB8AC3E}">
        <p14:creationId xmlns:p14="http://schemas.microsoft.com/office/powerpoint/2010/main" val="3641289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26</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13106"/>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solidFill>
                  <a:srgbClr val="464646"/>
                </a:solidFill>
              </a:rPr>
              <a:t>Why does Computer Vision matter so much?</a:t>
            </a: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5" name="Titolo"/>
          <p:cNvSpPr txBox="1"/>
          <p:nvPr/>
        </p:nvSpPr>
        <p:spPr>
          <a:xfrm>
            <a:off x="630608" y="1815926"/>
            <a:ext cx="3785394" cy="564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20" name="Sottotitolo"/>
          <p:cNvSpPr txBox="1"/>
          <p:nvPr/>
        </p:nvSpPr>
        <p:spPr>
          <a:xfrm>
            <a:off x="630608" y="2803363"/>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21" name="Shape 128"/>
          <p:cNvSpPr txBox="1">
            <a:spLocks/>
          </p:cNvSpPr>
          <p:nvPr/>
        </p:nvSpPr>
        <p:spPr>
          <a:xfrm>
            <a:off x="8239125" y="4520076"/>
            <a:ext cx="1066800" cy="134620"/>
          </a:xfrm>
          <a:prstGeom prst="rect">
            <a:avLst/>
          </a:prstGeom>
          <a:extLst>
            <a:ext uri="{C572A759-6A51-4108-AA02-DFA0A04FC94B}">
              <ma14:wrappingTextBoxFlag xmlns:ma14="http://schemas.microsoft.com/office/mac/drawingml/2011/main" xmlns="" val="1"/>
            </a:ext>
          </a:extLst>
        </p:spPr>
        <p:txBody>
          <a:bodyPr lIns="0" tIns="0" rIns="0" bIns="0">
            <a:normAutofit/>
          </a:bodyPr>
          <a:lstStyle>
            <a:defPPr>
              <a:defRPr lang="en-US"/>
            </a:defPPr>
            <a:lvl1pPr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Gill Sans MT" panose="020B0502020104020203" pitchFamily="34" charset="0"/>
                <a:ea typeface="+mn-ea"/>
                <a:cs typeface="+mn-cs"/>
              </a:defRPr>
            </a:lvl5pPr>
            <a:lvl6pPr marL="2286000" algn="l" defTabSz="914400" rtl="0" eaLnBrk="1" latinLnBrk="0" hangingPunct="1">
              <a:defRPr kern="1200">
                <a:solidFill>
                  <a:schemeClr val="tx1"/>
                </a:solidFill>
                <a:latin typeface="Gill Sans MT" panose="020B0502020104020203" pitchFamily="34" charset="0"/>
                <a:ea typeface="+mn-ea"/>
                <a:cs typeface="+mn-cs"/>
              </a:defRPr>
            </a:lvl6pPr>
            <a:lvl7pPr marL="2743200" algn="l" defTabSz="914400" rtl="0" eaLnBrk="1" latinLnBrk="0" hangingPunct="1">
              <a:defRPr kern="1200">
                <a:solidFill>
                  <a:schemeClr val="tx1"/>
                </a:solidFill>
                <a:latin typeface="Gill Sans MT" panose="020B0502020104020203" pitchFamily="34" charset="0"/>
                <a:ea typeface="+mn-ea"/>
                <a:cs typeface="+mn-cs"/>
              </a:defRPr>
            </a:lvl7pPr>
            <a:lvl8pPr marL="3200400" algn="l" defTabSz="914400" rtl="0" eaLnBrk="1" latinLnBrk="0" hangingPunct="1">
              <a:defRPr kern="1200">
                <a:solidFill>
                  <a:schemeClr val="tx1"/>
                </a:solidFill>
                <a:latin typeface="Gill Sans MT" panose="020B0502020104020203" pitchFamily="34" charset="0"/>
                <a:ea typeface="+mn-ea"/>
                <a:cs typeface="+mn-cs"/>
              </a:defRPr>
            </a:lvl8pPr>
            <a:lvl9pPr marL="3657600" algn="l" defTabSz="914400" rtl="0" eaLnBrk="1" latinLnBrk="0" hangingPunct="1">
              <a:defRPr kern="1200">
                <a:solidFill>
                  <a:schemeClr val="tx1"/>
                </a:solidFill>
                <a:latin typeface="Gill Sans MT" panose="020B0502020104020203" pitchFamily="34" charset="0"/>
                <a:ea typeface="+mn-ea"/>
                <a:cs typeface="+mn-cs"/>
              </a:defRPr>
            </a:lvl9pPr>
          </a:lstStyle>
          <a:p>
            <a:pPr>
              <a:defRPr sz="1800">
                <a:solidFill>
                  <a:srgbClr val="000000"/>
                </a:solidFill>
              </a:defRPr>
            </a:pPr>
            <a:fld id="{86CB4B4D-7CA3-9044-876B-883B54F8677D}" type="slidenum">
              <a:rPr lang="it-IT" sz="600" smtClean="0">
                <a:solidFill>
                  <a:srgbClr val="888888"/>
                </a:solidFill>
              </a:rPr>
              <a:pPr>
                <a:defRPr sz="1800">
                  <a:solidFill>
                    <a:srgbClr val="000000"/>
                  </a:solidFill>
                </a:defRPr>
              </a:pPr>
              <a:t>26</a:t>
            </a:fld>
            <a:endParaRPr lang="it-IT" sz="600" dirty="0">
              <a:solidFill>
                <a:srgbClr val="888888"/>
              </a:solidFill>
            </a:endParaRPr>
          </a:p>
        </p:txBody>
      </p:sp>
      <p:sp>
        <p:nvSpPr>
          <p:cNvPr id="26" name="Shape 118"/>
          <p:cNvSpPr/>
          <p:nvPr/>
        </p:nvSpPr>
        <p:spPr>
          <a:xfrm>
            <a:off x="4918568" y="4487202"/>
            <a:ext cx="6298406" cy="838074"/>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marL="285750" indent="-285750" algn="just" defTabSz="402336">
              <a:lnSpc>
                <a:spcPct val="90000"/>
              </a:lnSpc>
              <a:spcBef>
                <a:spcPts val="250"/>
              </a:spcBef>
              <a:buSzPct val="100000"/>
              <a:buFont typeface="Arial" panose="020B0604020202020204" pitchFamily="34" charset="0"/>
              <a:buChar char="•"/>
            </a:pPr>
            <a:endParaRPr lang="en-US" b="1" dirty="0">
              <a:solidFill>
                <a:srgbClr val="000000"/>
              </a:solidFill>
              <a:uFill>
                <a:solidFill>
                  <a:srgbClr val="000000"/>
                </a:solidFill>
              </a:uFill>
              <a:latin typeface="Tahoma" panose="020B0604030504040204" pitchFamily="34" charset="0"/>
              <a:ea typeface="Tahoma" panose="020B0604030504040204" pitchFamily="34" charset="0"/>
              <a:cs typeface="Tahoma" panose="020B0604030504040204" pitchFamily="34" charset="0"/>
            </a:endParaRPr>
          </a:p>
        </p:txBody>
      </p:sp>
      <p:pic>
        <p:nvPicPr>
          <p:cNvPr id="27" name="Picture 2" descr="Risultati immagini per drones agricul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034" y="1815926"/>
            <a:ext cx="3485708" cy="1744455"/>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Immagine correlata"/>
          <p:cNvPicPr>
            <a:picLocks noChangeAspect="1" noChangeArrowheads="1"/>
          </p:cNvPicPr>
          <p:nvPr/>
        </p:nvPicPr>
        <p:blipFill rotWithShape="1">
          <a:blip r:embed="rId4">
            <a:extLst>
              <a:ext uri="{28A0092B-C50C-407E-A947-70E740481C1C}">
                <a14:useLocalDpi xmlns:a14="http://schemas.microsoft.com/office/drawing/2010/main" val="0"/>
              </a:ext>
            </a:extLst>
          </a:blip>
          <a:srcRect l="6726" r="2382"/>
          <a:stretch/>
        </p:blipFill>
        <p:spPr bwMode="auto">
          <a:xfrm>
            <a:off x="497200" y="4050279"/>
            <a:ext cx="3485708" cy="1517784"/>
          </a:xfrm>
          <a:prstGeom prst="rect">
            <a:avLst/>
          </a:prstGeom>
          <a:noFill/>
          <a:extLst>
            <a:ext uri="{909E8E84-426E-40DD-AFC4-6F175D3DCCD1}">
              <a14:hiddenFill xmlns:a14="http://schemas.microsoft.com/office/drawing/2010/main">
                <a:solidFill>
                  <a:srgbClr val="FFFFFF"/>
                </a:solidFill>
              </a14:hiddenFill>
            </a:ext>
          </a:extLst>
        </p:spPr>
      </p:pic>
      <p:sp>
        <p:nvSpPr>
          <p:cNvPr id="30" name="Shape 118"/>
          <p:cNvSpPr/>
          <p:nvPr/>
        </p:nvSpPr>
        <p:spPr>
          <a:xfrm>
            <a:off x="4895416" y="2238824"/>
            <a:ext cx="7075760" cy="756084"/>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marL="285750" indent="-285750" defTabSz="402336">
              <a:lnSpc>
                <a:spcPct val="90000"/>
              </a:lnSpc>
              <a:spcBef>
                <a:spcPts val="250"/>
              </a:spcBef>
              <a:buSzPct val="100000"/>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 new generation of machines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might accomplish typical human tasks such as recognizing and moving objects, driving cars, cultivating fields, cleaning streets, city garbage collecting, etc.   </a:t>
            </a:r>
          </a:p>
        </p:txBody>
      </p:sp>
      <p:pic>
        <p:nvPicPr>
          <p:cNvPr id="31" name="Immagine 3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80925" y="3401781"/>
            <a:ext cx="2953681" cy="1748717"/>
          </a:xfrm>
          <a:prstGeom prst="rect">
            <a:avLst/>
          </a:prstGeom>
        </p:spPr>
      </p:pic>
      <p:pic>
        <p:nvPicPr>
          <p:cNvPr id="32" name="Immagine 3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97486" y="4088469"/>
            <a:ext cx="2419739" cy="1635540"/>
          </a:xfrm>
          <a:prstGeom prst="rect">
            <a:avLst/>
          </a:prstGeom>
        </p:spPr>
      </p:pic>
      <p:pic>
        <p:nvPicPr>
          <p:cNvPr id="33" name="Immagine 3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305926" y="5000109"/>
            <a:ext cx="2715569" cy="1577973"/>
          </a:xfrm>
          <a:prstGeom prst="rect">
            <a:avLst/>
          </a:prstGeom>
        </p:spPr>
      </p:pic>
    </p:spTree>
    <p:extLst>
      <p:ext uri="{BB962C8B-B14F-4D97-AF65-F5344CB8AC3E}">
        <p14:creationId xmlns:p14="http://schemas.microsoft.com/office/powerpoint/2010/main" val="1855162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27</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13106"/>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a:solidFill>
                  <a:srgbClr val="464646"/>
                </a:solidFill>
              </a:rPr>
              <a:t>Why does Computer Vision matter so much?</a:t>
            </a: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4" name="Shape 102">
            <a:extLst>
              <a:ext uri="{FF2B5EF4-FFF2-40B4-BE49-F238E27FC236}">
                <a16:creationId xmlns:a16="http://schemas.microsoft.com/office/drawing/2014/main" id="{AD0F28CD-E5CD-491D-82F1-502DEC09267C}"/>
              </a:ext>
            </a:extLst>
          </p:cNvPr>
          <p:cNvSpPr/>
          <p:nvPr/>
        </p:nvSpPr>
        <p:spPr>
          <a:xfrm>
            <a:off x="619431" y="2350924"/>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sz="900"/>
          </a:p>
        </p:txBody>
      </p:sp>
      <p:sp>
        <p:nvSpPr>
          <p:cNvPr id="16" name="Titolo">
            <a:extLst>
              <a:ext uri="{FF2B5EF4-FFF2-40B4-BE49-F238E27FC236}">
                <a16:creationId xmlns:a16="http://schemas.microsoft.com/office/drawing/2014/main" id="{D17E599C-53BD-4EE0-97DE-5A2F9BBE4F02}"/>
              </a:ext>
            </a:extLst>
          </p:cNvPr>
          <p:cNvSpPr txBox="1"/>
          <p:nvPr/>
        </p:nvSpPr>
        <p:spPr>
          <a:xfrm>
            <a:off x="574294" y="1656219"/>
            <a:ext cx="3785394" cy="564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7" name="Sottotitolo">
            <a:extLst>
              <a:ext uri="{FF2B5EF4-FFF2-40B4-BE49-F238E27FC236}">
                <a16:creationId xmlns:a16="http://schemas.microsoft.com/office/drawing/2014/main" id="{31A70E90-A83D-4889-A9CA-19BE9C2070D6}"/>
              </a:ext>
            </a:extLst>
          </p:cNvPr>
          <p:cNvSpPr txBox="1"/>
          <p:nvPr/>
        </p:nvSpPr>
        <p:spPr>
          <a:xfrm>
            <a:off x="574294" y="2643656"/>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8" name="TextBox 3">
            <a:extLst>
              <a:ext uri="{FF2B5EF4-FFF2-40B4-BE49-F238E27FC236}">
                <a16:creationId xmlns:a16="http://schemas.microsoft.com/office/drawing/2014/main" id="{ACF2319F-24C1-4DA6-B51D-A24FB923D1A3}"/>
              </a:ext>
            </a:extLst>
          </p:cNvPr>
          <p:cNvSpPr txBox="1"/>
          <p:nvPr/>
        </p:nvSpPr>
        <p:spPr>
          <a:xfrm>
            <a:off x="964763" y="1194821"/>
            <a:ext cx="3004457" cy="830997"/>
          </a:xfrm>
          <a:prstGeom prst="rect">
            <a:avLst/>
          </a:prstGeom>
          <a:noFill/>
        </p:spPr>
        <p:txBody>
          <a:bodyPr wrap="square" rtlCol="0">
            <a:spAutoFit/>
          </a:bodyPr>
          <a:lstStyle>
            <a:defPPr>
              <a:defRPr lang="it-IT"/>
            </a:defPPr>
            <a:lvl1pPr algn="ctr">
              <a:defRPr sz="2400" b="1">
                <a:solidFill>
                  <a:srgbClr val="7F142A"/>
                </a:solidFill>
              </a:defRPr>
            </a:lvl1pPr>
          </a:lstStyle>
          <a:p>
            <a:r>
              <a:rPr lang="en-GB" dirty="0"/>
              <a:t>Computer Vision for Recycling</a:t>
            </a:r>
          </a:p>
        </p:txBody>
      </p:sp>
      <p:sp>
        <p:nvSpPr>
          <p:cNvPr id="19" name="Rectangle 2">
            <a:extLst>
              <a:ext uri="{FF2B5EF4-FFF2-40B4-BE49-F238E27FC236}">
                <a16:creationId xmlns:a16="http://schemas.microsoft.com/office/drawing/2014/main" id="{76DAA9CA-55A0-4392-8A97-4CCA6E6198A8}"/>
              </a:ext>
            </a:extLst>
          </p:cNvPr>
          <p:cNvSpPr>
            <a:spLocks noChangeArrowheads="1"/>
          </p:cNvSpPr>
          <p:nvPr/>
        </p:nvSpPr>
        <p:spPr bwMode="auto">
          <a:xfrm>
            <a:off x="5868625" y="1896333"/>
            <a:ext cx="9239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45720" tIns="22860" rIns="45720" bIns="22860" numCol="1" anchor="ctr" anchorCtr="0" compatLnSpc="1">
            <a:prstTxWarp prst="textNoShape">
              <a:avLst/>
            </a:prstTxWarp>
            <a:spAutoFit/>
          </a:bodyPr>
          <a:lstStyle/>
          <a:p>
            <a:endParaRPr lang="it-IT" sz="900"/>
          </a:p>
        </p:txBody>
      </p:sp>
      <p:sp>
        <p:nvSpPr>
          <p:cNvPr id="22" name="Rettangolo 21">
            <a:extLst>
              <a:ext uri="{FF2B5EF4-FFF2-40B4-BE49-F238E27FC236}">
                <a16:creationId xmlns:a16="http://schemas.microsoft.com/office/drawing/2014/main" id="{BA1C3230-7512-4CB5-AE32-2C3C2FC2BD1E}"/>
              </a:ext>
            </a:extLst>
          </p:cNvPr>
          <p:cNvSpPr/>
          <p:nvPr/>
        </p:nvSpPr>
        <p:spPr>
          <a:xfrm>
            <a:off x="4736973" y="2102966"/>
            <a:ext cx="7047260" cy="4847481"/>
          </a:xfrm>
          <a:prstGeom prst="rect">
            <a:avLst/>
          </a:prstGeom>
          <a:noFill/>
        </p:spPr>
        <p:txBody>
          <a:bodyPr wrap="square" lIns="45720" tIns="22860" rIns="45720" bIns="22860">
            <a:spAutoFit/>
            <a:scene3d>
              <a:camera prst="orthographicFront"/>
              <a:lightRig rig="threePt" dir="t"/>
            </a:scene3d>
            <a:sp3d extrusionH="57150">
              <a:bevelT w="38100" h="38100"/>
            </a:sp3d>
          </a:bodyPr>
          <a:lstStyle/>
          <a:p>
            <a:pPr algn="ctr"/>
            <a:endParaRPr lang="en-US" sz="800" b="1" dirty="0">
              <a:ln w="0"/>
              <a:effectLst>
                <a:outerShdw blurRad="38100" dist="25400" dir="5400000" algn="ctr" rotWithShape="0">
                  <a:srgbClr val="6E747A">
                    <a:alpha val="43000"/>
                  </a:srgbClr>
                </a:outerShdw>
              </a:effectLst>
            </a:endParaRPr>
          </a:p>
          <a:p>
            <a:pPr marL="142875" indent="-142875" algn="just">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far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food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sustainability</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concerned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 first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version</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of a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classifier</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might</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enable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restaurant</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or a shop to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recognize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whether</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there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still</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return</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of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residual</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food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from the production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process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Afterwards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by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exploiting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other</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sub-</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classifiers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could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catch the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opportunity</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of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regenerating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this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residual</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food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saving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resources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marL="142875" indent="-142875" algn="just">
              <a:buFont typeface="Arial" panose="020B0604020202020204" pitchFamily="34" charset="0"/>
              <a:buChar char="•"/>
            </a:pPr>
            <a:endPar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just">
              <a:buFont typeface="Arial" panose="020B0604020202020204" pitchFamily="34" charset="0"/>
              <a:buChar char="•"/>
            </a:pP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AI</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applications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which</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can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optimize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all</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the </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flow</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of</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interactions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with a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restaurant</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decreasing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the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process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costs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and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increasing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sustainability</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i="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t>
            </a:r>
            <a:r>
              <a:rPr lang="it-IT" sz="2000" i="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Deep</a:t>
            </a:r>
            <a:r>
              <a:rPr lang="it-IT" sz="2000" i="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Learning al servizio del riciclo», Intervista su Wired, Pugliese, F.)</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Thanks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to </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Artificial</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Intelligence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in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one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work, some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researchers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have</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generated</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menus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of some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restaurants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analyzing</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all</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non-</a:t>
            </a:r>
            <a:r>
              <a:rPr lang="it-IT"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structured</a:t>
            </a:r>
            <a:r>
              <a:rPr lang="it-IT"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data</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from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customers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online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comments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142875" indent="-142875" algn="just">
              <a:buFont typeface="Arial" panose="020B0604020202020204" pitchFamily="34" charset="0"/>
              <a:buChar char="•"/>
            </a:pPr>
            <a:endParaRPr lang="en-US" sz="800" b="1"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endParaRPr lang="en-US" sz="800" b="1" dirty="0">
              <a:ln w="0"/>
              <a:effectLst>
                <a:outerShdw blurRad="38100" dist="25400" dir="5400000" algn="ctr" rotWithShape="0">
                  <a:srgbClr val="6E747A">
                    <a:alpha val="43000"/>
                  </a:srgbClr>
                </a:outerShdw>
              </a:effectLst>
            </a:endParaRPr>
          </a:p>
        </p:txBody>
      </p:sp>
      <p:pic>
        <p:nvPicPr>
          <p:cNvPr id="23" name="Immagine 22">
            <a:extLst>
              <a:ext uri="{FF2B5EF4-FFF2-40B4-BE49-F238E27FC236}">
                <a16:creationId xmlns:a16="http://schemas.microsoft.com/office/drawing/2014/main" id="{52F3B665-6971-4CC5-BBC6-952F00BCC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8127" y="3617542"/>
            <a:ext cx="3251093" cy="2185013"/>
          </a:xfrm>
          <a:prstGeom prst="rect">
            <a:avLst/>
          </a:prstGeom>
        </p:spPr>
      </p:pic>
      <p:sp>
        <p:nvSpPr>
          <p:cNvPr id="24" name="Rettangolo 23">
            <a:extLst>
              <a:ext uri="{FF2B5EF4-FFF2-40B4-BE49-F238E27FC236}">
                <a16:creationId xmlns:a16="http://schemas.microsoft.com/office/drawing/2014/main" id="{121CDA25-8DDE-482F-8F16-DED8E663C9E2}"/>
              </a:ext>
            </a:extLst>
          </p:cNvPr>
          <p:cNvSpPr/>
          <p:nvPr/>
        </p:nvSpPr>
        <p:spPr>
          <a:xfrm>
            <a:off x="4736973" y="936171"/>
            <a:ext cx="7049990" cy="1461939"/>
          </a:xfrm>
          <a:prstGeom prst="rect">
            <a:avLst/>
          </a:prstGeom>
          <a:noFill/>
        </p:spPr>
        <p:txBody>
          <a:bodyPr wrap="square" lIns="45720" tIns="22860" rIns="45720" bIns="22860">
            <a:spAutoFit/>
            <a:scene3d>
              <a:camera prst="orthographicFront"/>
              <a:lightRig rig="threePt" dir="t"/>
            </a:scene3d>
            <a:sp3d extrusionH="57150">
              <a:bevelT w="38100" h="38100"/>
            </a:sp3d>
          </a:bodyPr>
          <a:lstStyle/>
          <a:p>
            <a:pPr algn="ctr"/>
            <a:endParaRPr lang="en-US" sz="800" b="1" dirty="0">
              <a:ln w="0"/>
              <a:effectLst>
                <a:outerShdw blurRad="38100" dist="25400" dir="5400000" algn="ctr" rotWithShape="0">
                  <a:srgbClr val="6E747A">
                    <a:alpha val="43000"/>
                  </a:srgbClr>
                </a:outerShdw>
              </a:effectLst>
            </a:endParaRPr>
          </a:p>
          <a:p>
            <a:pPr marL="142875" indent="-142875" algn="just">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Smart Garbage Bins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could classify waste and differentiate it automatically. This might reduce the enormous impact of human errors. </a:t>
            </a:r>
            <a:endParaRPr lang="en-US" sz="800" dirty="0">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endParaRPr lang="en-US" sz="800" b="1" dirty="0">
              <a:ln w="0"/>
              <a:effectLst>
                <a:outerShdw blurRad="38100" dist="25400" dir="5400000" algn="ctr" rotWithShape="0">
                  <a:srgbClr val="6E747A">
                    <a:alpha val="43000"/>
                  </a:srgbClr>
                </a:outerShdw>
              </a:effectLst>
              <a:latin typeface="Arial" panose="020B0604020202020204" pitchFamily="34" charset="0"/>
              <a:cs typeface="Arial" panose="020B0604020202020204" pitchFamily="34" charset="0"/>
            </a:endParaRPr>
          </a:p>
          <a:p>
            <a:pPr marL="142875" indent="-142875" algn="just">
              <a:buFont typeface="Arial" panose="020B0604020202020204" pitchFamily="34" charset="0"/>
              <a:buChar char="•"/>
            </a:pPr>
            <a:endParaRPr lang="en-US" sz="800" b="1" dirty="0">
              <a:ln w="0"/>
              <a:effectLst>
                <a:outerShdw blurRad="38100" dist="25400" dir="5400000" algn="ctr" rotWithShape="0">
                  <a:srgbClr val="6E747A">
                    <a:alpha val="43000"/>
                  </a:srgbClr>
                </a:outerShdw>
              </a:effectLst>
            </a:endParaRPr>
          </a:p>
        </p:txBody>
      </p:sp>
      <p:pic>
        <p:nvPicPr>
          <p:cNvPr id="25" name="Immagine 24">
            <a:extLst>
              <a:ext uri="{FF2B5EF4-FFF2-40B4-BE49-F238E27FC236}">
                <a16:creationId xmlns:a16="http://schemas.microsoft.com/office/drawing/2014/main" id="{66C45E66-106D-4F76-957E-23C6D79715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127" y="2545750"/>
            <a:ext cx="3251093" cy="924151"/>
          </a:xfrm>
          <a:prstGeom prst="rect">
            <a:avLst/>
          </a:prstGeom>
        </p:spPr>
      </p:pic>
    </p:spTree>
    <p:extLst>
      <p:ext uri="{BB962C8B-B14F-4D97-AF65-F5344CB8AC3E}">
        <p14:creationId xmlns:p14="http://schemas.microsoft.com/office/powerpoint/2010/main" val="2871214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28</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413106"/>
            <a:ext cx="11269308" cy="192360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US" dirty="0">
                <a:solidFill>
                  <a:srgbClr val="464646"/>
                </a:solidFill>
              </a:rPr>
              <a:t>Why does Computer Vision matter so much?</a:t>
            </a:r>
            <a:br>
              <a:rPr lang="en-US" dirty="0">
                <a:solidFill>
                  <a:srgbClr val="464646"/>
                </a:solidFill>
              </a:rPr>
            </a:br>
            <a:br>
              <a:rPr lang="en-US" dirty="0"/>
            </a:br>
            <a:r>
              <a:rPr lang="en-US" dirty="0">
                <a:solidFill>
                  <a:srgbClr val="464646"/>
                </a:solidFill>
              </a:rPr>
              <a:t> </a:t>
            </a:r>
            <a:br>
              <a:rPr lang="en-US" dirty="0">
                <a:solidFill>
                  <a:srgbClr val="464646"/>
                </a:solidFill>
              </a:rPr>
            </a:br>
            <a:r>
              <a:rPr lang="it-IT" dirty="0">
                <a:solidFill>
                  <a:srgbClr val="464646"/>
                </a:solidFill>
              </a:rPr>
              <a:t> </a:t>
            </a:r>
            <a:br>
              <a:rPr lang="it-IT" dirty="0">
                <a:solidFill>
                  <a:srgbClr val="464646"/>
                </a:solidFill>
              </a:rPr>
            </a:br>
            <a:endParaRPr lang="it-IT" dirty="0"/>
          </a:p>
        </p:txBody>
      </p:sp>
      <p:sp>
        <p:nvSpPr>
          <p:cNvPr id="13" name="Shape 66">
            <a:extLst>
              <a:ext uri="{FF2B5EF4-FFF2-40B4-BE49-F238E27FC236}">
                <a16:creationId xmlns:a16="http://schemas.microsoft.com/office/drawing/2014/main" id="{373570FF-8DC1-4725-A9E0-0499BA860E05}"/>
              </a:ext>
            </a:extLst>
          </p:cNvPr>
          <p:cNvSpPr/>
          <p:nvPr/>
        </p:nvSpPr>
        <p:spPr>
          <a:xfrm>
            <a:off x="-1923470" y="1665537"/>
            <a:ext cx="8397737" cy="461665"/>
          </a:xfrm>
          <a:prstGeom prst="rect">
            <a:avLst/>
          </a:prstGeom>
          <a:noFill/>
          <a:extLst>
            <a:ext uri="{C572A759-6A51-4108-AA02-DFA0A04FC94B}">
              <ma14:wrappingTextBoxFlag xmlns="" xmlns:ma14="http://schemas.microsoft.com/office/mac/drawingml/2011/main" val="1"/>
            </a:ext>
          </a:extLst>
        </p:spPr>
        <p:txBody>
          <a:bodyPr wrap="square" rtlCol="0">
            <a:spAutoFit/>
          </a:bodyPr>
          <a:lstStyle/>
          <a:p>
            <a:pPr algn="ctr"/>
            <a:r>
              <a:rPr lang="it-IT" sz="2400" b="1" dirty="0">
                <a:solidFill>
                  <a:srgbClr val="7F142A"/>
                </a:solidFill>
              </a:rPr>
              <a:t>Image </a:t>
            </a:r>
            <a:r>
              <a:rPr lang="it-IT" sz="2400" b="1" dirty="0" err="1">
                <a:solidFill>
                  <a:srgbClr val="7F142A"/>
                </a:solidFill>
              </a:rPr>
              <a:t>Classification</a:t>
            </a:r>
            <a:r>
              <a:rPr lang="it-IT" sz="2400" b="1" dirty="0">
                <a:solidFill>
                  <a:srgbClr val="7F142A"/>
                </a:solidFill>
              </a:rPr>
              <a:t> </a:t>
            </a:r>
            <a:r>
              <a:rPr lang="it-IT" sz="2400" b="1" dirty="0" err="1">
                <a:solidFill>
                  <a:srgbClr val="7F142A"/>
                </a:solidFill>
              </a:rPr>
              <a:t>Problem</a:t>
            </a:r>
            <a:endParaRPr lang="it-IT" sz="2400" b="1" dirty="0">
              <a:solidFill>
                <a:srgbClr val="7F142A"/>
              </a:solidFill>
            </a:endParaRPr>
          </a:p>
        </p:txBody>
      </p:sp>
      <p:sp>
        <p:nvSpPr>
          <p:cNvPr id="15" name="Shape 118">
            <a:extLst>
              <a:ext uri="{FF2B5EF4-FFF2-40B4-BE49-F238E27FC236}">
                <a16:creationId xmlns:a16="http://schemas.microsoft.com/office/drawing/2014/main" id="{DC3591D4-434D-4DBA-8E22-B11126959CFC}"/>
              </a:ext>
            </a:extLst>
          </p:cNvPr>
          <p:cNvSpPr/>
          <p:nvPr/>
        </p:nvSpPr>
        <p:spPr>
          <a:xfrm>
            <a:off x="1911420" y="1472823"/>
            <a:ext cx="8369160" cy="4972071"/>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rPr>
              <a:t>									</a:t>
            </a:r>
          </a:p>
          <a:p>
            <a:pPr marL="285750" indent="-285750" defTabSz="402336">
              <a:lnSpc>
                <a:spcPct val="90000"/>
              </a:lnSpc>
              <a:spcBef>
                <a:spcPts val="250"/>
              </a:spcBef>
              <a:buSzPct val="100000"/>
              <a:buFont typeface="Arial" panose="020B0604020202020204" pitchFamily="34" charset="0"/>
              <a:buChar char="•"/>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defTabSz="402336">
              <a:lnSpc>
                <a:spcPct val="90000"/>
              </a:lnSpc>
              <a:spcBef>
                <a:spcPts val="250"/>
              </a:spcBef>
              <a:buSzPct val="100000"/>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rPr>
              <a:t>					What we see</a:t>
            </a:r>
          </a:p>
          <a:p>
            <a:pPr defTabSz="402336">
              <a:lnSpc>
                <a:spcPct val="90000"/>
              </a:lnSpc>
              <a:spcBef>
                <a:spcPts val="250"/>
              </a:spcBef>
              <a:buSzPct val="100000"/>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marL="285750" indent="-285750" defTabSz="402336">
              <a:lnSpc>
                <a:spcPct val="90000"/>
              </a:lnSpc>
              <a:spcBef>
                <a:spcPts val="250"/>
              </a:spcBef>
              <a:buSzPct val="100000"/>
              <a:buFont typeface="Arial" panose="020B0604020202020204" pitchFamily="34" charset="0"/>
              <a:buChar char="•"/>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marL="285750" indent="-285750" defTabSz="402336">
              <a:lnSpc>
                <a:spcPct val="90000"/>
              </a:lnSpc>
              <a:spcBef>
                <a:spcPts val="250"/>
              </a:spcBef>
              <a:buSzPct val="100000"/>
              <a:buFont typeface="Arial" panose="020B0604020202020204" pitchFamily="34" charset="0"/>
              <a:buChar char="•"/>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defTabSz="402336">
              <a:lnSpc>
                <a:spcPct val="90000"/>
              </a:lnSpc>
              <a:spcBef>
                <a:spcPts val="250"/>
              </a:spcBef>
              <a:buSzPct val="100000"/>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rPr>
              <a:t>						</a:t>
            </a:r>
          </a:p>
          <a:p>
            <a:pPr defTabSz="402336">
              <a:lnSpc>
                <a:spcPct val="90000"/>
              </a:lnSpc>
              <a:spcBef>
                <a:spcPts val="250"/>
              </a:spcBef>
              <a:buSzPct val="100000"/>
            </a:pPr>
            <a:endPar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endParaRPr>
          </a:p>
          <a:p>
            <a:pPr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rPr>
              <a:t>						</a:t>
            </a:r>
          </a:p>
          <a:p>
            <a:pPr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sym typeface="Arial"/>
              </a:rPr>
              <a:t>						What computers see</a:t>
            </a:r>
          </a:p>
        </p:txBody>
      </p:sp>
      <p:pic>
        <p:nvPicPr>
          <p:cNvPr id="20" name="Immagine 19">
            <a:extLst>
              <a:ext uri="{FF2B5EF4-FFF2-40B4-BE49-F238E27FC236}">
                <a16:creationId xmlns:a16="http://schemas.microsoft.com/office/drawing/2014/main" id="{2A2E238E-2962-408E-BBD5-8B9AEBDC58A8}"/>
              </a:ext>
            </a:extLst>
          </p:cNvPr>
          <p:cNvPicPr>
            <a:picLocks noChangeAspect="1"/>
          </p:cNvPicPr>
          <p:nvPr/>
        </p:nvPicPr>
        <p:blipFill>
          <a:blip r:embed="rId3"/>
          <a:stretch>
            <a:fillRect/>
          </a:stretch>
        </p:blipFill>
        <p:spPr>
          <a:xfrm>
            <a:off x="723564" y="2856669"/>
            <a:ext cx="3103670" cy="2425557"/>
          </a:xfrm>
          <a:prstGeom prst="rect">
            <a:avLst/>
          </a:prstGeom>
        </p:spPr>
      </p:pic>
      <p:pic>
        <p:nvPicPr>
          <p:cNvPr id="21" name="Immagine 20">
            <a:extLst>
              <a:ext uri="{FF2B5EF4-FFF2-40B4-BE49-F238E27FC236}">
                <a16:creationId xmlns:a16="http://schemas.microsoft.com/office/drawing/2014/main" id="{A5B2D5C4-40FC-41B9-90A3-DE9374F41759}"/>
              </a:ext>
            </a:extLst>
          </p:cNvPr>
          <p:cNvPicPr>
            <a:picLocks noChangeAspect="1"/>
          </p:cNvPicPr>
          <p:nvPr/>
        </p:nvPicPr>
        <p:blipFill>
          <a:blip r:embed="rId4"/>
          <a:stretch>
            <a:fillRect/>
          </a:stretch>
        </p:blipFill>
        <p:spPr>
          <a:xfrm>
            <a:off x="6646199" y="1472824"/>
            <a:ext cx="5365797" cy="4716744"/>
          </a:xfrm>
          <a:prstGeom prst="rect">
            <a:avLst/>
          </a:prstGeom>
        </p:spPr>
      </p:pic>
      <p:sp>
        <p:nvSpPr>
          <p:cNvPr id="26" name="Shape 102">
            <a:extLst>
              <a:ext uri="{FF2B5EF4-FFF2-40B4-BE49-F238E27FC236}">
                <a16:creationId xmlns:a16="http://schemas.microsoft.com/office/drawing/2014/main" id="{DBB689E6-4163-406F-A891-AEA5272B467F}"/>
              </a:ext>
            </a:extLst>
          </p:cNvPr>
          <p:cNvSpPr/>
          <p:nvPr/>
        </p:nvSpPr>
        <p:spPr>
          <a:xfrm>
            <a:off x="579950" y="2347818"/>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sz="900"/>
          </a:p>
        </p:txBody>
      </p:sp>
    </p:spTree>
    <p:extLst>
      <p:ext uri="{BB962C8B-B14F-4D97-AF65-F5344CB8AC3E}">
        <p14:creationId xmlns:p14="http://schemas.microsoft.com/office/powerpoint/2010/main" val="1684923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0" name="Shape 115">
            <a:extLst>
              <a:ext uri="{FF2B5EF4-FFF2-40B4-BE49-F238E27FC236}">
                <a16:creationId xmlns:a16="http://schemas.microsoft.com/office/drawing/2014/main" id="{77C90544-ECF9-49FE-89A0-E78F063D1098}"/>
              </a:ext>
            </a:extLst>
          </p:cNvPr>
          <p:cNvSpPr/>
          <p:nvPr/>
        </p:nvSpPr>
        <p:spPr>
          <a:xfrm>
            <a:off x="5989769" y="1560704"/>
            <a:ext cx="5934466" cy="784617"/>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marL="342900" indent="-342900">
              <a:buFont typeface="Arial" panose="020B0604020202020204" pitchFamily="34" charset="0"/>
              <a:buChar char="•"/>
            </a:pPr>
            <a:r>
              <a:rPr lang="en-GB" sz="2000" b="1" u="sng" dirty="0">
                <a:latin typeface="Arial" panose="020B0604020202020204" pitchFamily="34" charset="0"/>
                <a:cs typeface="Arial" panose="020B0604020202020204" pitchFamily="34" charset="0"/>
              </a:rPr>
              <a:t>ImageNet</a:t>
            </a:r>
            <a:r>
              <a:rPr lang="en-GB" sz="2000"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ImageNet is a dataset of over </a:t>
            </a:r>
            <a:r>
              <a:rPr lang="en-US" sz="2000" b="1" dirty="0">
                <a:latin typeface="Arial" panose="020B0604020202020204" pitchFamily="34" charset="0"/>
                <a:cs typeface="Arial" panose="020B0604020202020204" pitchFamily="34" charset="0"/>
              </a:rPr>
              <a:t>15</a:t>
            </a:r>
            <a:r>
              <a:rPr lang="en-US" sz="2000" dirty="0">
                <a:latin typeface="Arial" panose="020B0604020202020204" pitchFamily="34" charset="0"/>
                <a:cs typeface="Arial" panose="020B0604020202020204" pitchFamily="34" charset="0"/>
              </a:rPr>
              <a:t> million labeled high-resolution images belonging to roughly </a:t>
            </a:r>
            <a:r>
              <a:rPr lang="en-US" sz="2000" b="1" dirty="0">
                <a:latin typeface="Arial" panose="020B0604020202020204" pitchFamily="34" charset="0"/>
                <a:cs typeface="Arial" panose="020B0604020202020204" pitchFamily="34" charset="0"/>
              </a:rPr>
              <a:t>22,000</a:t>
            </a:r>
            <a:r>
              <a:rPr lang="en-US" sz="2000" dirty="0">
                <a:latin typeface="Arial" panose="020B0604020202020204" pitchFamily="34" charset="0"/>
                <a:cs typeface="Arial" panose="020B0604020202020204" pitchFamily="34" charset="0"/>
              </a:rPr>
              <a:t> </a:t>
            </a:r>
            <a:r>
              <a:rPr lang="it-IT" sz="2000" dirty="0" err="1">
                <a:latin typeface="Arial" panose="020B0604020202020204" pitchFamily="34" charset="0"/>
                <a:cs typeface="Arial" panose="020B0604020202020204" pitchFamily="34" charset="0"/>
              </a:rPr>
              <a:t>categories</a:t>
            </a:r>
            <a:r>
              <a:rPr lang="it-IT" sz="2000" dirty="0">
                <a:latin typeface="Arial" panose="020B0604020202020204" pitchFamily="34" charset="0"/>
                <a:cs typeface="Arial" panose="020B0604020202020204" pitchFamily="34" charset="0"/>
              </a:rPr>
              <a:t>. </a:t>
            </a:r>
          </a:p>
        </p:txBody>
      </p:sp>
      <p:pic>
        <p:nvPicPr>
          <p:cNvPr id="12" name="Immagine 11">
            <a:extLst>
              <a:ext uri="{FF2B5EF4-FFF2-40B4-BE49-F238E27FC236}">
                <a16:creationId xmlns:a16="http://schemas.microsoft.com/office/drawing/2014/main" id="{13C46E9F-836B-4028-8152-99678F136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7572" y="1953012"/>
            <a:ext cx="5062087" cy="3154723"/>
          </a:xfrm>
          <a:prstGeom prst="rect">
            <a:avLst/>
          </a:prstGeom>
        </p:spPr>
      </p:pic>
      <p:sp>
        <p:nvSpPr>
          <p:cNvPr id="16" name="Rettangolo 15">
            <a:extLst>
              <a:ext uri="{FF2B5EF4-FFF2-40B4-BE49-F238E27FC236}">
                <a16:creationId xmlns:a16="http://schemas.microsoft.com/office/drawing/2014/main" id="{FE3EFC8B-A837-4DA1-9CA6-5D8937DCADB5}"/>
              </a:ext>
            </a:extLst>
          </p:cNvPr>
          <p:cNvSpPr/>
          <p:nvPr/>
        </p:nvSpPr>
        <p:spPr>
          <a:xfrm>
            <a:off x="6409802" y="4442355"/>
            <a:ext cx="5366860" cy="1477328"/>
          </a:xfrm>
          <a:prstGeom prst="rect">
            <a:avLst/>
          </a:prstGeom>
        </p:spPr>
        <p:txBody>
          <a:bodyPr wrap="square">
            <a:spAutoFit/>
          </a:bodyPr>
          <a:lstStyle/>
          <a:p>
            <a:r>
              <a:rPr lang="en-US" b="1" dirty="0">
                <a:latin typeface="Arial" panose="020B0604020202020204" pitchFamily="34" charset="0"/>
                <a:cs typeface="Arial" panose="020B0604020202020204" pitchFamily="34" charset="0"/>
              </a:rPr>
              <a:t>Train Set:</a:t>
            </a:r>
            <a:r>
              <a:rPr lang="en-US" dirty="0">
                <a:latin typeface="Arial" panose="020B0604020202020204" pitchFamily="34" charset="0"/>
                <a:cs typeface="Arial" panose="020B0604020202020204" pitchFamily="34" charset="0"/>
              </a:rPr>
              <a:t> 1.2 million </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Validation Set:</a:t>
            </a:r>
            <a:r>
              <a:rPr lang="en-US" dirty="0">
                <a:latin typeface="Arial" panose="020B0604020202020204" pitchFamily="34" charset="0"/>
                <a:cs typeface="Arial" panose="020B0604020202020204" pitchFamily="34" charset="0"/>
              </a:rPr>
              <a:t> 50,000 </a:t>
            </a:r>
          </a:p>
          <a:p>
            <a:endParaRPr lang="en-US" b="1" dirty="0">
              <a:latin typeface="Arial" panose="020B0604020202020204" pitchFamily="34" charset="0"/>
              <a:cs typeface="Arial" panose="020B0604020202020204" pitchFamily="34" charset="0"/>
            </a:endParaRPr>
          </a:p>
          <a:p>
            <a:r>
              <a:rPr lang="en-US" b="1" dirty="0">
                <a:latin typeface="Arial" panose="020B0604020202020204" pitchFamily="34" charset="0"/>
                <a:cs typeface="Arial" panose="020B0604020202020204" pitchFamily="34" charset="0"/>
              </a:rPr>
              <a:t>Test set:</a:t>
            </a:r>
            <a:r>
              <a:rPr lang="en-US" dirty="0">
                <a:latin typeface="Arial" panose="020B0604020202020204" pitchFamily="34" charset="0"/>
                <a:cs typeface="Arial" panose="020B0604020202020204" pitchFamily="34" charset="0"/>
              </a:rPr>
              <a:t> </a:t>
            </a:r>
            <a:r>
              <a:rPr lang="it-IT" dirty="0">
                <a:latin typeface="Arial" panose="020B0604020202020204" pitchFamily="34" charset="0"/>
                <a:cs typeface="Arial" panose="020B0604020202020204" pitchFamily="34" charset="0"/>
              </a:rPr>
              <a:t>150,000</a:t>
            </a:r>
            <a:endParaRPr lang="en-US" dirty="0">
              <a:latin typeface="Arial" panose="020B0604020202020204" pitchFamily="34" charset="0"/>
              <a:cs typeface="Arial" panose="020B0604020202020204" pitchFamily="34" charset="0"/>
            </a:endParaRPr>
          </a:p>
        </p:txBody>
      </p:sp>
      <p:sp>
        <p:nvSpPr>
          <p:cNvPr id="17" name="Rettangolo 16">
            <a:extLst>
              <a:ext uri="{FF2B5EF4-FFF2-40B4-BE49-F238E27FC236}">
                <a16:creationId xmlns:a16="http://schemas.microsoft.com/office/drawing/2014/main" id="{A4635E29-286C-4A38-9B1B-0DA709BEB041}"/>
              </a:ext>
            </a:extLst>
          </p:cNvPr>
          <p:cNvSpPr/>
          <p:nvPr/>
        </p:nvSpPr>
        <p:spPr>
          <a:xfrm>
            <a:off x="5989769" y="2673577"/>
            <a:ext cx="5612027" cy="1200329"/>
          </a:xfrm>
          <a:prstGeom prst="rect">
            <a:avLst/>
          </a:prstGeom>
        </p:spPr>
        <p:txBody>
          <a:bodyPr wrap="square">
            <a:spAutoFit/>
          </a:bodyPr>
          <a:lstStyle/>
          <a:p>
            <a:pPr marL="342900" indent="-342900">
              <a:buFont typeface="Arial" panose="020B0604020202020204" pitchFamily="34" charset="0"/>
              <a:buChar char="•"/>
            </a:pPr>
            <a:r>
              <a:rPr lang="it-IT" dirty="0" err="1">
                <a:latin typeface="Arial" panose="020B0604020202020204" pitchFamily="34" charset="0"/>
                <a:cs typeface="Arial" panose="020B0604020202020204" pitchFamily="34" charset="0"/>
              </a:rPr>
              <a:t>Since</a:t>
            </a:r>
            <a:r>
              <a:rPr lang="it-IT" dirty="0">
                <a:latin typeface="Arial" panose="020B0604020202020204" pitchFamily="34" charset="0"/>
                <a:cs typeface="Arial" panose="020B0604020202020204" pitchFamily="34" charset="0"/>
              </a:rPr>
              <a:t> </a:t>
            </a:r>
            <a:r>
              <a:rPr lang="it-IT" b="1" dirty="0">
                <a:latin typeface="Arial" panose="020B0604020202020204" pitchFamily="34" charset="0"/>
                <a:cs typeface="Arial" panose="020B0604020202020204" pitchFamily="34" charset="0"/>
              </a:rPr>
              <a:t>2010</a:t>
            </a:r>
            <a:r>
              <a:rPr lang="it-IT" dirty="0">
                <a:latin typeface="Arial" panose="020B0604020202020204" pitchFamily="34" charset="0"/>
                <a:cs typeface="Arial" panose="020B0604020202020204" pitchFamily="34" charset="0"/>
              </a:rPr>
              <a:t> a </a:t>
            </a:r>
            <a:r>
              <a:rPr lang="it-IT" dirty="0" err="1">
                <a:latin typeface="Arial" panose="020B0604020202020204" pitchFamily="34" charset="0"/>
                <a:cs typeface="Arial" panose="020B0604020202020204" pitchFamily="34" charset="0"/>
              </a:rPr>
              <a:t>competition</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called</a:t>
            </a:r>
            <a:r>
              <a:rPr lang="it-IT" dirty="0">
                <a:latin typeface="Arial" panose="020B0604020202020204" pitchFamily="34" charset="0"/>
                <a:cs typeface="Arial" panose="020B0604020202020204" pitchFamily="34" charset="0"/>
              </a:rPr>
              <a:t> «</a:t>
            </a:r>
            <a:r>
              <a:rPr lang="it-IT" dirty="0" err="1">
                <a:latin typeface="Arial" panose="020B0604020202020204" pitchFamily="34" charset="0"/>
                <a:cs typeface="Arial" panose="020B0604020202020204" pitchFamily="34" charset="0"/>
              </a:rPr>
              <a:t>ImageNet</a:t>
            </a:r>
            <a:r>
              <a:rPr lang="it-IT" dirty="0">
                <a:latin typeface="Arial" panose="020B0604020202020204" pitchFamily="34" charset="0"/>
                <a:cs typeface="Arial" panose="020B0604020202020204" pitchFamily="34" charset="0"/>
              </a:rPr>
              <a:t> Large-Scale Visual </a:t>
            </a:r>
            <a:r>
              <a:rPr lang="it-IT" dirty="0" err="1">
                <a:latin typeface="Arial" panose="020B0604020202020204" pitchFamily="34" charset="0"/>
                <a:cs typeface="Arial" panose="020B0604020202020204" pitchFamily="34" charset="0"/>
              </a:rPr>
              <a:t>Recognition</a:t>
            </a:r>
            <a:r>
              <a:rPr lang="it-IT" dirty="0">
                <a:latin typeface="Arial" panose="020B0604020202020204" pitchFamily="34" charset="0"/>
                <a:cs typeface="Arial" panose="020B0604020202020204" pitchFamily="34" charset="0"/>
              </a:rPr>
              <a:t> Challenge (ILSVRC)» </a:t>
            </a:r>
            <a:r>
              <a:rPr lang="en-US" dirty="0">
                <a:latin typeface="Arial" panose="020B0604020202020204" pitchFamily="34" charset="0"/>
                <a:cs typeface="Arial" panose="020B0604020202020204" pitchFamily="34" charset="0"/>
              </a:rPr>
              <a:t>uses a subset of ImageNet with roughly </a:t>
            </a:r>
            <a:r>
              <a:rPr lang="en-US" b="1" dirty="0">
                <a:latin typeface="Arial" panose="020B0604020202020204" pitchFamily="34" charset="0"/>
                <a:cs typeface="Arial" panose="020B0604020202020204" pitchFamily="34" charset="0"/>
              </a:rPr>
              <a:t>1000</a:t>
            </a:r>
            <a:r>
              <a:rPr lang="en-US" dirty="0">
                <a:latin typeface="Arial" panose="020B0604020202020204" pitchFamily="34" charset="0"/>
                <a:cs typeface="Arial" panose="020B0604020202020204" pitchFamily="34" charset="0"/>
              </a:rPr>
              <a:t> images in each of </a:t>
            </a:r>
            <a:r>
              <a:rPr lang="en-US" b="1" dirty="0">
                <a:latin typeface="Arial" panose="020B0604020202020204" pitchFamily="34" charset="0"/>
                <a:cs typeface="Arial" panose="020B0604020202020204" pitchFamily="34" charset="0"/>
              </a:rPr>
              <a:t>1000</a:t>
            </a:r>
            <a:r>
              <a:rPr lang="en-US" dirty="0">
                <a:latin typeface="Arial" panose="020B0604020202020204" pitchFamily="34" charset="0"/>
                <a:cs typeface="Arial" panose="020B0604020202020204" pitchFamily="34" charset="0"/>
              </a:rPr>
              <a:t> categories. </a:t>
            </a:r>
          </a:p>
        </p:txBody>
      </p:sp>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523220"/>
          </a:xfrm>
          <a:prstGeom prst="rect">
            <a:avLst/>
          </a:prstGeom>
          <a:noFill/>
        </p:spPr>
        <p:txBody>
          <a:bodyPr wrap="square">
            <a:spAutoFit/>
          </a:bodyPr>
          <a:lstStyle/>
          <a:p>
            <a:r>
              <a:rPr lang="en-US" sz="2800" b="1" dirty="0">
                <a:solidFill>
                  <a:srgbClr val="464646"/>
                </a:solidFill>
                <a:latin typeface="Arial" panose="020B0604020202020204" pitchFamily="34" charset="0"/>
                <a:ea typeface="+mj-ea"/>
                <a:cs typeface="Arial" panose="020B0604020202020204" pitchFamily="34" charset="0"/>
              </a:rPr>
              <a:t>Computer Vision Datasets and Competitions</a:t>
            </a: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29</a:t>
            </a:fld>
            <a:endParaRPr lang="en-US" dirty="0"/>
          </a:p>
        </p:txBody>
      </p:sp>
    </p:spTree>
    <p:extLst>
      <p:ext uri="{BB962C8B-B14F-4D97-AF65-F5344CB8AC3E}">
        <p14:creationId xmlns:p14="http://schemas.microsoft.com/office/powerpoint/2010/main" val="21201642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523220"/>
          </a:xfrm>
          <a:prstGeom prst="rect">
            <a:avLst/>
          </a:prstGeom>
          <a:noFill/>
        </p:spPr>
        <p:txBody>
          <a:bodyPr wrap="square">
            <a:spAutoFit/>
          </a:bodyPr>
          <a:lstStyle/>
          <a:p>
            <a:r>
              <a:rPr lang="en-US" sz="2800" b="1" dirty="0">
                <a:solidFill>
                  <a:srgbClr val="464646"/>
                </a:solidFill>
                <a:latin typeface="Arial" panose="020B0604020202020204" pitchFamily="34" charset="0"/>
                <a:ea typeface="+mj-ea"/>
                <a:cs typeface="Arial" panose="020B0604020202020204" pitchFamily="34" charset="0"/>
              </a:rPr>
              <a:t>Computer Vision Datasets and Competitions</a:t>
            </a: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30</a:t>
            </a:fld>
            <a:endParaRPr lang="en-US" dirty="0"/>
          </a:p>
        </p:txBody>
      </p:sp>
      <p:sp>
        <p:nvSpPr>
          <p:cNvPr id="8" name="Sottotitolo">
            <a:extLst>
              <a:ext uri="{FF2B5EF4-FFF2-40B4-BE49-F238E27FC236}">
                <a16:creationId xmlns:a16="http://schemas.microsoft.com/office/drawing/2014/main" id="{BBB6FA4A-CCF4-4DEA-AAE1-0B8307671640}"/>
              </a:ext>
            </a:extLst>
          </p:cNvPr>
          <p:cNvSpPr txBox="1"/>
          <p:nvPr/>
        </p:nvSpPr>
        <p:spPr>
          <a:xfrm>
            <a:off x="624519" y="2715462"/>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9" name="Shape 115">
            <a:extLst>
              <a:ext uri="{FF2B5EF4-FFF2-40B4-BE49-F238E27FC236}">
                <a16:creationId xmlns:a16="http://schemas.microsoft.com/office/drawing/2014/main" id="{44E783EC-561A-42C1-9AF9-3D2F76E5D235}"/>
              </a:ext>
            </a:extLst>
          </p:cNvPr>
          <p:cNvSpPr/>
          <p:nvPr/>
        </p:nvSpPr>
        <p:spPr>
          <a:xfrm>
            <a:off x="4748386" y="1289074"/>
            <a:ext cx="7120145" cy="5888792"/>
          </a:xfrm>
          <a:prstGeom prst="rect">
            <a:avLst/>
          </a:prstGeom>
          <a:extLst>
            <a:ext uri="{C572A759-6A51-4108-AA02-DFA0A04FC94B}">
              <ma14:wrappingTextBoxFlag xmlns="" xmlns:ma14="http://schemas.microsoft.com/office/mac/drawingml/2011/main" val="1"/>
            </a:ext>
          </a:extLst>
        </p:spPr>
        <p:txBody>
          <a:bodyPr wrap="square">
            <a:spAutoFit/>
          </a:bodyPr>
          <a:lstStyle/>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CIFAR-10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dataset consists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60,000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32x32</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coloured</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images divided into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 classes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with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6000 images per class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There are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50,000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training</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images and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test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images.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dataset is divided into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five training batches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and one test batch, each with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images. The test batch contains exactly 1000 randomly-selected images from each class. The training batches contain the remaining images in random order, but some training batches may contain more images from one class than another. Between them, the training batches contain exactly 5000 images from each class.</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classes are completely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mutually exclusive</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There is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no overlap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between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automobiles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and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trucks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"Automobile" includes sedans, SUVs, things of that sort. "Truck" includes only big trucks. Neither includes pickup trucks.</a:t>
            </a:r>
          </a:p>
          <a:p>
            <a:pPr algn="just">
              <a:spcBef>
                <a:spcPts val="400"/>
              </a:spcBef>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b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b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pic>
        <p:nvPicPr>
          <p:cNvPr id="11" name="Immagine 10">
            <a:extLst>
              <a:ext uri="{FF2B5EF4-FFF2-40B4-BE49-F238E27FC236}">
                <a16:creationId xmlns:a16="http://schemas.microsoft.com/office/drawing/2014/main" id="{83291022-1526-416B-9690-9AA0F91C1E69}"/>
              </a:ext>
            </a:extLst>
          </p:cNvPr>
          <p:cNvPicPr>
            <a:picLocks noChangeAspect="1"/>
          </p:cNvPicPr>
          <p:nvPr/>
        </p:nvPicPr>
        <p:blipFill>
          <a:blip r:embed="rId3"/>
          <a:stretch>
            <a:fillRect/>
          </a:stretch>
        </p:blipFill>
        <p:spPr>
          <a:xfrm>
            <a:off x="434122" y="2066645"/>
            <a:ext cx="4145028" cy="3351844"/>
          </a:xfrm>
          <a:prstGeom prst="rect">
            <a:avLst/>
          </a:prstGeom>
        </p:spPr>
      </p:pic>
    </p:spTree>
    <p:extLst>
      <p:ext uri="{BB962C8B-B14F-4D97-AF65-F5344CB8AC3E}">
        <p14:creationId xmlns:p14="http://schemas.microsoft.com/office/powerpoint/2010/main" val="5028396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523220"/>
          </a:xfrm>
          <a:prstGeom prst="rect">
            <a:avLst/>
          </a:prstGeom>
          <a:noFill/>
        </p:spPr>
        <p:txBody>
          <a:bodyPr wrap="square">
            <a:spAutoFit/>
          </a:bodyPr>
          <a:lstStyle/>
          <a:p>
            <a:r>
              <a:rPr lang="en-US" sz="2800" b="1" dirty="0">
                <a:solidFill>
                  <a:srgbClr val="464646"/>
                </a:solidFill>
                <a:latin typeface="Arial" panose="020B0604020202020204" pitchFamily="34" charset="0"/>
                <a:ea typeface="+mj-ea"/>
                <a:cs typeface="Arial" panose="020B0604020202020204" pitchFamily="34" charset="0"/>
              </a:rPr>
              <a:t>Computer Vision Datasets and Competitions</a:t>
            </a: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31</a:t>
            </a:fld>
            <a:endParaRPr lang="en-US" dirty="0"/>
          </a:p>
        </p:txBody>
      </p:sp>
      <p:sp>
        <p:nvSpPr>
          <p:cNvPr id="7" name="Sottotitolo">
            <a:extLst>
              <a:ext uri="{FF2B5EF4-FFF2-40B4-BE49-F238E27FC236}">
                <a16:creationId xmlns:a16="http://schemas.microsoft.com/office/drawing/2014/main" id="{CF90EFBC-DEA4-4B78-BBDA-D81792582A52}"/>
              </a:ext>
            </a:extLst>
          </p:cNvPr>
          <p:cNvSpPr txBox="1"/>
          <p:nvPr/>
        </p:nvSpPr>
        <p:spPr>
          <a:xfrm>
            <a:off x="624519" y="2874034"/>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0" name="Shape 115">
            <a:extLst>
              <a:ext uri="{FF2B5EF4-FFF2-40B4-BE49-F238E27FC236}">
                <a16:creationId xmlns:a16="http://schemas.microsoft.com/office/drawing/2014/main" id="{F85CFBE0-B6A5-49B0-A772-5CDDDF5861F3}"/>
              </a:ext>
            </a:extLst>
          </p:cNvPr>
          <p:cNvSpPr/>
          <p:nvPr/>
        </p:nvSpPr>
        <p:spPr>
          <a:xfrm>
            <a:off x="4748386" y="1214381"/>
            <a:ext cx="7120145" cy="5324535"/>
          </a:xfrm>
          <a:prstGeom prst="rect">
            <a:avLst/>
          </a:prstGeom>
          <a:extLst>
            <a:ext uri="{C572A759-6A51-4108-AA02-DFA0A04FC94B}">
              <ma14:wrappingTextBoxFlag xmlns="" xmlns:ma14="http://schemas.microsoft.com/office/mac/drawingml/2011/main" val="1"/>
            </a:ext>
          </a:extLst>
        </p:spPr>
        <p:txBody>
          <a:bodyPr wrap="square">
            <a:spAutoFit/>
          </a:bodyPr>
          <a:lstStyle/>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MNIST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database of handwritten digits has a training set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60,000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examples, and a test set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examples.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It is a subset of a larger set available from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NIST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The digits have been size-normalized and centered in a fixed-size image</a:t>
            </a:r>
            <a:r>
              <a:rPr lang="en-US" sz="2000" dirty="0"/>
              <a:t>.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It is a good database for people who want to try learning techniques and pattern recognition methods on real-world data while spending minimal efforts on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preprocessing</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and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formatting</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The images contain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grey levels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as a result of 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anti-aliasing technique</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used by the normalization algorithm. The images were centered in a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28x28</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image by computing the center of mass of the pixels, and translating the image so as to position this point at the center of the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28x28</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field. </a:t>
            </a:r>
          </a:p>
        </p:txBody>
      </p:sp>
      <p:pic>
        <p:nvPicPr>
          <p:cNvPr id="12" name="Immagine 11">
            <a:extLst>
              <a:ext uri="{FF2B5EF4-FFF2-40B4-BE49-F238E27FC236}">
                <a16:creationId xmlns:a16="http://schemas.microsoft.com/office/drawing/2014/main" id="{804C9D54-0023-412C-B07F-4EFE00E617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519" y="2254526"/>
            <a:ext cx="3885713" cy="2989970"/>
          </a:xfrm>
          <a:prstGeom prst="rect">
            <a:avLst/>
          </a:prstGeom>
        </p:spPr>
      </p:pic>
    </p:spTree>
    <p:extLst>
      <p:ext uri="{BB962C8B-B14F-4D97-AF65-F5344CB8AC3E}">
        <p14:creationId xmlns:p14="http://schemas.microsoft.com/office/powerpoint/2010/main" val="6272897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523220"/>
          </a:xfrm>
          <a:prstGeom prst="rect">
            <a:avLst/>
          </a:prstGeom>
          <a:noFill/>
        </p:spPr>
        <p:txBody>
          <a:bodyPr wrap="square">
            <a:spAutoFit/>
          </a:bodyPr>
          <a:lstStyle/>
          <a:p>
            <a:r>
              <a:rPr lang="en-US" sz="2800" b="1" dirty="0">
                <a:solidFill>
                  <a:srgbClr val="464646"/>
                </a:solidFill>
                <a:latin typeface="Arial" panose="020B0604020202020204" pitchFamily="34" charset="0"/>
                <a:ea typeface="+mj-ea"/>
                <a:cs typeface="Arial" panose="020B0604020202020204" pitchFamily="34" charset="0"/>
              </a:rPr>
              <a:t>Computer Vision Datasets and Competitions</a:t>
            </a: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32</a:t>
            </a:fld>
            <a:endParaRPr lang="en-US" dirty="0"/>
          </a:p>
        </p:txBody>
      </p:sp>
      <p:sp>
        <p:nvSpPr>
          <p:cNvPr id="8" name="Sottotitolo">
            <a:extLst>
              <a:ext uri="{FF2B5EF4-FFF2-40B4-BE49-F238E27FC236}">
                <a16:creationId xmlns:a16="http://schemas.microsoft.com/office/drawing/2014/main" id="{BBB6FA4A-CCF4-4DEA-AAE1-0B8307671640}"/>
              </a:ext>
            </a:extLst>
          </p:cNvPr>
          <p:cNvSpPr txBox="1"/>
          <p:nvPr/>
        </p:nvSpPr>
        <p:spPr>
          <a:xfrm>
            <a:off x="624519" y="2715462"/>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pic>
        <p:nvPicPr>
          <p:cNvPr id="7" name="Immagine 6">
            <a:extLst>
              <a:ext uri="{FF2B5EF4-FFF2-40B4-BE49-F238E27FC236}">
                <a16:creationId xmlns:a16="http://schemas.microsoft.com/office/drawing/2014/main" id="{81E70ECF-1203-4484-9437-DB2BC4E24B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119" y="2029662"/>
            <a:ext cx="3321838" cy="3321838"/>
          </a:xfrm>
          <a:prstGeom prst="rect">
            <a:avLst/>
          </a:prstGeom>
        </p:spPr>
      </p:pic>
      <p:sp>
        <p:nvSpPr>
          <p:cNvPr id="10" name="Shape 115">
            <a:extLst>
              <a:ext uri="{FF2B5EF4-FFF2-40B4-BE49-F238E27FC236}">
                <a16:creationId xmlns:a16="http://schemas.microsoft.com/office/drawing/2014/main" id="{D903AC1D-AAE9-44C4-AA8C-8A187C22FA7D}"/>
              </a:ext>
            </a:extLst>
          </p:cNvPr>
          <p:cNvSpPr/>
          <p:nvPr/>
        </p:nvSpPr>
        <p:spPr>
          <a:xfrm>
            <a:off x="4748386" y="1186034"/>
            <a:ext cx="7120145" cy="5940088"/>
          </a:xfrm>
          <a:prstGeom prst="rect">
            <a:avLst/>
          </a:prstGeom>
          <a:extLst>
            <a:ext uri="{C572A759-6A51-4108-AA02-DFA0A04FC94B}">
              <ma14:wrappingTextBoxFlag xmlns="" xmlns:ma14="http://schemas.microsoft.com/office/mac/drawingml/2011/main" val="1"/>
            </a:ext>
          </a:extLst>
        </p:spPr>
        <p:txBody>
          <a:bodyPr wrap="square">
            <a:spAutoFit/>
          </a:bodyPr>
          <a:lstStyle/>
          <a:p>
            <a:pPr marL="285750" indent="-285750" algn="just">
              <a:spcBef>
                <a:spcPts val="400"/>
              </a:spcBef>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Fashion MNIST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is a dataset of </a:t>
            </a:r>
            <a:r>
              <a:rPr lang="en-US"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Zalando’s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article images consisting of a training set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60,000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images and a test set of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examples.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Each example is a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28 x 28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grayscale image associated with a label from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10 classes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Reasons for replacing MNIST according to </a:t>
            </a:r>
            <a:r>
              <a:rPr lang="en-US"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Zalando</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opinions: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lvl="3"/>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MNIST is too easy.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Convolutional nets can achieve 	   99.7% on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MNIST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Classic machine learning algorithms  </a:t>
            </a:r>
          </a:p>
          <a:p>
            <a:pPr lvl="3"/>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can also achieve 97% easily. </a:t>
            </a:r>
          </a:p>
          <a:p>
            <a:pPr lvl="3"/>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MNIST is overused and cannot represent modern CV 	  tasks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as noted by deep learning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expert/</a:t>
            </a:r>
            <a:r>
              <a:rPr lang="en-US"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Keras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author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François </a:t>
            </a:r>
            <a:r>
              <a:rPr lang="en-US"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Chollet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24401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954107"/>
          </a:xfrm>
          <a:prstGeom prst="rect">
            <a:avLst/>
          </a:prstGeom>
          <a:noFill/>
        </p:spPr>
        <p:txBody>
          <a:bodyPr wrap="square">
            <a:spAutoFit/>
          </a:bodyPr>
          <a:lstStyle/>
          <a:p>
            <a:r>
              <a:rPr lang="en-US" sz="2800" b="1" dirty="0">
                <a:solidFill>
                  <a:srgbClr val="464646"/>
                </a:solidFill>
                <a:latin typeface="Arial" panose="020B0604020202020204" pitchFamily="34" charset="0"/>
                <a:ea typeface="+mj-ea"/>
                <a:cs typeface="Arial" panose="020B0604020202020204" pitchFamily="34" charset="0"/>
              </a:rPr>
              <a:t>Convolutional Neural Networks (</a:t>
            </a:r>
            <a:r>
              <a:rPr lang="en-US" sz="2800" b="1" dirty="0" err="1">
                <a:solidFill>
                  <a:srgbClr val="464646"/>
                </a:solidFill>
                <a:latin typeface="Arial" panose="020B0604020202020204" pitchFamily="34" charset="0"/>
                <a:ea typeface="+mj-ea"/>
                <a:cs typeface="Arial" panose="020B0604020202020204" pitchFamily="34" charset="0"/>
              </a:rPr>
              <a:t>ConvNets</a:t>
            </a:r>
            <a:r>
              <a:rPr lang="en-US" sz="2800" b="1" dirty="0">
                <a:solidFill>
                  <a:srgbClr val="464646"/>
                </a:solidFill>
                <a:latin typeface="Arial" panose="020B0604020202020204" pitchFamily="34" charset="0"/>
                <a:ea typeface="+mj-ea"/>
                <a:cs typeface="Arial" panose="020B0604020202020204" pitchFamily="34" charset="0"/>
              </a:rPr>
              <a:t> or CNNs)</a:t>
            </a:r>
          </a:p>
          <a:p>
            <a:endParaRPr lang="en-US" sz="2800" b="1" dirty="0">
              <a:solidFill>
                <a:srgbClr val="464646"/>
              </a:solidFill>
              <a:latin typeface="Arial" panose="020B0604020202020204" pitchFamily="34" charset="0"/>
              <a:ea typeface="+mj-ea"/>
              <a:cs typeface="Arial" panose="020B0604020202020204" pitchFamily="34" charset="0"/>
            </a:endParaRP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33</a:t>
            </a:fld>
            <a:endParaRPr lang="en-US" dirty="0"/>
          </a:p>
        </p:txBody>
      </p:sp>
      <p:sp>
        <p:nvSpPr>
          <p:cNvPr id="8" name="Sottotitolo">
            <a:extLst>
              <a:ext uri="{FF2B5EF4-FFF2-40B4-BE49-F238E27FC236}">
                <a16:creationId xmlns:a16="http://schemas.microsoft.com/office/drawing/2014/main" id="{BBB6FA4A-CCF4-4DEA-AAE1-0B8307671640}"/>
              </a:ext>
            </a:extLst>
          </p:cNvPr>
          <p:cNvSpPr txBox="1"/>
          <p:nvPr/>
        </p:nvSpPr>
        <p:spPr>
          <a:xfrm>
            <a:off x="624519" y="2715462"/>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9" name="Shape 115">
            <a:extLst>
              <a:ext uri="{FF2B5EF4-FFF2-40B4-BE49-F238E27FC236}">
                <a16:creationId xmlns:a16="http://schemas.microsoft.com/office/drawing/2014/main" id="{44DD469F-6293-4110-9951-19140B69EEED}"/>
              </a:ext>
            </a:extLst>
          </p:cNvPr>
          <p:cNvSpPr/>
          <p:nvPr/>
        </p:nvSpPr>
        <p:spPr>
          <a:xfrm>
            <a:off x="5257954" y="4558220"/>
            <a:ext cx="6331168" cy="1839005"/>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Each neuron in the convolutional layer is connected only to a local region in the input volume spatially. In this case there are 5 neurons along the depth all looking at the same region. </a:t>
            </a:r>
          </a:p>
        </p:txBody>
      </p:sp>
      <p:cxnSp>
        <p:nvCxnSpPr>
          <p:cNvPr id="11" name="Connettore 2 10">
            <a:extLst>
              <a:ext uri="{FF2B5EF4-FFF2-40B4-BE49-F238E27FC236}">
                <a16:creationId xmlns:a16="http://schemas.microsoft.com/office/drawing/2014/main" id="{1AD1AE23-07D6-4A59-9296-67B458ED9073}"/>
              </a:ext>
            </a:extLst>
          </p:cNvPr>
          <p:cNvCxnSpPr/>
          <p:nvPr/>
        </p:nvCxnSpPr>
        <p:spPr>
          <a:xfrm flipH="1" flipV="1">
            <a:off x="3687070" y="5337047"/>
            <a:ext cx="1310183" cy="285894"/>
          </a:xfrm>
          <a:prstGeom prst="straightConnector1">
            <a:avLst/>
          </a:prstGeom>
          <a:noFill/>
          <a:ln w="76200" cap="flat">
            <a:solidFill>
              <a:srgbClr val="860A0A"/>
            </a:solidFill>
            <a:prstDash val="solid"/>
            <a:bevel/>
            <a:tailEnd type="arrow"/>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rgbClr r="0" g="0" b="0"/>
          </a:lnRef>
          <a:fillRef idx="0">
            <a:scrgbClr r="0" g="0" b="0"/>
          </a:fillRef>
          <a:effectRef idx="0">
            <a:scrgbClr r="0" g="0" b="0"/>
          </a:effectRef>
          <a:fontRef idx="none"/>
        </p:style>
      </p:cxnSp>
      <p:pic>
        <p:nvPicPr>
          <p:cNvPr id="12" name="Immagine 11">
            <a:extLst>
              <a:ext uri="{FF2B5EF4-FFF2-40B4-BE49-F238E27FC236}">
                <a16:creationId xmlns:a16="http://schemas.microsoft.com/office/drawing/2014/main" id="{9C47DDA8-482E-4437-8EDF-D8A129206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469" y="3577693"/>
            <a:ext cx="3248479" cy="2181530"/>
          </a:xfrm>
          <a:prstGeom prst="rect">
            <a:avLst/>
          </a:prstGeom>
        </p:spPr>
      </p:pic>
      <p:sp>
        <p:nvSpPr>
          <p:cNvPr id="13" name="Shape 115">
            <a:extLst>
              <a:ext uri="{FF2B5EF4-FFF2-40B4-BE49-F238E27FC236}">
                <a16:creationId xmlns:a16="http://schemas.microsoft.com/office/drawing/2014/main" id="{1ABCBC58-E783-41FD-850F-5EAB4BB8EC83}"/>
              </a:ext>
            </a:extLst>
          </p:cNvPr>
          <p:cNvSpPr/>
          <p:nvPr/>
        </p:nvSpPr>
        <p:spPr>
          <a:xfrm>
            <a:off x="4997253" y="1519518"/>
            <a:ext cx="6455391" cy="1961857"/>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o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Convolutional Neural Networks (CNN)</a:t>
            </a:r>
            <a:r>
              <a:rPr lang="en-US" dirty="0">
                <a:latin typeface="Arial" panose="020B0604020202020204" pitchFamily="34" charset="0"/>
                <a:cs typeface="Arial" panose="020B0604020202020204" pitchFamily="34" charset="0"/>
              </a:rPr>
              <a:t> are biologically-inspired variants of </a:t>
            </a:r>
            <a:r>
              <a:rPr lang="en-US" b="1" dirty="0">
                <a:latin typeface="Arial" panose="020B0604020202020204" pitchFamily="34" charset="0"/>
                <a:cs typeface="Arial" panose="020B0604020202020204" pitchFamily="34" charset="0"/>
              </a:rPr>
              <a:t>MLPs</a:t>
            </a:r>
            <a:r>
              <a:rPr lang="en-US" dirty="0">
                <a:latin typeface="Arial" panose="020B0604020202020204" pitchFamily="34" charset="0"/>
                <a:cs typeface="Arial" panose="020B0604020202020204" pitchFamily="34" charset="0"/>
              </a:rPr>
              <a:t>. We know the visual cortex contains a complex arrangement of cells </a:t>
            </a:r>
            <a:r>
              <a:rPr lang="en-US" b="1" dirty="0">
                <a:latin typeface="Arial" panose="020B0604020202020204" pitchFamily="34" charset="0"/>
                <a:cs typeface="Arial" panose="020B0604020202020204" pitchFamily="34" charset="0"/>
              </a:rPr>
              <a:t>(</a:t>
            </a:r>
            <a:r>
              <a:rPr lang="en-US" b="1" i="1" dirty="0">
                <a:latin typeface="Arial" panose="020B0604020202020204" pitchFamily="34" charset="0"/>
                <a:cs typeface="Arial" panose="020B0604020202020204" pitchFamily="34" charset="0"/>
              </a:rPr>
              <a:t>Hubel, D. and Wiesel, T., 1968</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These cells are sensitive to small sub-regions of the visual field, called a </a:t>
            </a:r>
            <a:r>
              <a:rPr lang="en-US" i="1" dirty="0">
                <a:latin typeface="Arial" panose="020B0604020202020204" pitchFamily="34" charset="0"/>
                <a:cs typeface="Arial" panose="020B0604020202020204" pitchFamily="34" charset="0"/>
              </a:rPr>
              <a:t>receptive field</a:t>
            </a:r>
            <a:r>
              <a:rPr lang="en-US" dirty="0">
                <a:latin typeface="Arial" panose="020B0604020202020204" pitchFamily="34" charset="0"/>
                <a:cs typeface="Arial" panose="020B0604020202020204" pitchFamily="34" charset="0"/>
              </a:rPr>
              <a:t>. Other layers are: </a:t>
            </a:r>
            <a:r>
              <a:rPr lang="en-US" b="1" dirty="0">
                <a:latin typeface="Arial" panose="020B0604020202020204" pitchFamily="34" charset="0"/>
                <a:cs typeface="Arial" panose="020B0604020202020204" pitchFamily="34" charset="0"/>
              </a:rPr>
              <a:t>RELU layer</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Pool Layer</a:t>
            </a:r>
            <a:r>
              <a:rPr lang="en-US" dirty="0">
                <a:latin typeface="Arial" panose="020B0604020202020204" pitchFamily="34" charset="0"/>
                <a:cs typeface="Arial" panose="020B0604020202020204" pitchFamily="34" charset="0"/>
              </a:rPr>
              <a:t>. Typical CNNs settings are: a) </a:t>
            </a:r>
            <a:r>
              <a:rPr lang="en-US" b="1" dirty="0">
                <a:latin typeface="Arial" panose="020B0604020202020204" pitchFamily="34" charset="0"/>
                <a:cs typeface="Arial" panose="020B0604020202020204" pitchFamily="34" charset="0"/>
              </a:rPr>
              <a:t>Number of Kernels (Filters)</a:t>
            </a:r>
            <a:r>
              <a:rPr lang="en-US" dirty="0">
                <a:latin typeface="Arial" panose="020B0604020202020204" pitchFamily="34" charset="0"/>
                <a:cs typeface="Arial" panose="020B0604020202020204" pitchFamily="34" charset="0"/>
              </a:rPr>
              <a:t>, b)  </a:t>
            </a:r>
            <a:r>
              <a:rPr lang="en-US" b="1" dirty="0">
                <a:latin typeface="Arial" panose="020B0604020202020204" pitchFamily="34" charset="0"/>
                <a:cs typeface="Arial" panose="020B0604020202020204" pitchFamily="34" charset="0"/>
              </a:rPr>
              <a:t>Receptive Field size</a:t>
            </a:r>
            <a:r>
              <a:rPr lang="en-US" dirty="0">
                <a:latin typeface="Arial" panose="020B0604020202020204" pitchFamily="34" charset="0"/>
                <a:cs typeface="Arial" panose="020B0604020202020204" pitchFamily="34" charset="0"/>
              </a:rPr>
              <a:t>, b) </a:t>
            </a:r>
            <a:r>
              <a:rPr lang="en-US" b="1" dirty="0">
                <a:latin typeface="Arial" panose="020B0604020202020204" pitchFamily="34" charset="0"/>
                <a:cs typeface="Arial" panose="020B0604020202020204" pitchFamily="34" charset="0"/>
              </a:rPr>
              <a:t>Padding</a:t>
            </a:r>
            <a:r>
              <a:rPr lang="en-US" dirty="0">
                <a:latin typeface="Arial" panose="020B0604020202020204" pitchFamily="34" charset="0"/>
                <a:cs typeface="Arial" panose="020B0604020202020204" pitchFamily="34" charset="0"/>
              </a:rPr>
              <a:t>, c) </a:t>
            </a:r>
            <a:r>
              <a:rPr lang="en-US" b="1" dirty="0">
                <a:latin typeface="Arial" panose="020B0604020202020204" pitchFamily="34" charset="0"/>
                <a:cs typeface="Arial" panose="020B0604020202020204" pitchFamily="34" charset="0"/>
              </a:rPr>
              <a:t>Stride. </a:t>
            </a:r>
            <a:r>
              <a:rPr lang="en-US" dirty="0">
                <a:latin typeface="Arial" panose="020B0604020202020204" pitchFamily="34" charset="0"/>
                <a:cs typeface="Arial" panose="020B0604020202020204" pitchFamily="34" charset="0"/>
              </a:rPr>
              <a:t>These parameters are tied by the following equation:  </a:t>
            </a:r>
          </a:p>
          <a:p>
            <a:pPr marL="285750" indent="-285750">
              <a:buFont typeface="Arial" panose="020B0604020202020204" pitchFamily="34" charset="0"/>
              <a:buChar char="•"/>
            </a:pPr>
            <a:endParaRPr lang="en-US" b="1" dirty="0">
              <a:latin typeface="Arial" panose="020B0604020202020204" pitchFamily="34" charset="0"/>
              <a:cs typeface="Arial" panose="020B0604020202020204" pitchFamily="34" charset="0"/>
            </a:endParaRPr>
          </a:p>
        </p:txBody>
      </p:sp>
      <p:sp>
        <p:nvSpPr>
          <p:cNvPr id="14" name="Shape 115">
            <a:extLst>
              <a:ext uri="{FF2B5EF4-FFF2-40B4-BE49-F238E27FC236}">
                <a16:creationId xmlns:a16="http://schemas.microsoft.com/office/drawing/2014/main" id="{830786BF-77EF-4AD6-8446-FAD25B6201A3}"/>
              </a:ext>
            </a:extLst>
          </p:cNvPr>
          <p:cNvSpPr/>
          <p:nvPr/>
        </p:nvSpPr>
        <p:spPr>
          <a:xfrm>
            <a:off x="8423538" y="3404346"/>
            <a:ext cx="5002060" cy="1839005"/>
          </a:xfrm>
          <a:prstGeom prst="rect">
            <a:avLst/>
          </a:prstGeom>
          <a:noFill/>
          <a:ln w="12700">
            <a:miter lim="400000"/>
          </a:ln>
          <a:extLst>
            <a:ext uri="{C572A759-6A51-4108-AA02-DFA0A04FC94B}">
              <ma14:wrappingTextBoxFlag xmlns="" xmlns:ma14="http://schemas.microsoft.com/office/mac/drawingml/2011/main" val="1"/>
            </a:ext>
          </a:extLst>
        </p:spPr>
        <p:txBody>
          <a:bodyPr lIns="0" tIns="0" rIns="0" bIns="0" anchor="ctr">
            <a:noAutofit/>
          </a:bodyPr>
          <a:lstStyle/>
          <a:p>
            <a:r>
              <a:rPr lang="en-US" b="1" dirty="0">
                <a:solidFill>
                  <a:srgbClr val="FF0000"/>
                </a:solidFill>
                <a:latin typeface="Arial" panose="020B0604020202020204" pitchFamily="34" charset="0"/>
                <a:cs typeface="Arial" panose="020B0604020202020204" pitchFamily="34" charset="0"/>
              </a:rPr>
              <a:t>(W – F + 2P) / S + 1</a:t>
            </a:r>
          </a:p>
        </p:txBody>
      </p:sp>
    </p:spTree>
    <p:extLst>
      <p:ext uri="{BB962C8B-B14F-4D97-AF65-F5344CB8AC3E}">
        <p14:creationId xmlns:p14="http://schemas.microsoft.com/office/powerpoint/2010/main" val="1035468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19" name="CasellaDiTesto 18">
            <a:extLst>
              <a:ext uri="{FF2B5EF4-FFF2-40B4-BE49-F238E27FC236}">
                <a16:creationId xmlns:a16="http://schemas.microsoft.com/office/drawing/2014/main" id="{D22F47B8-CEED-498E-BCD6-EF66F4EC9D11}"/>
              </a:ext>
            </a:extLst>
          </p:cNvPr>
          <p:cNvSpPr txBox="1"/>
          <p:nvPr/>
        </p:nvSpPr>
        <p:spPr>
          <a:xfrm>
            <a:off x="707572" y="433636"/>
            <a:ext cx="10254342" cy="1384995"/>
          </a:xfrm>
          <a:prstGeom prst="rect">
            <a:avLst/>
          </a:prstGeom>
          <a:noFill/>
        </p:spPr>
        <p:txBody>
          <a:bodyPr wrap="square">
            <a:spAutoFit/>
          </a:bodyPr>
          <a:lstStyle/>
          <a:p>
            <a:r>
              <a:rPr lang="it-IT" sz="2800" b="1" dirty="0" err="1">
                <a:solidFill>
                  <a:srgbClr val="464646"/>
                </a:solidFill>
                <a:latin typeface="Arial" panose="020B0604020202020204" pitchFamily="34" charset="0"/>
                <a:ea typeface="+mj-ea"/>
                <a:cs typeface="Arial" panose="020B0604020202020204" pitchFamily="34" charset="0"/>
              </a:rPr>
              <a:t>Former</a:t>
            </a:r>
            <a:r>
              <a:rPr lang="it-IT" sz="2800" b="1" dirty="0">
                <a:solidFill>
                  <a:srgbClr val="464646"/>
                </a:solidFill>
                <a:latin typeface="Arial" panose="020B0604020202020204" pitchFamily="34" charset="0"/>
                <a:ea typeface="+mj-ea"/>
                <a:cs typeface="Arial" panose="020B0604020202020204" pitchFamily="34" charset="0"/>
              </a:rPr>
              <a:t> </a:t>
            </a:r>
            <a:r>
              <a:rPr lang="it-IT" sz="2800" b="1" dirty="0" err="1">
                <a:solidFill>
                  <a:srgbClr val="464646"/>
                </a:solidFill>
                <a:latin typeface="Arial" panose="020B0604020202020204" pitchFamily="34" charset="0"/>
                <a:ea typeface="+mj-ea"/>
                <a:cs typeface="Arial" panose="020B0604020202020204" pitchFamily="34" charset="0"/>
              </a:rPr>
              <a:t>Successful</a:t>
            </a:r>
            <a:r>
              <a:rPr lang="it-IT" sz="2800" b="1" dirty="0">
                <a:solidFill>
                  <a:srgbClr val="464646"/>
                </a:solidFill>
                <a:latin typeface="Arial" panose="020B0604020202020204" pitchFamily="34" charset="0"/>
                <a:ea typeface="+mj-ea"/>
                <a:cs typeface="Arial" panose="020B0604020202020204" pitchFamily="34" charset="0"/>
              </a:rPr>
              <a:t> Deep </a:t>
            </a:r>
            <a:r>
              <a:rPr lang="it-IT" sz="2800" b="1" dirty="0" err="1">
                <a:solidFill>
                  <a:srgbClr val="464646"/>
                </a:solidFill>
                <a:latin typeface="Arial" panose="020B0604020202020204" pitchFamily="34" charset="0"/>
                <a:ea typeface="+mj-ea"/>
                <a:cs typeface="Arial" panose="020B0604020202020204" pitchFamily="34" charset="0"/>
              </a:rPr>
              <a:t>Neural</a:t>
            </a:r>
            <a:r>
              <a:rPr lang="it-IT" sz="2800" b="1" dirty="0">
                <a:solidFill>
                  <a:srgbClr val="464646"/>
                </a:solidFill>
                <a:latin typeface="Arial" panose="020B0604020202020204" pitchFamily="34" charset="0"/>
                <a:ea typeface="+mj-ea"/>
                <a:cs typeface="Arial" panose="020B0604020202020204" pitchFamily="34" charset="0"/>
              </a:rPr>
              <a:t> Networks</a:t>
            </a:r>
          </a:p>
          <a:p>
            <a:endParaRPr lang="fr-FR" sz="2800" b="1" dirty="0">
              <a:solidFill>
                <a:srgbClr val="464646"/>
              </a:solidFill>
              <a:latin typeface="Arial" panose="020B0604020202020204" pitchFamily="34" charset="0"/>
              <a:ea typeface="+mj-ea"/>
              <a:cs typeface="Arial" panose="020B0604020202020204" pitchFamily="34" charset="0"/>
            </a:endParaRPr>
          </a:p>
          <a:p>
            <a:endParaRPr lang="en-US" sz="2800" b="1" dirty="0">
              <a:solidFill>
                <a:srgbClr val="464646"/>
              </a:solidFill>
              <a:latin typeface="Arial" panose="020B0604020202020204" pitchFamily="34" charset="0"/>
              <a:ea typeface="+mj-ea"/>
              <a:cs typeface="Arial" panose="020B0604020202020204" pitchFamily="34" charset="0"/>
            </a:endParaRPr>
          </a:p>
        </p:txBody>
      </p:sp>
      <p:sp>
        <p:nvSpPr>
          <p:cNvPr id="32" name="Segnaposto numero diapositiva 4">
            <a:extLst>
              <a:ext uri="{FF2B5EF4-FFF2-40B4-BE49-F238E27FC236}">
                <a16:creationId xmlns:a16="http://schemas.microsoft.com/office/drawing/2014/main" id="{93A3E2F4-595D-444A-BF7C-4CF518A9F61A}"/>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34</a:t>
            </a:fld>
            <a:endParaRPr lang="en-US" dirty="0"/>
          </a:p>
        </p:txBody>
      </p:sp>
      <p:sp>
        <p:nvSpPr>
          <p:cNvPr id="9" name="Sottotitolo">
            <a:extLst>
              <a:ext uri="{FF2B5EF4-FFF2-40B4-BE49-F238E27FC236}">
                <a16:creationId xmlns:a16="http://schemas.microsoft.com/office/drawing/2014/main" id="{48B908D5-1FE9-4F1E-AB7B-1C77B68977F6}"/>
              </a:ext>
            </a:extLst>
          </p:cNvPr>
          <p:cNvSpPr txBox="1"/>
          <p:nvPr/>
        </p:nvSpPr>
        <p:spPr>
          <a:xfrm>
            <a:off x="717694" y="2577519"/>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1" name="Shape 115">
            <a:extLst>
              <a:ext uri="{FF2B5EF4-FFF2-40B4-BE49-F238E27FC236}">
                <a16:creationId xmlns:a16="http://schemas.microsoft.com/office/drawing/2014/main" id="{FEE7507C-83C0-42DF-9F74-D3862AD58AA8}"/>
              </a:ext>
            </a:extLst>
          </p:cNvPr>
          <p:cNvSpPr/>
          <p:nvPr/>
        </p:nvSpPr>
        <p:spPr>
          <a:xfrm>
            <a:off x="4903281" y="1760732"/>
            <a:ext cx="7120145" cy="4385816"/>
          </a:xfrm>
          <a:prstGeom prst="rect">
            <a:avLst/>
          </a:prstGeom>
          <a:extLst>
            <a:ext uri="{C572A759-6A51-4108-AA02-DFA0A04FC94B}">
              <ma14:wrappingTextBoxFlag xmlns="" xmlns:ma14="http://schemas.microsoft.com/office/mac/drawingml/2011/main" val="1"/>
            </a:ext>
          </a:extLst>
        </p:spPr>
        <p:txBody>
          <a:bodyPr wrap="square">
            <a:spAutoFit/>
          </a:bodyPr>
          <a:lstStyle/>
          <a:p>
            <a:pPr algn="just">
              <a:spcBef>
                <a:spcPts val="400"/>
              </a:spcBef>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Traditional issues with Convolutional Layers</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defTabSz="402336">
              <a:lnSpc>
                <a:spcPct val="90000"/>
              </a:lnSpc>
              <a:spcBef>
                <a:spcPts val="250"/>
              </a:spcBef>
              <a:buSzPct val="100000"/>
              <a:buFont typeface="Arial"/>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Wide convolutional layers determine overfitting and vanishing gradient problem with the Solver (SGD, Adam,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etc</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defTabSz="402336">
              <a:lnSpc>
                <a:spcPct val="90000"/>
              </a:lnSpc>
              <a:spcBef>
                <a:spcPts val="250"/>
              </a:spcBef>
              <a:buSzPct val="100000"/>
              <a:buFont typeface="Arial"/>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defTabSz="402336">
              <a:lnSpc>
                <a:spcPct val="90000"/>
              </a:lnSpc>
              <a:spcBef>
                <a:spcPts val="250"/>
              </a:spcBef>
              <a:buSzPct val="100000"/>
              <a:buFont typeface="Arial"/>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Low depth architectures produce  raw features (need to push the depth forward).</a:t>
            </a:r>
          </a:p>
          <a:p>
            <a:pPr defTabSz="402336">
              <a:lnSpc>
                <a:spcPct val="90000"/>
              </a:lnSpc>
              <a:spcBef>
                <a:spcPts val="250"/>
              </a:spcBef>
              <a:buSzPct val="100000"/>
              <a:buFont typeface="Arial"/>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defTabSz="402336">
              <a:lnSpc>
                <a:spcPct val="90000"/>
              </a:lnSpc>
              <a:spcBef>
                <a:spcPts val="250"/>
              </a:spcBef>
              <a:buSzPct val="100000"/>
              <a:buFont typeface="Arial"/>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algn="just" defTabSz="402336">
              <a:lnSpc>
                <a:spcPct val="90000"/>
              </a:lnSpc>
              <a:spcBef>
                <a:spcPts val="250"/>
              </a:spcBef>
              <a:buSzPct val="100000"/>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Model Regularization : </a:t>
            </a:r>
          </a:p>
          <a:p>
            <a:pPr algn="just" defTabSz="402336">
              <a:lnSpc>
                <a:spcPct val="90000"/>
              </a:lnSpc>
              <a:spcBef>
                <a:spcPts val="250"/>
              </a:spcBef>
              <a:buSzPct val="100000"/>
              <a:buFont typeface="Arial"/>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Dropout - Co-adaptation and Models Ensemble (</a:t>
            </a:r>
            <a:r>
              <a:rPr lang="it-IT"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Srivastava</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N. et al., 2014).</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algn="just" defTabSz="402336">
              <a:lnSpc>
                <a:spcPct val="90000"/>
              </a:lnSpc>
              <a:spcBef>
                <a:spcPts val="250"/>
              </a:spcBef>
              <a:buSzPct val="100000"/>
              <a:buFont typeface="Arial"/>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Weight penalty L1/L2</a:t>
            </a:r>
          </a:p>
          <a:p>
            <a:pPr algn="just" defTabSz="402336">
              <a:lnSpc>
                <a:spcPct val="90000"/>
              </a:lnSpc>
              <a:spcBef>
                <a:spcPts val="250"/>
              </a:spcBef>
              <a:buSzPct val="100000"/>
              <a:buFont typeface="Arial"/>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Data Augmentation (crop, flip, rotation, ZCA whitening, etc.) </a:t>
            </a:r>
          </a:p>
          <a:p>
            <a:pPr defTabSz="402336">
              <a:lnSpc>
                <a:spcPct val="90000"/>
              </a:lnSpc>
              <a:spcBef>
                <a:spcPts val="250"/>
              </a:spcBef>
              <a:buSzPct val="100000"/>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graphicFrame>
        <p:nvGraphicFramePr>
          <p:cNvPr id="12" name="Diagramma 11">
            <a:extLst>
              <a:ext uri="{FF2B5EF4-FFF2-40B4-BE49-F238E27FC236}">
                <a16:creationId xmlns:a16="http://schemas.microsoft.com/office/drawing/2014/main" id="{5F9D3EDC-B3DB-42F5-ABE8-CA4447862E0E}"/>
              </a:ext>
            </a:extLst>
          </p:cNvPr>
          <p:cNvGraphicFramePr/>
          <p:nvPr>
            <p:extLst>
              <p:ext uri="{D42A27DB-BD31-4B8C-83A1-F6EECF244321}">
                <p14:modId xmlns:p14="http://schemas.microsoft.com/office/powerpoint/2010/main" val="3474717623"/>
              </p:ext>
            </p:extLst>
          </p:nvPr>
        </p:nvGraphicFramePr>
        <p:xfrm>
          <a:off x="624440" y="2081102"/>
          <a:ext cx="3878648" cy="3414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236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35</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79260"/>
            <a:ext cx="11269308" cy="2308324"/>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latin typeface="Tahoma" panose="020B0604030504040204" pitchFamily="34" charset="0"/>
                <a:ea typeface="Tahoma" panose="020B0604030504040204" pitchFamily="34" charset="0"/>
                <a:cs typeface="Tahoma" panose="020B0604030504040204" pitchFamily="34" charset="0"/>
              </a:rPr>
              <a:t>The Innovation of Transformers</a:t>
            </a:r>
            <a:br>
              <a:rPr lang="en-GB">
                <a:latin typeface="Tahoma" panose="020B0604030504040204" pitchFamily="34" charset="0"/>
                <a:ea typeface="Tahoma" panose="020B0604030504040204" pitchFamily="34" charset="0"/>
                <a:cs typeface="Tahoma" panose="020B0604030504040204" pitchFamily="34" charset="0"/>
              </a:rPr>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14" name="TextBox 2">
            <a:extLst>
              <a:ext uri="{FF2B5EF4-FFF2-40B4-BE49-F238E27FC236}">
                <a16:creationId xmlns:a16="http://schemas.microsoft.com/office/drawing/2014/main" id="{0380D1DD-8D7B-9E4C-A72A-083E008477B6}"/>
              </a:ext>
            </a:extLst>
          </p:cNvPr>
          <p:cNvSpPr txBox="1"/>
          <p:nvPr/>
        </p:nvSpPr>
        <p:spPr>
          <a:xfrm>
            <a:off x="226175" y="1178387"/>
            <a:ext cx="7026916" cy="5078313"/>
          </a:xfrm>
          <a:prstGeom prst="rect">
            <a:avLst/>
          </a:prstGeom>
          <a:noFill/>
        </p:spPr>
        <p:txBody>
          <a:bodyPr wrap="square" rtlCol="0">
            <a:spAutoFit/>
          </a:bodyPr>
          <a:lstStyle/>
          <a:p>
            <a:pPr marL="285750" indent="-285750">
              <a:buFont typeface="Wingdings" pitchFamily="2" charset="2"/>
              <a:buChar char="ü"/>
            </a:pPr>
            <a:r>
              <a:rPr lang="en-US" b="1" dirty="0">
                <a:latin typeface="Tahoma" panose="020B0604030504040204" pitchFamily="34" charset="0"/>
                <a:ea typeface="Tahoma" panose="020B0604030504040204" pitchFamily="34" charset="0"/>
                <a:cs typeface="Tahoma" panose="020B0604030504040204" pitchFamily="34" charset="0"/>
              </a:rPr>
              <a:t>Transformers</a:t>
            </a:r>
            <a:r>
              <a:rPr lang="en-US" dirty="0">
                <a:latin typeface="Tahoma" panose="020B0604030504040204" pitchFamily="34" charset="0"/>
                <a:ea typeface="Tahoma" panose="020B0604030504040204" pitchFamily="34" charset="0"/>
                <a:cs typeface="Tahoma" panose="020B0604030504040204" pitchFamily="34" charset="0"/>
              </a:rPr>
              <a:t> change all the game in </a:t>
            </a:r>
            <a:r>
              <a:rPr lang="en-US" b="1" dirty="0">
                <a:latin typeface="Tahoma" panose="020B0604030504040204" pitchFamily="34" charset="0"/>
                <a:ea typeface="Tahoma" panose="020B0604030504040204" pitchFamily="34" charset="0"/>
                <a:cs typeface="Tahoma" panose="020B0604030504040204" pitchFamily="34" charset="0"/>
              </a:rPr>
              <a:t>Natural Language Processing (NLP)</a:t>
            </a:r>
            <a:r>
              <a:rPr lang="en-US" dirty="0">
                <a:latin typeface="Tahoma" panose="020B0604030504040204" pitchFamily="34" charset="0"/>
                <a:ea typeface="Tahoma" panose="020B0604030504040204" pitchFamily="34" charset="0"/>
                <a:cs typeface="Tahoma" panose="020B0604030504040204" pitchFamily="34" charset="0"/>
              </a:rPr>
              <a:t>, which has become one of the pillars of artificial intelligence in a global digital economy.</a:t>
            </a:r>
          </a:p>
          <a:p>
            <a:pPr marL="285750" indent="-285750">
              <a:buFont typeface="Wingdings"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US" b="1" dirty="0">
                <a:latin typeface="Tahoma" panose="020B0604030504040204" pitchFamily="34" charset="0"/>
                <a:ea typeface="Tahoma" panose="020B0604030504040204" pitchFamily="34" charset="0"/>
                <a:cs typeface="Tahoma" panose="020B0604030504040204" pitchFamily="34" charset="0"/>
              </a:rPr>
              <a:t>Transformer</a:t>
            </a:r>
            <a:r>
              <a:rPr lang="en-US" dirty="0">
                <a:latin typeface="Tahoma" panose="020B0604030504040204" pitchFamily="34" charset="0"/>
                <a:ea typeface="Tahoma" panose="020B0604030504040204" pitchFamily="34" charset="0"/>
                <a:cs typeface="Tahoma" panose="020B0604030504040204" pitchFamily="34" charset="0"/>
              </a:rPr>
              <a:t> models are disruptive and are leading to a new age in </a:t>
            </a:r>
            <a:r>
              <a:rPr lang="en-US" b="1" dirty="0">
                <a:latin typeface="Tahoma" panose="020B0604030504040204" pitchFamily="34" charset="0"/>
                <a:ea typeface="Tahoma" panose="020B0604030504040204" pitchFamily="34" charset="0"/>
                <a:cs typeface="Tahoma" panose="020B0604030504040204" pitchFamily="34" charset="0"/>
              </a:rPr>
              <a:t>Artificial</a:t>
            </a:r>
            <a:r>
              <a:rPr lang="en-US"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Intelligence</a:t>
            </a:r>
            <a:r>
              <a:rPr lang="en-US" dirty="0">
                <a:latin typeface="Tahoma" panose="020B0604030504040204" pitchFamily="34" charset="0"/>
                <a:ea typeface="Tahoma" panose="020B0604030504040204" pitchFamily="34" charset="0"/>
                <a:cs typeface="Tahoma" panose="020B0604030504040204" pitchFamily="34" charset="0"/>
              </a:rPr>
              <a:t>. Language understanding has become the mile-stone of language modeling, </a:t>
            </a:r>
            <a:r>
              <a:rPr lang="en-US" dirty="0" err="1">
                <a:latin typeface="Tahoma" panose="020B0604030504040204" pitchFamily="34" charset="0"/>
                <a:ea typeface="Tahoma" panose="020B0604030504040204" pitchFamily="34" charset="0"/>
                <a:cs typeface="Tahoma" panose="020B0604030504040204" pitchFamily="34" charset="0"/>
              </a:rPr>
              <a:t>chatbots</a:t>
            </a:r>
            <a:r>
              <a:rPr lang="en-US" dirty="0">
                <a:latin typeface="Tahoma" panose="020B0604030504040204" pitchFamily="34" charset="0"/>
                <a:ea typeface="Tahoma" panose="020B0604030504040204" pitchFamily="34" charset="0"/>
                <a:cs typeface="Tahoma" panose="020B0604030504040204" pitchFamily="34" charset="0"/>
              </a:rPr>
              <a:t>, personal assistants, question answering, text summarizing, speech-to-text, sentiment analysis, machine translation, and more.</a:t>
            </a:r>
          </a:p>
          <a:p>
            <a:pPr marL="285750" indent="-285750">
              <a:buFont typeface="Wingdings"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By means of </a:t>
            </a:r>
            <a:r>
              <a:rPr lang="en-US" b="1" dirty="0">
                <a:latin typeface="Tahoma" panose="020B0604030504040204" pitchFamily="34" charset="0"/>
                <a:ea typeface="Tahoma" panose="020B0604030504040204" pitchFamily="34" charset="0"/>
                <a:cs typeface="Tahoma" panose="020B0604030504040204" pitchFamily="34" charset="0"/>
              </a:rPr>
              <a:t>Transformers, Artificial</a:t>
            </a:r>
            <a:r>
              <a:rPr lang="en-US"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Intelligence</a:t>
            </a:r>
            <a:r>
              <a:rPr lang="en-US" dirty="0">
                <a:latin typeface="Tahoma" panose="020B0604030504040204" pitchFamily="34" charset="0"/>
                <a:ea typeface="Tahoma" panose="020B0604030504040204" pitchFamily="34" charset="0"/>
                <a:cs typeface="Tahoma" panose="020B0604030504040204" pitchFamily="34" charset="0"/>
              </a:rPr>
              <a:t> has evolved to billion-parameter models in order to address the challenge of trillion-word datasets.</a:t>
            </a:r>
          </a:p>
          <a:p>
            <a:pPr marL="285750" indent="-285750">
              <a:buFont typeface="Wingdings"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They get far from the past, leaving the dominance of </a:t>
            </a:r>
            <a:r>
              <a:rPr lang="en-US" b="1" dirty="0">
                <a:latin typeface="Tahoma" panose="020B0604030504040204" pitchFamily="34" charset="0"/>
                <a:ea typeface="Tahoma" panose="020B0604030504040204" pitchFamily="34" charset="0"/>
                <a:cs typeface="Tahoma" panose="020B0604030504040204" pitchFamily="34" charset="0"/>
              </a:rPr>
              <a:t>RNNs</a:t>
            </a:r>
            <a:r>
              <a:rPr lang="en-US" dirty="0">
                <a:latin typeface="Tahoma" panose="020B0604030504040204" pitchFamily="34" charset="0"/>
                <a:ea typeface="Tahoma" panose="020B0604030504040204" pitchFamily="34" charset="0"/>
                <a:cs typeface="Tahoma" panose="020B0604030504040204" pitchFamily="34" charset="0"/>
              </a:rPr>
              <a:t> and </a:t>
            </a:r>
            <a:r>
              <a:rPr lang="en-US" b="1" dirty="0">
                <a:latin typeface="Tahoma" panose="020B0604030504040204" pitchFamily="34" charset="0"/>
                <a:ea typeface="Tahoma" panose="020B0604030504040204" pitchFamily="34" charset="0"/>
                <a:cs typeface="Tahoma" panose="020B0604030504040204" pitchFamily="34" charset="0"/>
              </a:rPr>
              <a:t>CNNs</a:t>
            </a:r>
            <a:r>
              <a:rPr lang="en-US" dirty="0">
                <a:latin typeface="Tahoma" panose="020B0604030504040204" pitchFamily="34" charset="0"/>
                <a:ea typeface="Tahoma" panose="020B0604030504040204" pitchFamily="34" charset="0"/>
                <a:cs typeface="Tahoma" panose="020B0604030504040204" pitchFamily="34" charset="0"/>
              </a:rPr>
              <a:t> behind. </a:t>
            </a:r>
            <a:r>
              <a:rPr lang="en-US" b="1" dirty="0">
                <a:latin typeface="Tahoma" panose="020B0604030504040204" pitchFamily="34" charset="0"/>
                <a:ea typeface="Tahoma" panose="020B0604030504040204" pitchFamily="34" charset="0"/>
                <a:cs typeface="Tahoma" panose="020B0604030504040204" pitchFamily="34" charset="0"/>
              </a:rPr>
              <a:t>BERT</a:t>
            </a:r>
            <a:r>
              <a:rPr lang="en-US" dirty="0">
                <a:latin typeface="Tahoma" panose="020B0604030504040204" pitchFamily="34" charset="0"/>
                <a:ea typeface="Tahoma" panose="020B0604030504040204" pitchFamily="34" charset="0"/>
                <a:cs typeface="Tahoma" panose="020B0604030504040204" pitchFamily="34" charset="0"/>
              </a:rPr>
              <a:t> and </a:t>
            </a:r>
            <a:r>
              <a:rPr lang="en-US" b="1" dirty="0">
                <a:latin typeface="Tahoma" panose="020B0604030504040204" pitchFamily="34" charset="0"/>
                <a:ea typeface="Tahoma" panose="020B0604030504040204" pitchFamily="34" charset="0"/>
                <a:cs typeface="Tahoma" panose="020B0604030504040204" pitchFamily="34" charset="0"/>
              </a:rPr>
              <a:t>GPT</a:t>
            </a:r>
            <a:r>
              <a:rPr lang="en-US" dirty="0">
                <a:latin typeface="Tahoma" panose="020B0604030504040204" pitchFamily="34" charset="0"/>
                <a:ea typeface="Tahoma" panose="020B0604030504040204" pitchFamily="34" charset="0"/>
                <a:cs typeface="Tahoma" panose="020B0604030504040204" pitchFamily="34" charset="0"/>
              </a:rPr>
              <a:t> models leave the recurrent network layers back and replace them with self-attention mechanisms.</a:t>
            </a:r>
          </a:p>
        </p:txBody>
      </p:sp>
      <p:pic>
        <p:nvPicPr>
          <p:cNvPr id="16" name="Immagin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013" y="1726738"/>
            <a:ext cx="4500589" cy="4535608"/>
          </a:xfrm>
          <a:prstGeom prst="rect">
            <a:avLst/>
          </a:prstGeom>
        </p:spPr>
      </p:pic>
    </p:spTree>
    <p:extLst>
      <p:ext uri="{BB962C8B-B14F-4D97-AF65-F5344CB8AC3E}">
        <p14:creationId xmlns:p14="http://schemas.microsoft.com/office/powerpoint/2010/main" val="1456792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36</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4" y="380215"/>
            <a:ext cx="11269308" cy="269304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latin typeface="Tahoma" panose="020B0604030504040204" pitchFamily="34" charset="0"/>
                <a:ea typeface="Tahoma" panose="020B0604030504040204" pitchFamily="34" charset="0"/>
                <a:cs typeface="Tahoma" panose="020B0604030504040204" pitchFamily="34" charset="0"/>
              </a:rPr>
              <a:t>The increasing amount of Data Dilemma</a:t>
            </a: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2" name="Rettangolo 1"/>
          <p:cNvSpPr/>
          <p:nvPr/>
        </p:nvSpPr>
        <p:spPr>
          <a:xfrm>
            <a:off x="574293" y="1422300"/>
            <a:ext cx="11110887" cy="2308324"/>
          </a:xfrm>
          <a:prstGeom prst="rect">
            <a:avLst/>
          </a:prstGeom>
        </p:spPr>
        <p:txBody>
          <a:bodyPr wrap="square">
            <a:spAutoFit/>
          </a:bodyPr>
          <a:lstStyle/>
          <a:p>
            <a:pPr marL="285750" indent="-285750">
              <a:buFont typeface="Wingdings" pitchFamily="2" charset="2"/>
              <a:buChar char="ü"/>
            </a:pPr>
            <a:r>
              <a:rPr lang="en-US">
                <a:latin typeface="Tahoma" panose="020B0604030504040204" pitchFamily="34" charset="0"/>
                <a:ea typeface="Tahoma" panose="020B0604030504040204" pitchFamily="34" charset="0"/>
                <a:cs typeface="Tahoma" panose="020B0604030504040204" pitchFamily="34" charset="0"/>
              </a:rPr>
              <a:t>The increasing amount of data requires training AI models at a very large scale, therefore </a:t>
            </a:r>
            <a:r>
              <a:rPr lang="en-US" b="1">
                <a:latin typeface="Tahoma" panose="020B0604030504040204" pitchFamily="34" charset="0"/>
                <a:ea typeface="Tahoma" panose="020B0604030504040204" pitchFamily="34" charset="0"/>
                <a:cs typeface="Tahoma" panose="020B0604030504040204" pitchFamily="34" charset="0"/>
              </a:rPr>
              <a:t>Transformers</a:t>
            </a:r>
            <a:r>
              <a:rPr lang="en-US">
                <a:latin typeface="Tahoma" panose="020B0604030504040204" pitchFamily="34" charset="0"/>
                <a:ea typeface="Tahoma" panose="020B0604030504040204" pitchFamily="34" charset="0"/>
                <a:cs typeface="Tahoma" panose="020B0604030504040204" pitchFamily="34" charset="0"/>
              </a:rPr>
              <a:t> launch new era of </a:t>
            </a:r>
            <a:r>
              <a:rPr lang="en-US" b="1">
                <a:latin typeface="Tahoma" panose="020B0604030504040204" pitchFamily="34" charset="0"/>
                <a:ea typeface="Tahoma" panose="020B0604030504040204" pitchFamily="34" charset="0"/>
                <a:cs typeface="Tahoma" panose="020B0604030504040204" pitchFamily="34" charset="0"/>
              </a:rPr>
              <a:t>parameter-driven AI</a:t>
            </a:r>
            <a:r>
              <a:rPr lang="en-US">
                <a:latin typeface="Tahoma" panose="020B0604030504040204" pitchFamily="34" charset="0"/>
                <a:ea typeface="Tahoma" panose="020B0604030504040204" pitchFamily="34" charset="0"/>
                <a:cs typeface="Tahoma" panose="020B0604030504040204" pitchFamily="34" charset="0"/>
              </a:rPr>
              <a:t>. Learning to understand how hundreds of millions of words fit together in sentences requires a tremendous amount of parameters.</a:t>
            </a:r>
          </a:p>
          <a:p>
            <a:pPr marL="285750" indent="-285750">
              <a:buFont typeface="Wingdings" pitchFamily="2" charset="2"/>
              <a:buChar char="ü"/>
            </a:pPr>
            <a:endParaRPr lang="en-US">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itchFamily="2" charset="2"/>
              <a:buChar char="ü"/>
            </a:pPr>
            <a:r>
              <a:rPr lang="en-US" b="1">
                <a:latin typeface="Tahoma" panose="020B0604030504040204" pitchFamily="34" charset="0"/>
                <a:ea typeface="Tahoma" panose="020B0604030504040204" pitchFamily="34" charset="0"/>
                <a:cs typeface="Tahoma" panose="020B0604030504040204" pitchFamily="34" charset="0"/>
              </a:rPr>
              <a:t>Transformers</a:t>
            </a:r>
            <a:r>
              <a:rPr lang="en-US">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encoders</a:t>
            </a:r>
            <a:r>
              <a:rPr lang="en-US">
                <a:latin typeface="Tahoma" panose="020B0604030504040204" pitchFamily="34" charset="0"/>
                <a:ea typeface="Tahoma" panose="020B0604030504040204" pitchFamily="34" charset="0"/>
                <a:cs typeface="Tahoma" panose="020B0604030504040204" pitchFamily="34" charset="0"/>
              </a:rPr>
              <a:t> and </a:t>
            </a:r>
            <a:r>
              <a:rPr lang="en-US" b="1">
                <a:latin typeface="Tahoma" panose="020B0604030504040204" pitchFamily="34" charset="0"/>
                <a:ea typeface="Tahoma" panose="020B0604030504040204" pitchFamily="34" charset="0"/>
                <a:cs typeface="Tahoma" panose="020B0604030504040204" pitchFamily="34" charset="0"/>
              </a:rPr>
              <a:t>decoders</a:t>
            </a:r>
            <a:r>
              <a:rPr lang="en-US">
                <a:latin typeface="Tahoma" panose="020B0604030504040204" pitchFamily="34" charset="0"/>
                <a:ea typeface="Tahoma" panose="020B0604030504040204" pitchFamily="34" charset="0"/>
                <a:cs typeface="Tahoma" panose="020B0604030504040204" pitchFamily="34" charset="0"/>
              </a:rPr>
              <a:t> contain </a:t>
            </a:r>
            <a:r>
              <a:rPr lang="en-US" b="1">
                <a:latin typeface="Tahoma" panose="020B0604030504040204" pitchFamily="34" charset="0"/>
                <a:ea typeface="Tahoma" panose="020B0604030504040204" pitchFamily="34" charset="0"/>
                <a:cs typeface="Tahoma" panose="020B0604030504040204" pitchFamily="34" charset="0"/>
              </a:rPr>
              <a:t>attention</a:t>
            </a:r>
            <a:r>
              <a:rPr lang="en-US">
                <a:latin typeface="Tahoma" panose="020B0604030504040204" pitchFamily="34" charset="0"/>
                <a:ea typeface="Tahoma" panose="020B0604030504040204" pitchFamily="34" charset="0"/>
                <a:cs typeface="Tahoma" panose="020B0604030504040204" pitchFamily="34" charset="0"/>
              </a:rPr>
              <a:t> </a:t>
            </a:r>
            <a:r>
              <a:rPr lang="en-US" b="1">
                <a:latin typeface="Tahoma" panose="020B0604030504040204" pitchFamily="34" charset="0"/>
                <a:ea typeface="Tahoma" panose="020B0604030504040204" pitchFamily="34" charset="0"/>
                <a:cs typeface="Tahoma" panose="020B0604030504040204" pitchFamily="34" charset="0"/>
              </a:rPr>
              <a:t>heads</a:t>
            </a:r>
            <a:r>
              <a:rPr lang="en-US">
                <a:latin typeface="Tahoma" panose="020B0604030504040204" pitchFamily="34" charset="0"/>
                <a:ea typeface="Tahoma" panose="020B0604030504040204" pitchFamily="34" charset="0"/>
                <a:cs typeface="Tahoma" panose="020B0604030504040204" pitchFamily="34" charset="0"/>
              </a:rPr>
              <a:t> that train separately, parallelizing cutting-edge hardware. Attention heads can run on separate </a:t>
            </a:r>
            <a:r>
              <a:rPr lang="en-US" b="1">
                <a:latin typeface="Tahoma" panose="020B0604030504040204" pitchFamily="34" charset="0"/>
                <a:ea typeface="Tahoma" panose="020B0604030504040204" pitchFamily="34" charset="0"/>
                <a:cs typeface="Tahoma" panose="020B0604030504040204" pitchFamily="34" charset="0"/>
              </a:rPr>
              <a:t>GPUs</a:t>
            </a:r>
            <a:r>
              <a:rPr lang="en-US">
                <a:latin typeface="Tahoma" panose="020B0604030504040204" pitchFamily="34" charset="0"/>
                <a:ea typeface="Tahoma" panose="020B0604030504040204" pitchFamily="34" charset="0"/>
                <a:cs typeface="Tahoma" panose="020B0604030504040204" pitchFamily="34" charset="0"/>
              </a:rPr>
              <a:t> opening the door to billion-parameter models and soon-to-come trillion-parameter models. </a:t>
            </a:r>
            <a:r>
              <a:rPr lang="en-US" b="1">
                <a:latin typeface="Tahoma" panose="020B0604030504040204" pitchFamily="34" charset="0"/>
                <a:ea typeface="Tahoma" panose="020B0604030504040204" pitchFamily="34" charset="0"/>
                <a:cs typeface="Tahoma" panose="020B0604030504040204" pitchFamily="34" charset="0"/>
              </a:rPr>
              <a:t>OpenAI</a:t>
            </a:r>
            <a:r>
              <a:rPr lang="en-US">
                <a:latin typeface="Tahoma" panose="020B0604030504040204" pitchFamily="34" charset="0"/>
                <a:ea typeface="Tahoma" panose="020B0604030504040204" pitchFamily="34" charset="0"/>
                <a:cs typeface="Tahoma" panose="020B0604030504040204" pitchFamily="34" charset="0"/>
              </a:rPr>
              <a:t> trained a 175 billion parameter </a:t>
            </a:r>
            <a:r>
              <a:rPr lang="en-US" b="1">
                <a:latin typeface="Tahoma" panose="020B0604030504040204" pitchFamily="34" charset="0"/>
                <a:ea typeface="Tahoma" panose="020B0604030504040204" pitchFamily="34" charset="0"/>
                <a:cs typeface="Tahoma" panose="020B0604030504040204" pitchFamily="34" charset="0"/>
              </a:rPr>
              <a:t>GPT-3</a:t>
            </a:r>
            <a:r>
              <a:rPr lang="en-US">
                <a:latin typeface="Tahoma" panose="020B0604030504040204" pitchFamily="34" charset="0"/>
                <a:ea typeface="Tahoma" panose="020B0604030504040204" pitchFamily="34" charset="0"/>
                <a:cs typeface="Tahoma" panose="020B0604030504040204" pitchFamily="34" charset="0"/>
              </a:rPr>
              <a:t> Transformer model on a supercomputer with </a:t>
            </a:r>
            <a:r>
              <a:rPr lang="en-US" b="1">
                <a:latin typeface="Tahoma" panose="020B0604030504040204" pitchFamily="34" charset="0"/>
                <a:ea typeface="Tahoma" panose="020B0604030504040204" pitchFamily="34" charset="0"/>
                <a:cs typeface="Tahoma" panose="020B0604030504040204" pitchFamily="34" charset="0"/>
              </a:rPr>
              <a:t>10,000 GPUs </a:t>
            </a:r>
            <a:r>
              <a:rPr lang="en-US">
                <a:latin typeface="Tahoma" panose="020B0604030504040204" pitchFamily="34" charset="0"/>
                <a:ea typeface="Tahoma" panose="020B0604030504040204" pitchFamily="34" charset="0"/>
                <a:cs typeface="Tahoma" panose="020B0604030504040204" pitchFamily="34" charset="0"/>
              </a:rPr>
              <a:t>and </a:t>
            </a:r>
            <a:r>
              <a:rPr lang="en-US" b="1">
                <a:latin typeface="Tahoma" panose="020B0604030504040204" pitchFamily="34" charset="0"/>
                <a:ea typeface="Tahoma" panose="020B0604030504040204" pitchFamily="34" charset="0"/>
                <a:cs typeface="Tahoma" panose="020B0604030504040204" pitchFamily="34" charset="0"/>
              </a:rPr>
              <a:t>285,000 CPU</a:t>
            </a:r>
            <a:r>
              <a:rPr lang="en-US">
                <a:latin typeface="Tahoma" panose="020B0604030504040204" pitchFamily="34" charset="0"/>
                <a:ea typeface="Tahoma" panose="020B0604030504040204" pitchFamily="34" charset="0"/>
                <a:cs typeface="Tahoma" panose="020B0604030504040204" pitchFamily="34" charset="0"/>
              </a:rPr>
              <a:t> cores.</a:t>
            </a:r>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7" name="Immagin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1030" y="3933645"/>
            <a:ext cx="6747392" cy="2815391"/>
          </a:xfrm>
          <a:prstGeom prst="rect">
            <a:avLst/>
          </a:prstGeom>
        </p:spPr>
      </p:pic>
    </p:spTree>
    <p:extLst>
      <p:ext uri="{BB962C8B-B14F-4D97-AF65-F5344CB8AC3E}">
        <p14:creationId xmlns:p14="http://schemas.microsoft.com/office/powerpoint/2010/main" val="656023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37</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574293" y="447276"/>
            <a:ext cx="11269308" cy="307776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latin typeface="Tahoma" panose="020B0604030504040204" pitchFamily="34" charset="0"/>
                <a:ea typeface="Tahoma" panose="020B0604030504040204" pitchFamily="34" charset="0"/>
                <a:cs typeface="Tahoma" panose="020B0604030504040204" pitchFamily="34" charset="0"/>
              </a:rPr>
              <a:t>What are Foundation Models?</a:t>
            </a: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6" name="Rettangolo 5"/>
          <p:cNvSpPr/>
          <p:nvPr/>
        </p:nvSpPr>
        <p:spPr>
          <a:xfrm>
            <a:off x="233916" y="1307199"/>
            <a:ext cx="5925344" cy="3970318"/>
          </a:xfrm>
          <a:prstGeom prst="rect">
            <a:avLst/>
          </a:prstGeom>
        </p:spPr>
        <p:txBody>
          <a:bodyPr wrap="square">
            <a:spAutoFit/>
          </a:bodyPr>
          <a:lstStyle/>
          <a:p>
            <a:pPr marL="285750" indent="-285750">
              <a:buFont typeface="Wingdings" panose="05000000000000000000" pitchFamily="2" charset="2"/>
              <a:buChar char="ü"/>
            </a:pPr>
            <a:r>
              <a:rPr lang="it-IT" b="1" dirty="0">
                <a:latin typeface="Tahoma" panose="020B0604030504040204" pitchFamily="34" charset="0"/>
                <a:ea typeface="Tahoma" panose="020B0604030504040204" pitchFamily="34" charset="0"/>
                <a:cs typeface="Tahoma" panose="020B0604030504040204" pitchFamily="34" charset="0"/>
              </a:rPr>
              <a:t>Foundation</a:t>
            </a:r>
            <a:r>
              <a:rPr lang="it-IT" dirty="0">
                <a:latin typeface="Tahoma" panose="020B0604030504040204" pitchFamily="34" charset="0"/>
                <a:ea typeface="Tahoma" panose="020B0604030504040204" pitchFamily="34" charset="0"/>
                <a:cs typeface="Tahoma" panose="020B0604030504040204" pitchFamily="34" charset="0"/>
              </a:rPr>
              <a:t> </a:t>
            </a:r>
            <a:r>
              <a:rPr lang="it-IT" b="1" dirty="0" err="1">
                <a:latin typeface="Tahoma" panose="020B0604030504040204" pitchFamily="34" charset="0"/>
                <a:ea typeface="Tahoma" panose="020B0604030504040204" pitchFamily="34" charset="0"/>
                <a:cs typeface="Tahoma" panose="020B0604030504040204" pitchFamily="34" charset="0"/>
              </a:rPr>
              <a:t>Models</a:t>
            </a:r>
            <a:r>
              <a:rPr lang="it-IT" dirty="0">
                <a:latin typeface="Tahoma" panose="020B0604030504040204" pitchFamily="34" charset="0"/>
                <a:ea typeface="Tahoma" panose="020B0604030504040204" pitchFamily="34" charset="0"/>
                <a:cs typeface="Tahoma" panose="020B0604030504040204" pitchFamily="34" charset="0"/>
              </a:rPr>
              <a:t> are </a:t>
            </a:r>
            <a:r>
              <a:rPr lang="it-IT" dirty="0" err="1">
                <a:latin typeface="Tahoma" panose="020B0604030504040204" pitchFamily="34" charset="0"/>
                <a:ea typeface="Tahoma" panose="020B0604030504040204" pitchFamily="34" charset="0"/>
                <a:cs typeface="Tahoma" panose="020B0604030504040204" pitchFamily="34" charset="0"/>
              </a:rPr>
              <a:t>fully</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trained</a:t>
            </a:r>
            <a:r>
              <a:rPr lang="it-IT" dirty="0">
                <a:latin typeface="Tahoma" panose="020B0604030504040204" pitchFamily="34" charset="0"/>
                <a:ea typeface="Tahoma" panose="020B0604030504040204" pitchFamily="34" charset="0"/>
                <a:cs typeface="Tahoma" panose="020B0604030504040204" pitchFamily="34" charset="0"/>
              </a:rPr>
              <a:t> transformer </a:t>
            </a:r>
            <a:r>
              <a:rPr lang="it-IT" dirty="0" err="1">
                <a:latin typeface="Tahoma" panose="020B0604030504040204" pitchFamily="34" charset="0"/>
                <a:ea typeface="Tahoma" panose="020B0604030504040204" pitchFamily="34" charset="0"/>
                <a:cs typeface="Tahoma" panose="020B0604030504040204" pitchFamily="34" charset="0"/>
              </a:rPr>
              <a:t>models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that</a:t>
            </a:r>
            <a:r>
              <a:rPr lang="it-IT" dirty="0">
                <a:latin typeface="Tahoma" panose="020B0604030504040204" pitchFamily="34" charset="0"/>
                <a:ea typeface="Tahoma" panose="020B0604030504040204" pitchFamily="34" charset="0"/>
                <a:cs typeface="Tahoma" panose="020B0604030504040204" pitchFamily="34" charset="0"/>
              </a:rPr>
              <a:t> can </a:t>
            </a:r>
            <a:r>
              <a:rPr lang="it-IT" dirty="0" err="1">
                <a:latin typeface="Tahoma" panose="020B0604030504040204" pitchFamily="34" charset="0"/>
                <a:ea typeface="Tahoma" panose="020B0604030504040204" pitchFamily="34" charset="0"/>
                <a:cs typeface="Tahoma" panose="020B0604030504040204" pitchFamily="34" charset="0"/>
              </a:rPr>
              <a:t>perform</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hundreds</a:t>
            </a:r>
            <a:r>
              <a:rPr lang="it-IT" dirty="0">
                <a:latin typeface="Tahoma" panose="020B0604030504040204" pitchFamily="34" charset="0"/>
                <a:ea typeface="Tahoma" panose="020B0604030504040204" pitchFamily="34" charset="0"/>
                <a:cs typeface="Tahoma" panose="020B0604030504040204" pitchFamily="34" charset="0"/>
              </a:rPr>
              <a:t> of </a:t>
            </a:r>
            <a:r>
              <a:rPr lang="it-IT" dirty="0" err="1">
                <a:latin typeface="Tahoma" panose="020B0604030504040204" pitchFamily="34" charset="0"/>
                <a:ea typeface="Tahoma" panose="020B0604030504040204" pitchFamily="34" charset="0"/>
                <a:cs typeface="Tahoma" panose="020B0604030504040204" pitchFamily="34" charset="0"/>
              </a:rPr>
              <a:t>tasks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even</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without</a:t>
            </a:r>
            <a:r>
              <a:rPr lang="it-IT" dirty="0">
                <a:latin typeface="Tahoma" panose="020B0604030504040204" pitchFamily="34" charset="0"/>
                <a:ea typeface="Tahoma" panose="020B0604030504040204" pitchFamily="34" charset="0"/>
                <a:cs typeface="Tahoma" panose="020B0604030504040204" pitchFamily="34" charset="0"/>
              </a:rPr>
              <a:t> fine-</a:t>
            </a:r>
            <a:r>
              <a:rPr lang="it-IT" dirty="0" err="1">
                <a:latin typeface="Tahoma" panose="020B0604030504040204" pitchFamily="34" charset="0"/>
                <a:ea typeface="Tahoma" panose="020B0604030504040204" pitchFamily="34" charset="0"/>
                <a:cs typeface="Tahoma" panose="020B0604030504040204" pitchFamily="34" charset="0"/>
              </a:rPr>
              <a:t>tuning</a:t>
            </a:r>
            <a:r>
              <a:rPr lang="it-IT" dirty="0">
                <a:latin typeface="Tahoma" panose="020B0604030504040204" pitchFamily="34" charset="0"/>
                <a:ea typeface="Tahoma" panose="020B0604030504040204" pitchFamily="34" charset="0"/>
                <a:cs typeface="Tahoma" panose="020B0604030504040204" pitchFamily="34" charset="0"/>
              </a:rPr>
              <a:t>. Foundation </a:t>
            </a:r>
            <a:r>
              <a:rPr lang="it-IT" dirty="0" err="1">
                <a:latin typeface="Tahoma" panose="020B0604030504040204" pitchFamily="34" charset="0"/>
                <a:ea typeface="Tahoma" panose="020B0604030504040204" pitchFamily="34" charset="0"/>
                <a:cs typeface="Tahoma" panose="020B0604030504040204" pitchFamily="34" charset="0"/>
              </a:rPr>
              <a:t>models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at</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this</a:t>
            </a:r>
            <a:r>
              <a:rPr lang="it-IT" dirty="0">
                <a:latin typeface="Tahoma" panose="020B0604030504040204" pitchFamily="34" charset="0"/>
                <a:ea typeface="Tahoma" panose="020B0604030504040204" pitchFamily="34" charset="0"/>
                <a:cs typeface="Tahoma" panose="020B0604030504040204" pitchFamily="34" charset="0"/>
              </a:rPr>
              <a:t> scale </a:t>
            </a:r>
            <a:r>
              <a:rPr lang="it-IT" dirty="0" err="1">
                <a:latin typeface="Tahoma" panose="020B0604030504040204" pitchFamily="34" charset="0"/>
                <a:ea typeface="Tahoma" panose="020B0604030504040204" pitchFamily="34" charset="0"/>
                <a:cs typeface="Tahoma" panose="020B0604030504040204" pitchFamily="34" charset="0"/>
              </a:rPr>
              <a:t>offer</a:t>
            </a:r>
            <a:r>
              <a:rPr lang="it-IT" dirty="0">
                <a:latin typeface="Tahoma" panose="020B0604030504040204" pitchFamily="34" charset="0"/>
                <a:ea typeface="Tahoma" panose="020B0604030504040204" pitchFamily="34" charset="0"/>
                <a:cs typeface="Tahoma" panose="020B0604030504040204" pitchFamily="34" charset="0"/>
              </a:rPr>
              <a:t> the </a:t>
            </a:r>
            <a:r>
              <a:rPr lang="it-IT" dirty="0" err="1">
                <a:latin typeface="Tahoma" panose="020B0604030504040204" pitchFamily="34" charset="0"/>
                <a:ea typeface="Tahoma" panose="020B0604030504040204" pitchFamily="34" charset="0"/>
                <a:cs typeface="Tahoma" panose="020B0604030504040204" pitchFamily="34" charset="0"/>
              </a:rPr>
              <a:t>tools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we</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need</a:t>
            </a:r>
            <a:r>
              <a:rPr lang="it-IT" dirty="0">
                <a:latin typeface="Tahoma" panose="020B0604030504040204" pitchFamily="34" charset="0"/>
                <a:ea typeface="Tahoma" panose="020B0604030504040204" pitchFamily="34" charset="0"/>
                <a:cs typeface="Tahoma" panose="020B0604030504040204" pitchFamily="34" charset="0"/>
              </a:rPr>
              <a:t> in </a:t>
            </a:r>
            <a:r>
              <a:rPr lang="it-IT" dirty="0" err="1">
                <a:latin typeface="Tahoma" panose="020B0604030504040204" pitchFamily="34" charset="0"/>
                <a:ea typeface="Tahoma" panose="020B0604030504040204" pitchFamily="34" charset="0"/>
                <a:cs typeface="Tahoma" panose="020B0604030504040204" pitchFamily="34" charset="0"/>
              </a:rPr>
              <a:t>this</a:t>
            </a:r>
            <a:r>
              <a:rPr lang="it-IT" dirty="0">
                <a:latin typeface="Tahoma" panose="020B0604030504040204" pitchFamily="34" charset="0"/>
                <a:ea typeface="Tahoma" panose="020B0604030504040204" pitchFamily="34" charset="0"/>
                <a:cs typeface="Tahoma" panose="020B0604030504040204" pitchFamily="34" charset="0"/>
              </a:rPr>
              <a:t> massive information era.</a:t>
            </a:r>
          </a:p>
          <a:p>
            <a:pPr marL="285750" indent="-285750">
              <a:buFont typeface="Wingdings" panose="05000000000000000000" pitchFamily="2" charset="2"/>
              <a:buChar char="ü"/>
            </a:pPr>
            <a:endParaRPr lang="it-IT"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In the field of </a:t>
            </a:r>
            <a:r>
              <a:rPr lang="en-US" b="1" dirty="0">
                <a:latin typeface="Tahoma" panose="020B0604030504040204" pitchFamily="34" charset="0"/>
                <a:ea typeface="Tahoma" panose="020B0604030504040204" pitchFamily="34" charset="0"/>
                <a:cs typeface="Tahoma" panose="020B0604030504040204" pitchFamily="34" charset="0"/>
              </a:rPr>
              <a:t>Sentiment Analysis</a:t>
            </a:r>
            <a:r>
              <a:rPr lang="en-US" dirty="0">
                <a:latin typeface="Tahoma" panose="020B0604030504040204" pitchFamily="34" charset="0"/>
                <a:ea typeface="Tahoma" panose="020B0604030504040204" pitchFamily="34" charset="0"/>
                <a:cs typeface="Tahoma" panose="020B0604030504040204" pitchFamily="34" charset="0"/>
              </a:rPr>
              <a:t> for example, how many humans it would take to read the content of  billions of tweets or posts on social networks in a few minutes?</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How many humans would be needed to translate the millions of </a:t>
            </a:r>
            <a:r>
              <a:rPr lang="en-US" b="1" dirty="0">
                <a:latin typeface="Tahoma" panose="020B0604030504040204" pitchFamily="34" charset="0"/>
                <a:ea typeface="Tahoma" panose="020B0604030504040204" pitchFamily="34" charset="0"/>
                <a:cs typeface="Tahoma" panose="020B0604030504040204" pitchFamily="34" charset="0"/>
              </a:rPr>
              <a:t>pages published </a:t>
            </a:r>
            <a:r>
              <a:rPr lang="en-US" dirty="0">
                <a:latin typeface="Tahoma" panose="020B0604030504040204" pitchFamily="34" charset="0"/>
                <a:ea typeface="Tahoma" panose="020B0604030504040204" pitchFamily="34" charset="0"/>
                <a:cs typeface="Tahoma" panose="020B0604030504040204" pitchFamily="34" charset="0"/>
              </a:rPr>
              <a:t>each day on the web?</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8" name="Immagin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9260" y="1201478"/>
            <a:ext cx="5744420" cy="3804703"/>
          </a:xfrm>
          <a:prstGeom prst="rect">
            <a:avLst/>
          </a:prstGeom>
        </p:spPr>
      </p:pic>
      <p:sp>
        <p:nvSpPr>
          <p:cNvPr id="9" name="Rettangolo 8"/>
          <p:cNvSpPr/>
          <p:nvPr/>
        </p:nvSpPr>
        <p:spPr>
          <a:xfrm>
            <a:off x="574294" y="5159505"/>
            <a:ext cx="11269772" cy="1477328"/>
          </a:xfrm>
          <a:prstGeom prst="rect">
            <a:avLst/>
          </a:prstGeom>
        </p:spPr>
        <p:txBody>
          <a:bodyPr wrap="square">
            <a:spAutoFit/>
          </a:bodyPr>
          <a:lstStyle/>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How many humans it would take to write the transcripts of all of the vast amount of hours of </a:t>
            </a:r>
            <a:r>
              <a:rPr lang="en-US" b="1" dirty="0">
                <a:latin typeface="Tahoma" panose="020B0604030504040204" pitchFamily="34" charset="0"/>
                <a:ea typeface="Tahoma" panose="020B0604030504040204" pitchFamily="34" charset="0"/>
                <a:cs typeface="Tahoma" panose="020B0604030504040204" pitchFamily="34" charset="0"/>
              </a:rPr>
              <a:t>streaming published </a:t>
            </a:r>
            <a:r>
              <a:rPr lang="en-US" dirty="0">
                <a:latin typeface="Tahoma" panose="020B0604030504040204" pitchFamily="34" charset="0"/>
                <a:ea typeface="Tahoma" panose="020B0604030504040204" pitchFamily="34" charset="0"/>
                <a:cs typeface="Tahoma" panose="020B0604030504040204" pitchFamily="34" charset="0"/>
              </a:rPr>
              <a:t>per day on the web?</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How many humans are required to replace </a:t>
            </a:r>
            <a:r>
              <a:rPr lang="en-US" b="1" dirty="0">
                <a:latin typeface="Tahoma" panose="020B0604030504040204" pitchFamily="34" charset="0"/>
                <a:ea typeface="Tahoma" panose="020B0604030504040204" pitchFamily="34" charset="0"/>
                <a:cs typeface="Tahoma" panose="020B0604030504040204" pitchFamily="34" charset="0"/>
              </a:rPr>
              <a:t>AI image captioning</a:t>
            </a:r>
            <a:r>
              <a:rPr lang="en-US" dirty="0">
                <a:latin typeface="Tahoma" panose="020B0604030504040204" pitchFamily="34" charset="0"/>
                <a:ea typeface="Tahoma" panose="020B0604030504040204" pitchFamily="34" charset="0"/>
                <a:cs typeface="Tahoma" panose="020B0604030504040204" pitchFamily="34" charset="0"/>
              </a:rPr>
              <a:t> for the billions of images that continuously appear online?</a:t>
            </a:r>
            <a:endParaRPr lang="it-IT"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359923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38</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03325" y="348971"/>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latin typeface="Tahoma" panose="020B0604030504040204" pitchFamily="34" charset="0"/>
                <a:ea typeface="Tahoma" panose="020B0604030504040204" pitchFamily="34" charset="0"/>
                <a:cs typeface="Tahoma" panose="020B0604030504040204" pitchFamily="34" charset="0"/>
              </a:rPr>
              <a:t>AI 2.0 and Industry 4.0</a:t>
            </a: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7" name="Rettangolo 6"/>
          <p:cNvSpPr/>
          <p:nvPr/>
        </p:nvSpPr>
        <p:spPr>
          <a:xfrm>
            <a:off x="562160" y="1225689"/>
            <a:ext cx="6266491" cy="5632311"/>
          </a:xfrm>
          <a:prstGeom prst="rect">
            <a:avLst/>
          </a:prstGeom>
        </p:spPr>
        <p:txBody>
          <a:bodyPr wrap="square">
            <a:spAutoFit/>
          </a:bodyPr>
          <a:lstStyle/>
          <a:p>
            <a:pPr marL="285750" indent="-285750">
              <a:buFont typeface="Wingdings" panose="05000000000000000000" pitchFamily="2" charset="2"/>
              <a:buChar char="ü"/>
            </a:pPr>
            <a:r>
              <a:rPr lang="it-IT" b="1" dirty="0" err="1">
                <a:latin typeface="Tahoma" panose="020B0604030504040204" pitchFamily="34" charset="0"/>
                <a:ea typeface="Tahoma" panose="020B0604030504040204" pitchFamily="34" charset="0"/>
                <a:cs typeface="Tahoma" panose="020B0604030504040204" pitchFamily="34" charset="0"/>
              </a:rPr>
              <a:t>Transformers</a:t>
            </a:r>
            <a:r>
              <a:rPr lang="it-IT" b="1" dirty="0">
                <a:latin typeface="Tahoma" panose="020B0604030504040204" pitchFamily="34" charset="0"/>
                <a:ea typeface="Tahoma" panose="020B0604030504040204" pitchFamily="34" charset="0"/>
                <a:cs typeface="Tahoma" panose="020B0604030504040204" pitchFamily="34" charset="0"/>
              </a:rPr>
              <a:t> </a:t>
            </a:r>
            <a:r>
              <a:rPr lang="it-IT" dirty="0">
                <a:latin typeface="Tahoma" panose="020B0604030504040204" pitchFamily="34" charset="0"/>
                <a:ea typeface="Tahoma" panose="020B0604030504040204" pitchFamily="34" charset="0"/>
                <a:cs typeface="Tahoma" panose="020B0604030504040204" pitchFamily="34" charset="0"/>
              </a:rPr>
              <a:t>are </a:t>
            </a:r>
            <a:r>
              <a:rPr lang="it-IT" b="1" dirty="0" err="1">
                <a:latin typeface="Tahoma" panose="020B0604030504040204" pitchFamily="34" charset="0"/>
                <a:ea typeface="Tahoma" panose="020B0604030504040204" pitchFamily="34" charset="0"/>
                <a:cs typeface="Tahoma" panose="020B0604030504040204" pitchFamily="34" charset="0"/>
              </a:rPr>
              <a:t>industrialized</a:t>
            </a:r>
            <a:r>
              <a:rPr lang="it-IT" dirty="0">
                <a:latin typeface="Tahoma" panose="020B0604030504040204" pitchFamily="34" charset="0"/>
                <a:ea typeface="Tahoma" panose="020B0604030504040204" pitchFamily="34" charset="0"/>
                <a:cs typeface="Tahoma" panose="020B0604030504040204" pitchFamily="34" charset="0"/>
              </a:rPr>
              <a:t>, </a:t>
            </a:r>
            <a:r>
              <a:rPr lang="it-IT" b="1" dirty="0" err="1">
                <a:latin typeface="Tahoma" panose="020B0604030504040204" pitchFamily="34" charset="0"/>
                <a:ea typeface="Tahoma" panose="020B0604030504040204" pitchFamily="34" charset="0"/>
                <a:cs typeface="Tahoma" panose="020B0604030504040204" pitchFamily="34" charset="0"/>
              </a:rPr>
              <a:t>homogenized</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deep</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learning</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models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designed</a:t>
            </a:r>
            <a:r>
              <a:rPr lang="it-IT" dirty="0">
                <a:latin typeface="Tahoma" panose="020B0604030504040204" pitchFamily="34" charset="0"/>
                <a:ea typeface="Tahoma" panose="020B0604030504040204" pitchFamily="34" charset="0"/>
                <a:cs typeface="Tahoma" panose="020B0604030504040204" pitchFamily="34" charset="0"/>
              </a:rPr>
              <a:t> for </a:t>
            </a:r>
            <a:r>
              <a:rPr lang="it-IT" b="1" dirty="0" err="1">
                <a:latin typeface="Tahoma" panose="020B0604030504040204" pitchFamily="34" charset="0"/>
                <a:ea typeface="Tahoma" panose="020B0604030504040204" pitchFamily="34" charset="0"/>
                <a:cs typeface="Tahoma" panose="020B0604030504040204" pitchFamily="34" charset="0"/>
              </a:rPr>
              <a:t>parallel</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computing</a:t>
            </a:r>
            <a:r>
              <a:rPr lang="it-IT" dirty="0">
                <a:latin typeface="Tahoma" panose="020B0604030504040204" pitchFamily="34" charset="0"/>
                <a:ea typeface="Tahoma" panose="020B0604030504040204" pitchFamily="34" charset="0"/>
                <a:cs typeface="Tahoma" panose="020B0604030504040204" pitchFamily="34" charset="0"/>
              </a:rPr>
              <a:t> on </a:t>
            </a:r>
            <a:r>
              <a:rPr lang="it-IT" b="1" dirty="0" err="1">
                <a:latin typeface="Tahoma" panose="020B0604030504040204" pitchFamily="34" charset="0"/>
                <a:ea typeface="Tahoma" panose="020B0604030504040204" pitchFamily="34" charset="0"/>
                <a:cs typeface="Tahoma" panose="020B0604030504040204" pitchFamily="34" charset="0"/>
              </a:rPr>
              <a:t>supercomputers</a:t>
            </a:r>
            <a:r>
              <a:rPr lang="it-IT" dirty="0">
                <a:latin typeface="Tahoma" panose="020B0604030504040204" pitchFamily="34" charset="0"/>
                <a:ea typeface="Tahoma" panose="020B0604030504040204" pitchFamily="34" charset="0"/>
                <a:cs typeface="Tahoma" panose="020B0604030504040204" pitchFamily="34" charset="0"/>
              </a:rPr>
              <a:t>. </a:t>
            </a:r>
          </a:p>
          <a:p>
            <a:pPr marL="285750" indent="-285750">
              <a:buFont typeface="Wingdings" panose="05000000000000000000" pitchFamily="2" charset="2"/>
              <a:buChar char="ü"/>
            </a:pPr>
            <a:endParaRPr lang="it-IT"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it-IT" dirty="0" err="1">
                <a:latin typeface="Tahoma" panose="020B0604030504040204" pitchFamily="34" charset="0"/>
                <a:ea typeface="Tahoma" panose="020B0604030504040204" pitchFamily="34" charset="0"/>
                <a:cs typeface="Tahoma" panose="020B0604030504040204" pitchFamily="34" charset="0"/>
              </a:rPr>
              <a:t>Thanks</a:t>
            </a:r>
            <a:r>
              <a:rPr lang="it-IT" dirty="0">
                <a:latin typeface="Tahoma" panose="020B0604030504040204" pitchFamily="34" charset="0"/>
                <a:ea typeface="Tahoma" panose="020B0604030504040204" pitchFamily="34" charset="0"/>
                <a:cs typeface="Tahoma" panose="020B0604030504040204" pitchFamily="34" charset="0"/>
              </a:rPr>
              <a:t> to </a:t>
            </a:r>
            <a:r>
              <a:rPr lang="it-IT" b="1" dirty="0" err="1">
                <a:latin typeface="Tahoma" panose="020B0604030504040204" pitchFamily="34" charset="0"/>
                <a:ea typeface="Tahoma" panose="020B0604030504040204" pitchFamily="34" charset="0"/>
                <a:cs typeface="Tahoma" panose="020B0604030504040204" pitchFamily="34" charset="0"/>
              </a:rPr>
              <a:t>homogenization</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one</a:t>
            </a:r>
            <a:r>
              <a:rPr lang="it-IT" dirty="0">
                <a:latin typeface="Tahoma" panose="020B0604030504040204" pitchFamily="34" charset="0"/>
                <a:ea typeface="Tahoma" panose="020B0604030504040204" pitchFamily="34" charset="0"/>
                <a:cs typeface="Tahoma" panose="020B0604030504040204" pitchFamily="34" charset="0"/>
              </a:rPr>
              <a:t> transformer model </a:t>
            </a:r>
            <a:r>
              <a:rPr lang="it-IT" dirty="0" err="1">
                <a:latin typeface="Tahoma" panose="020B0604030504040204" pitchFamily="34" charset="0"/>
                <a:ea typeface="Tahoma" panose="020B0604030504040204" pitchFamily="34" charset="0"/>
                <a:cs typeface="Tahoma" panose="020B0604030504040204" pitchFamily="34" charset="0"/>
              </a:rPr>
              <a:t>addresses</a:t>
            </a:r>
            <a:r>
              <a:rPr lang="it-IT" dirty="0">
                <a:latin typeface="Tahoma" panose="020B0604030504040204" pitchFamily="34" charset="0"/>
                <a:ea typeface="Tahoma" panose="020B0604030504040204" pitchFamily="34" charset="0"/>
                <a:cs typeface="Tahoma" panose="020B0604030504040204" pitchFamily="34" charset="0"/>
              </a:rPr>
              <a:t> a wide </a:t>
            </a:r>
            <a:r>
              <a:rPr lang="it-IT" dirty="0" err="1">
                <a:latin typeface="Tahoma" panose="020B0604030504040204" pitchFamily="34" charset="0"/>
                <a:ea typeface="Tahoma" panose="020B0604030504040204" pitchFamily="34" charset="0"/>
                <a:cs typeface="Tahoma" panose="020B0604030504040204" pitchFamily="34" charset="0"/>
              </a:rPr>
              <a:t>range</a:t>
            </a:r>
            <a:r>
              <a:rPr lang="it-IT" dirty="0">
                <a:latin typeface="Tahoma" panose="020B0604030504040204" pitchFamily="34" charset="0"/>
                <a:ea typeface="Tahoma" panose="020B0604030504040204" pitchFamily="34" charset="0"/>
                <a:cs typeface="Tahoma" panose="020B0604030504040204" pitchFamily="34" charset="0"/>
              </a:rPr>
              <a:t> of </a:t>
            </a:r>
            <a:r>
              <a:rPr lang="it-IT" dirty="0" err="1">
                <a:latin typeface="Tahoma" panose="020B0604030504040204" pitchFamily="34" charset="0"/>
                <a:ea typeface="Tahoma" panose="020B0604030504040204" pitchFamily="34" charset="0"/>
                <a:cs typeface="Tahoma" panose="020B0604030504040204" pitchFamily="34" charset="0"/>
              </a:rPr>
              <a:t>tasks</a:t>
            </a:r>
            <a:r>
              <a:rPr lang="it-IT" dirty="0">
                <a:latin typeface="Tahoma" panose="020B0604030504040204" pitchFamily="34" charset="0"/>
                <a:ea typeface="Tahoma" panose="020B0604030504040204" pitchFamily="34" charset="0"/>
                <a:cs typeface="Tahoma" panose="020B0604030504040204" pitchFamily="34" charset="0"/>
              </a:rPr>
              <a:t> with no fine-</a:t>
            </a:r>
            <a:r>
              <a:rPr lang="it-IT" dirty="0" err="1">
                <a:latin typeface="Tahoma" panose="020B0604030504040204" pitchFamily="34" charset="0"/>
                <a:ea typeface="Tahoma" panose="020B0604030504040204" pitchFamily="34" charset="0"/>
                <a:cs typeface="Tahoma" panose="020B0604030504040204" pitchFamily="34" charset="0"/>
              </a:rPr>
              <a:t>tuning</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Transformers</a:t>
            </a:r>
            <a:r>
              <a:rPr lang="it-IT" dirty="0">
                <a:latin typeface="Tahoma" panose="020B0604030504040204" pitchFamily="34" charset="0"/>
                <a:ea typeface="Tahoma" panose="020B0604030504040204" pitchFamily="34" charset="0"/>
                <a:cs typeface="Tahoma" panose="020B0604030504040204" pitchFamily="34" charset="0"/>
              </a:rPr>
              <a:t> can </a:t>
            </a:r>
            <a:r>
              <a:rPr lang="it-IT" dirty="0" err="1">
                <a:latin typeface="Tahoma" panose="020B0604030504040204" pitchFamily="34" charset="0"/>
                <a:ea typeface="Tahoma" panose="020B0604030504040204" pitchFamily="34" charset="0"/>
                <a:cs typeface="Tahoma" panose="020B0604030504040204" pitchFamily="34" charset="0"/>
              </a:rPr>
              <a:t>perform</a:t>
            </a:r>
            <a:r>
              <a:rPr lang="it-IT" dirty="0">
                <a:latin typeface="Tahoma" panose="020B0604030504040204" pitchFamily="34" charset="0"/>
                <a:ea typeface="Tahoma" panose="020B0604030504040204" pitchFamily="34" charset="0"/>
                <a:cs typeface="Tahoma" panose="020B0604030504040204" pitchFamily="34" charset="0"/>
              </a:rPr>
              <a:t> self-</a:t>
            </a:r>
            <a:r>
              <a:rPr lang="it-IT" dirty="0" err="1">
                <a:latin typeface="Tahoma" panose="020B0604030504040204" pitchFamily="34" charset="0"/>
                <a:ea typeface="Tahoma" panose="020B0604030504040204" pitchFamily="34" charset="0"/>
                <a:cs typeface="Tahoma" panose="020B0604030504040204" pitchFamily="34" charset="0"/>
              </a:rPr>
              <a:t>supervised</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learning</a:t>
            </a:r>
            <a:r>
              <a:rPr lang="it-IT" dirty="0">
                <a:latin typeface="Tahoma" panose="020B0604030504040204" pitchFamily="34" charset="0"/>
                <a:ea typeface="Tahoma" panose="020B0604030504040204" pitchFamily="34" charset="0"/>
                <a:cs typeface="Tahoma" panose="020B0604030504040204" pitchFamily="34" charset="0"/>
              </a:rPr>
              <a:t> on </a:t>
            </a:r>
            <a:r>
              <a:rPr lang="it-IT" dirty="0" err="1">
                <a:latin typeface="Tahoma" panose="020B0604030504040204" pitchFamily="34" charset="0"/>
                <a:ea typeface="Tahoma" panose="020B0604030504040204" pitchFamily="34" charset="0"/>
                <a:cs typeface="Tahoma" panose="020B0604030504040204" pitchFamily="34" charset="0"/>
              </a:rPr>
              <a:t>billions</a:t>
            </a:r>
            <a:r>
              <a:rPr lang="it-IT" dirty="0">
                <a:latin typeface="Tahoma" panose="020B0604030504040204" pitchFamily="34" charset="0"/>
                <a:ea typeface="Tahoma" panose="020B0604030504040204" pitchFamily="34" charset="0"/>
                <a:cs typeface="Tahoma" panose="020B0604030504040204" pitchFamily="34" charset="0"/>
              </a:rPr>
              <a:t> of </a:t>
            </a:r>
            <a:r>
              <a:rPr lang="it-IT" dirty="0" err="1">
                <a:latin typeface="Tahoma" panose="020B0604030504040204" pitchFamily="34" charset="0"/>
                <a:ea typeface="Tahoma" panose="020B0604030504040204" pitchFamily="34" charset="0"/>
                <a:cs typeface="Tahoma" panose="020B0604030504040204" pitchFamily="34" charset="0"/>
              </a:rPr>
              <a:t>records</a:t>
            </a:r>
            <a:r>
              <a:rPr lang="it-IT" dirty="0">
                <a:latin typeface="Tahoma" panose="020B0604030504040204" pitchFamily="34" charset="0"/>
                <a:ea typeface="Tahoma" panose="020B0604030504040204" pitchFamily="34" charset="0"/>
                <a:cs typeface="Tahoma" panose="020B0604030504040204" pitchFamily="34" charset="0"/>
              </a:rPr>
              <a:t> of </a:t>
            </a:r>
            <a:r>
              <a:rPr lang="it-IT" dirty="0" err="1">
                <a:latin typeface="Tahoma" panose="020B0604030504040204" pitchFamily="34" charset="0"/>
                <a:ea typeface="Tahoma" panose="020B0604030504040204" pitchFamily="34" charset="0"/>
                <a:cs typeface="Tahoma" panose="020B0604030504040204" pitchFamily="34" charset="0"/>
              </a:rPr>
              <a:t>raw</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unlabeled</a:t>
            </a:r>
            <a:r>
              <a:rPr lang="it-IT" dirty="0">
                <a:latin typeface="Tahoma" panose="020B0604030504040204" pitchFamily="34" charset="0"/>
                <a:ea typeface="Tahoma" panose="020B0604030504040204" pitchFamily="34" charset="0"/>
                <a:cs typeface="Tahoma" panose="020B0604030504040204" pitchFamily="34" charset="0"/>
              </a:rPr>
              <a:t> data with </a:t>
            </a:r>
            <a:r>
              <a:rPr lang="it-IT" dirty="0" err="1">
                <a:latin typeface="Tahoma" panose="020B0604030504040204" pitchFamily="34" charset="0"/>
                <a:ea typeface="Tahoma" panose="020B0604030504040204" pitchFamily="34" charset="0"/>
                <a:cs typeface="Tahoma" panose="020B0604030504040204" pitchFamily="34" charset="0"/>
              </a:rPr>
              <a:t>billions</a:t>
            </a:r>
            <a:r>
              <a:rPr lang="it-IT" dirty="0">
                <a:latin typeface="Tahoma" panose="020B0604030504040204" pitchFamily="34" charset="0"/>
                <a:ea typeface="Tahoma" panose="020B0604030504040204" pitchFamily="34" charset="0"/>
                <a:cs typeface="Tahoma" panose="020B0604030504040204" pitchFamily="34" charset="0"/>
              </a:rPr>
              <a:t> of </a:t>
            </a:r>
            <a:r>
              <a:rPr lang="it-IT" dirty="0" err="1">
                <a:latin typeface="Tahoma" panose="020B0604030504040204" pitchFamily="34" charset="0"/>
                <a:ea typeface="Tahoma" panose="020B0604030504040204" pitchFamily="34" charset="0"/>
                <a:cs typeface="Tahoma" panose="020B0604030504040204" pitchFamily="34" charset="0"/>
              </a:rPr>
              <a:t>parameters</a:t>
            </a:r>
            <a:r>
              <a:rPr lang="it-IT" dirty="0">
                <a:latin typeface="Tahoma" panose="020B0604030504040204" pitchFamily="34" charset="0"/>
                <a:ea typeface="Tahoma" panose="020B0604030504040204" pitchFamily="34" charset="0"/>
                <a:cs typeface="Tahoma" panose="020B0604030504040204" pitchFamily="34" charset="0"/>
              </a:rPr>
              <a:t>.</a:t>
            </a:r>
          </a:p>
          <a:p>
            <a:pPr marL="285750" indent="-285750">
              <a:buFont typeface="Wingdings" panose="05000000000000000000" pitchFamily="2" charset="2"/>
              <a:buChar char="ü"/>
            </a:pPr>
            <a:endParaRPr lang="it-IT"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These particular architectures are called foundation models. </a:t>
            </a:r>
            <a:r>
              <a:rPr lang="en-US" b="1" dirty="0">
                <a:latin typeface="Tahoma" panose="020B0604030504040204" pitchFamily="34" charset="0"/>
                <a:ea typeface="Tahoma" panose="020B0604030504040204" pitchFamily="34" charset="0"/>
                <a:cs typeface="Tahoma" panose="020B0604030504040204" pitchFamily="34" charset="0"/>
              </a:rPr>
              <a:t>Foundation model </a:t>
            </a:r>
            <a:r>
              <a:rPr lang="en-US" dirty="0">
                <a:latin typeface="Tahoma" panose="020B0604030504040204" pitchFamily="34" charset="0"/>
                <a:ea typeface="Tahoma" panose="020B0604030504040204" pitchFamily="34" charset="0"/>
                <a:cs typeface="Tahoma" panose="020B0604030504040204" pitchFamily="34" charset="0"/>
              </a:rPr>
              <a:t>transformers represent the edge of the </a:t>
            </a:r>
            <a:r>
              <a:rPr lang="en-US" b="1" dirty="0">
                <a:latin typeface="Tahoma" panose="020B0604030504040204" pitchFamily="34" charset="0"/>
                <a:ea typeface="Tahoma" panose="020B0604030504040204" pitchFamily="34" charset="0"/>
                <a:cs typeface="Tahoma" panose="020B0604030504040204" pitchFamily="34" charset="0"/>
              </a:rPr>
              <a:t>Fourth Industrial Revolution</a:t>
            </a:r>
            <a:r>
              <a:rPr lang="en-US" dirty="0">
                <a:latin typeface="Tahoma" panose="020B0604030504040204" pitchFamily="34" charset="0"/>
                <a:ea typeface="Tahoma" panose="020B0604030504040204" pitchFamily="34" charset="0"/>
                <a:cs typeface="Tahoma" panose="020B0604030504040204" pitchFamily="34" charset="0"/>
              </a:rPr>
              <a:t> that began in </a:t>
            </a:r>
            <a:r>
              <a:rPr lang="en-US" b="1" dirty="0">
                <a:latin typeface="Tahoma" panose="020B0604030504040204" pitchFamily="34" charset="0"/>
                <a:ea typeface="Tahoma" panose="020B0604030504040204" pitchFamily="34" charset="0"/>
                <a:cs typeface="Tahoma" panose="020B0604030504040204" pitchFamily="34" charset="0"/>
              </a:rPr>
              <a:t>2015</a:t>
            </a:r>
            <a:r>
              <a:rPr lang="en-US" dirty="0">
                <a:latin typeface="Tahoma" panose="020B0604030504040204" pitchFamily="34" charset="0"/>
                <a:ea typeface="Tahoma" panose="020B0604030504040204" pitchFamily="34" charset="0"/>
                <a:cs typeface="Tahoma" panose="020B0604030504040204" pitchFamily="34" charset="0"/>
              </a:rPr>
              <a:t> with machine-to-machine automation that will connect everything to everything. </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it-IT" b="1" dirty="0" err="1">
                <a:latin typeface="Tahoma" panose="020B0604030504040204" pitchFamily="34" charset="0"/>
                <a:ea typeface="Tahoma" panose="020B0604030504040204" pitchFamily="34" charset="0"/>
                <a:cs typeface="Tahoma" panose="020B0604030504040204" pitchFamily="34" charset="0"/>
              </a:rPr>
              <a:t>Artificial</a:t>
            </a:r>
            <a:r>
              <a:rPr lang="it-IT" b="1" dirty="0">
                <a:latin typeface="Tahoma" panose="020B0604030504040204" pitchFamily="34" charset="0"/>
                <a:ea typeface="Tahoma" panose="020B0604030504040204" pitchFamily="34" charset="0"/>
                <a:cs typeface="Tahoma" panose="020B0604030504040204" pitchFamily="34" charset="0"/>
              </a:rPr>
              <a:t> intelligence</a:t>
            </a:r>
            <a:r>
              <a:rPr lang="it-IT" dirty="0">
                <a:latin typeface="Tahoma" panose="020B0604030504040204" pitchFamily="34" charset="0"/>
                <a:ea typeface="Tahoma" panose="020B0604030504040204" pitchFamily="34" charset="0"/>
                <a:cs typeface="Tahoma" panose="020B0604030504040204" pitchFamily="34" charset="0"/>
              </a:rPr>
              <a:t> in general and </a:t>
            </a:r>
            <a:r>
              <a:rPr lang="it-IT" dirty="0" err="1">
                <a:latin typeface="Tahoma" panose="020B0604030504040204" pitchFamily="34" charset="0"/>
                <a:ea typeface="Tahoma" panose="020B0604030504040204" pitchFamily="34" charset="0"/>
                <a:cs typeface="Tahoma" panose="020B0604030504040204" pitchFamily="34" charset="0"/>
              </a:rPr>
              <a:t>specifically</a:t>
            </a:r>
            <a:r>
              <a:rPr lang="it-IT" dirty="0">
                <a:latin typeface="Tahoma" panose="020B0604030504040204" pitchFamily="34" charset="0"/>
                <a:ea typeface="Tahoma" panose="020B0604030504040204" pitchFamily="34" charset="0"/>
                <a:cs typeface="Tahoma" panose="020B0604030504040204" pitchFamily="34" charset="0"/>
              </a:rPr>
              <a:t> </a:t>
            </a:r>
            <a:r>
              <a:rPr lang="it-IT" b="1" dirty="0">
                <a:latin typeface="Tahoma" panose="020B0604030504040204" pitchFamily="34" charset="0"/>
                <a:ea typeface="Tahoma" panose="020B0604030504040204" pitchFamily="34" charset="0"/>
                <a:cs typeface="Tahoma" panose="020B0604030504040204" pitchFamily="34" charset="0"/>
              </a:rPr>
              <a:t>Natural Language Processing (NLP)</a:t>
            </a:r>
            <a:r>
              <a:rPr lang="it-IT" dirty="0">
                <a:latin typeface="Tahoma" panose="020B0604030504040204" pitchFamily="34" charset="0"/>
                <a:ea typeface="Tahoma" panose="020B0604030504040204" pitchFamily="34" charset="0"/>
                <a:cs typeface="Tahoma" panose="020B0604030504040204" pitchFamily="34" charset="0"/>
              </a:rPr>
              <a:t> for </a:t>
            </a:r>
            <a:r>
              <a:rPr lang="it-IT" b="1" dirty="0" err="1">
                <a:latin typeface="Tahoma" panose="020B0604030504040204" pitchFamily="34" charset="0"/>
                <a:ea typeface="Tahoma" panose="020B0604030504040204" pitchFamily="34" charset="0"/>
                <a:cs typeface="Tahoma" panose="020B0604030504040204" pitchFamily="34" charset="0"/>
              </a:rPr>
              <a:t>Industry</a:t>
            </a:r>
            <a:r>
              <a:rPr lang="it-IT" b="1" dirty="0">
                <a:latin typeface="Tahoma" panose="020B0604030504040204" pitchFamily="34" charset="0"/>
                <a:ea typeface="Tahoma" panose="020B0604030504040204" pitchFamily="34" charset="0"/>
                <a:cs typeface="Tahoma" panose="020B0604030504040204" pitchFamily="34" charset="0"/>
              </a:rPr>
              <a:t> 4.0 (I4.0)</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has</a:t>
            </a:r>
            <a:r>
              <a:rPr lang="it-IT" dirty="0">
                <a:latin typeface="Tahoma" panose="020B0604030504040204" pitchFamily="34" charset="0"/>
                <a:ea typeface="Tahoma" panose="020B0604030504040204" pitchFamily="34" charset="0"/>
                <a:cs typeface="Tahoma" panose="020B0604030504040204" pitchFamily="34" charset="0"/>
              </a:rPr>
              <a:t> </a:t>
            </a:r>
            <a:r>
              <a:rPr lang="it-IT" dirty="0" err="1">
                <a:latin typeface="Tahoma" panose="020B0604030504040204" pitchFamily="34" charset="0"/>
                <a:ea typeface="Tahoma" panose="020B0604030504040204" pitchFamily="34" charset="0"/>
                <a:cs typeface="Tahoma" panose="020B0604030504040204" pitchFamily="34" charset="0"/>
              </a:rPr>
              <a:t>gone</a:t>
            </a:r>
            <a:r>
              <a:rPr lang="it-IT" dirty="0">
                <a:latin typeface="Tahoma" panose="020B0604030504040204" pitchFamily="34" charset="0"/>
                <a:ea typeface="Tahoma" panose="020B0604030504040204" pitchFamily="34" charset="0"/>
                <a:cs typeface="Tahoma" panose="020B0604030504040204" pitchFamily="34" charset="0"/>
              </a:rPr>
              <a:t> far </a:t>
            </a:r>
            <a:r>
              <a:rPr lang="it-IT" dirty="0" err="1">
                <a:latin typeface="Tahoma" panose="020B0604030504040204" pitchFamily="34" charset="0"/>
                <a:ea typeface="Tahoma" panose="020B0604030504040204" pitchFamily="34" charset="0"/>
                <a:cs typeface="Tahoma" panose="020B0604030504040204" pitchFamily="34" charset="0"/>
              </a:rPr>
              <a:t>beyond</a:t>
            </a:r>
            <a:r>
              <a:rPr lang="it-IT" dirty="0">
                <a:latin typeface="Tahoma" panose="020B0604030504040204" pitchFamily="34" charset="0"/>
                <a:ea typeface="Tahoma" panose="020B0604030504040204" pitchFamily="34" charset="0"/>
                <a:cs typeface="Tahoma" panose="020B0604030504040204" pitchFamily="34" charset="0"/>
              </a:rPr>
              <a:t> the software </a:t>
            </a:r>
            <a:r>
              <a:rPr lang="it-IT" dirty="0" err="1">
                <a:latin typeface="Tahoma" panose="020B0604030504040204" pitchFamily="34" charset="0"/>
                <a:ea typeface="Tahoma" panose="020B0604030504040204" pitchFamily="34" charset="0"/>
                <a:cs typeface="Tahoma" panose="020B0604030504040204" pitchFamily="34" charset="0"/>
              </a:rPr>
              <a:t>practices</a:t>
            </a:r>
            <a:r>
              <a:rPr lang="it-IT" dirty="0">
                <a:latin typeface="Tahoma" panose="020B0604030504040204" pitchFamily="34" charset="0"/>
                <a:ea typeface="Tahoma" panose="020B0604030504040204" pitchFamily="34" charset="0"/>
                <a:cs typeface="Tahoma" panose="020B0604030504040204" pitchFamily="34" charset="0"/>
              </a:rPr>
              <a:t> of the </a:t>
            </a:r>
            <a:r>
              <a:rPr lang="it-IT" dirty="0" err="1">
                <a:latin typeface="Tahoma" panose="020B0604030504040204" pitchFamily="34" charset="0"/>
                <a:ea typeface="Tahoma" panose="020B0604030504040204" pitchFamily="34" charset="0"/>
                <a:cs typeface="Tahoma" panose="020B0604030504040204" pitchFamily="34" charset="0"/>
              </a:rPr>
              <a:t>past</a:t>
            </a:r>
            <a:r>
              <a:rPr lang="it-IT" dirty="0">
                <a:latin typeface="Tahoma" panose="020B0604030504040204" pitchFamily="34" charset="0"/>
                <a:ea typeface="Tahoma" panose="020B0604030504040204" pitchFamily="34" charset="0"/>
                <a:cs typeface="Tahoma" panose="020B0604030504040204" pitchFamily="34" charset="0"/>
              </a:rPr>
              <a:t>.</a:t>
            </a:r>
          </a:p>
        </p:txBody>
      </p:sp>
      <p:pic>
        <p:nvPicPr>
          <p:cNvPr id="10" name="Immagin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28651" y="1127048"/>
            <a:ext cx="4937778" cy="2616816"/>
          </a:xfrm>
          <a:prstGeom prst="rect">
            <a:avLst/>
          </a:prstGeom>
        </p:spPr>
      </p:pic>
      <p:sp>
        <p:nvSpPr>
          <p:cNvPr id="11" name="Rettangolo 10"/>
          <p:cNvSpPr/>
          <p:nvPr/>
        </p:nvSpPr>
        <p:spPr>
          <a:xfrm>
            <a:off x="6702426" y="3887977"/>
            <a:ext cx="5190227" cy="2585323"/>
          </a:xfrm>
          <a:prstGeom prst="rect">
            <a:avLst/>
          </a:prstGeom>
        </p:spPr>
        <p:txBody>
          <a:bodyPr wrap="square">
            <a:spAutoFit/>
          </a:bodyPr>
          <a:lstStyle/>
          <a:p>
            <a:pPr marL="285750" indent="-285750">
              <a:buFont typeface="Wingdings" panose="05000000000000000000" pitchFamily="2" charset="2"/>
              <a:buChar char="ü"/>
            </a:pPr>
            <a:r>
              <a:rPr lang="it-IT" dirty="0"/>
              <a:t>An </a:t>
            </a:r>
            <a:r>
              <a:rPr lang="it-IT" b="1" dirty="0" err="1"/>
              <a:t>Industry</a:t>
            </a:r>
            <a:r>
              <a:rPr lang="it-IT" b="1" dirty="0"/>
              <a:t> 4.0 </a:t>
            </a:r>
            <a:r>
              <a:rPr lang="it-IT" dirty="0"/>
              <a:t>Project Manager </a:t>
            </a:r>
            <a:r>
              <a:rPr lang="it-IT" dirty="0" err="1"/>
              <a:t>may</a:t>
            </a:r>
            <a:r>
              <a:rPr lang="it-IT" dirty="0"/>
              <a:t> go to </a:t>
            </a:r>
            <a:r>
              <a:rPr lang="it-IT" dirty="0" err="1"/>
              <a:t>OpenAI’s</a:t>
            </a:r>
            <a:r>
              <a:rPr lang="it-IT" dirty="0"/>
              <a:t> </a:t>
            </a:r>
            <a:r>
              <a:rPr lang="it-IT" dirty="0" err="1"/>
              <a:t>cloud</a:t>
            </a:r>
            <a:r>
              <a:rPr lang="it-IT" dirty="0"/>
              <a:t> </a:t>
            </a:r>
            <a:r>
              <a:rPr lang="it-IT" dirty="0" err="1"/>
              <a:t>platform</a:t>
            </a:r>
            <a:r>
              <a:rPr lang="it-IT" dirty="0"/>
              <a:t>, </a:t>
            </a:r>
            <a:r>
              <a:rPr lang="it-IT" dirty="0" err="1"/>
              <a:t>sign</a:t>
            </a:r>
            <a:r>
              <a:rPr lang="it-IT" dirty="0"/>
              <a:t> up, </a:t>
            </a:r>
            <a:r>
              <a:rPr lang="it-IT" dirty="0" err="1"/>
              <a:t>obtain</a:t>
            </a:r>
            <a:r>
              <a:rPr lang="it-IT" dirty="0"/>
              <a:t> an </a:t>
            </a:r>
            <a:r>
              <a:rPr lang="it-IT" b="1" dirty="0"/>
              <a:t>API </a:t>
            </a:r>
            <a:r>
              <a:rPr lang="it-IT" b="1" dirty="0" err="1"/>
              <a:t>key</a:t>
            </a:r>
            <a:r>
              <a:rPr lang="it-IT" dirty="0"/>
              <a:t>, and </a:t>
            </a:r>
            <a:r>
              <a:rPr lang="it-IT" dirty="0" err="1"/>
              <a:t>get</a:t>
            </a:r>
            <a:r>
              <a:rPr lang="it-IT" dirty="0"/>
              <a:t> to work in a </a:t>
            </a:r>
            <a:r>
              <a:rPr lang="it-IT" dirty="0" err="1"/>
              <a:t>few</a:t>
            </a:r>
            <a:r>
              <a:rPr lang="it-IT" dirty="0"/>
              <a:t> minutes. On the </a:t>
            </a:r>
            <a:r>
              <a:rPr lang="it-IT" dirty="0" err="1"/>
              <a:t>other</a:t>
            </a:r>
            <a:r>
              <a:rPr lang="it-IT" dirty="0"/>
              <a:t> side, a </a:t>
            </a:r>
            <a:r>
              <a:rPr lang="it-IT" dirty="0" err="1"/>
              <a:t>user</a:t>
            </a:r>
            <a:r>
              <a:rPr lang="it-IT" dirty="0"/>
              <a:t> can </a:t>
            </a:r>
            <a:r>
              <a:rPr lang="en-US" dirty="0"/>
              <a:t>enter a text, specify the NLP task, and obtain a response sent by a GPT-3 transformer. </a:t>
            </a:r>
          </a:p>
          <a:p>
            <a:endParaRPr lang="en-US" dirty="0"/>
          </a:p>
          <a:p>
            <a:pPr marL="285750" indent="-285750">
              <a:buFont typeface="Wingdings" panose="05000000000000000000" pitchFamily="2" charset="2"/>
              <a:buChar char="ü"/>
            </a:pPr>
            <a:r>
              <a:rPr lang="en-US" dirty="0"/>
              <a:t>Finally, a user can go to </a:t>
            </a:r>
            <a:r>
              <a:rPr lang="en-US" b="1" dirty="0"/>
              <a:t>GPT-3 Codex</a:t>
            </a:r>
            <a:r>
              <a:rPr lang="en-US" dirty="0"/>
              <a:t> and develop programs without any  coding knowledge.</a:t>
            </a:r>
          </a:p>
        </p:txBody>
      </p:sp>
    </p:spTree>
    <p:extLst>
      <p:ext uri="{BB962C8B-B14F-4D97-AF65-F5344CB8AC3E}">
        <p14:creationId xmlns:p14="http://schemas.microsoft.com/office/powerpoint/2010/main" val="42148063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9C634-5B2F-EB57-6082-5DC720B813A1}"/>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4A6D192E-D33F-A0D5-D38F-C60012962D91}"/>
              </a:ext>
            </a:extLst>
          </p:cNvPr>
          <p:cNvSpPr>
            <a:spLocks noGrp="1"/>
          </p:cNvSpPr>
          <p:nvPr>
            <p:ph type="sldNum" sz="quarter" idx="11"/>
          </p:nvPr>
        </p:nvSpPr>
        <p:spPr/>
        <p:txBody>
          <a:bodyPr/>
          <a:lstStyle/>
          <a:p>
            <a:pPr>
              <a:defRPr/>
            </a:pPr>
            <a:fld id="{48B4153A-D4C5-4CEF-8992-0D8815C829E3}" type="slidenum">
              <a:rPr lang="en-US" smtClean="0"/>
              <a:pPr>
                <a:defRPr/>
              </a:pPr>
              <a:t>39</a:t>
            </a:fld>
            <a:endParaRPr lang="en-US" dirty="0"/>
          </a:p>
        </p:txBody>
      </p:sp>
      <p:sp>
        <p:nvSpPr>
          <p:cNvPr id="28" name="Titolo 2">
            <a:extLst>
              <a:ext uri="{FF2B5EF4-FFF2-40B4-BE49-F238E27FC236}">
                <a16:creationId xmlns:a16="http://schemas.microsoft.com/office/drawing/2014/main" id="{F35675A1-3ADB-3EC0-A6D4-2D22CE6CB45C}"/>
              </a:ext>
            </a:extLst>
          </p:cNvPr>
          <p:cNvSpPr>
            <a:spLocks noGrp="1"/>
          </p:cNvSpPr>
          <p:nvPr>
            <p:ph type="title"/>
          </p:nvPr>
        </p:nvSpPr>
        <p:spPr>
          <a:xfrm>
            <a:off x="603325" y="348971"/>
            <a:ext cx="11269308" cy="3462486"/>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b" anchorCtr="0" compatLnSpc="1">
            <a:prstTxWarp prst="textNoShape">
              <a:avLst/>
            </a:prstTxWarp>
            <a:spAutoFit/>
          </a:bodyPr>
          <a:lstStyle/>
          <a:p>
            <a:r>
              <a:rPr lang="en-GB">
                <a:latin typeface="Tahoma" panose="020B0604030504040204" pitchFamily="34" charset="0"/>
                <a:ea typeface="Tahoma" panose="020B0604030504040204" pitchFamily="34" charset="0"/>
                <a:cs typeface="Tahoma" panose="020B0604030504040204" pitchFamily="34" charset="0"/>
              </a:rPr>
              <a:t>AI 2.0 and Industry 4.0</a:t>
            </a: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GB">
                <a:latin typeface="Tahoma" panose="020B0604030504040204" pitchFamily="34" charset="0"/>
                <a:ea typeface="Tahoma" panose="020B0604030504040204" pitchFamily="34" charset="0"/>
                <a:cs typeface="Tahoma" panose="020B0604030504040204" pitchFamily="34" charset="0"/>
              </a:rPr>
            </a:br>
            <a:br>
              <a:rPr lang="en-US">
                <a:solidFill>
                  <a:srgbClr val="464646"/>
                </a:solidFill>
              </a:rPr>
            </a:br>
            <a:br>
              <a:rPr lang="en-US"/>
            </a:br>
            <a:r>
              <a:rPr lang="en-US">
                <a:solidFill>
                  <a:srgbClr val="464646"/>
                </a:solidFill>
              </a:rPr>
              <a:t> </a:t>
            </a:r>
            <a:br>
              <a:rPr lang="en-US">
                <a:solidFill>
                  <a:srgbClr val="464646"/>
                </a:solidFill>
              </a:rPr>
            </a:br>
            <a:r>
              <a:rPr lang="it-IT">
                <a:solidFill>
                  <a:srgbClr val="464646"/>
                </a:solidFill>
              </a:rPr>
              <a:t> </a:t>
            </a:r>
            <a:br>
              <a:rPr lang="it-IT">
                <a:solidFill>
                  <a:srgbClr val="464646"/>
                </a:solidFill>
              </a:rPr>
            </a:br>
            <a:endParaRPr lang="it-IT" dirty="0"/>
          </a:p>
        </p:txBody>
      </p:sp>
      <p:sp>
        <p:nvSpPr>
          <p:cNvPr id="8" name="TextBox 2">
            <a:extLst>
              <a:ext uri="{FF2B5EF4-FFF2-40B4-BE49-F238E27FC236}">
                <a16:creationId xmlns:a16="http://schemas.microsoft.com/office/drawing/2014/main" id="{0380D1DD-8D7B-9E4C-A72A-083E008477B6}"/>
              </a:ext>
            </a:extLst>
          </p:cNvPr>
          <p:cNvSpPr txBox="1"/>
          <p:nvPr/>
        </p:nvSpPr>
        <p:spPr>
          <a:xfrm>
            <a:off x="458961" y="1246979"/>
            <a:ext cx="9333625" cy="3693319"/>
          </a:xfrm>
          <a:prstGeom prst="rect">
            <a:avLst/>
          </a:prstGeom>
          <a:noFill/>
        </p:spPr>
        <p:txBody>
          <a:bodyPr wrap="square" rtlCol="0">
            <a:spAutoFit/>
          </a:bodyPr>
          <a:lstStyle/>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A GPT-3 model might not fit a specific task. For example, a project manager, consultant, or developer might want to use another system provided by Google AI, Amazon Web Services (AWS), the Allen Institute for AI, or Hugging Face.</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Should a Project Manager choose to work locally? Or should the implementation be done directly on Google Cloud, Microsoft Azure, or AWS? Yes</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Should a development team select Hugging Face, Google </a:t>
            </a:r>
            <a:r>
              <a:rPr lang="en-US" dirty="0" err="1">
                <a:latin typeface="Tahoma" panose="020B0604030504040204" pitchFamily="34" charset="0"/>
                <a:ea typeface="Tahoma" panose="020B0604030504040204" pitchFamily="34" charset="0"/>
                <a:cs typeface="Tahoma" panose="020B0604030504040204" pitchFamily="34" charset="0"/>
              </a:rPr>
              <a:t>Trax</a:t>
            </a:r>
            <a:r>
              <a:rPr lang="en-US" dirty="0">
                <a:latin typeface="Tahoma" panose="020B0604030504040204" pitchFamily="34" charset="0"/>
                <a:ea typeface="Tahoma" panose="020B0604030504040204" pitchFamily="34" charset="0"/>
                <a:cs typeface="Tahoma" panose="020B0604030504040204" pitchFamily="34" charset="0"/>
              </a:rPr>
              <a:t>, </a:t>
            </a:r>
            <a:r>
              <a:rPr lang="en-US" dirty="0" err="1">
                <a:latin typeface="Tahoma" panose="020B0604030504040204" pitchFamily="34" charset="0"/>
                <a:ea typeface="Tahoma" panose="020B0604030504040204" pitchFamily="34" charset="0"/>
                <a:cs typeface="Tahoma" panose="020B0604030504040204" pitchFamily="34" charset="0"/>
              </a:rPr>
              <a:t>OpenAI</a:t>
            </a:r>
            <a:r>
              <a:rPr lang="en-US" dirty="0">
                <a:latin typeface="Tahoma" panose="020B0604030504040204" pitchFamily="34" charset="0"/>
                <a:ea typeface="Tahoma" panose="020B0604030504040204" pitchFamily="34" charset="0"/>
                <a:cs typeface="Tahoma" panose="020B0604030504040204" pitchFamily="34" charset="0"/>
              </a:rPr>
              <a:t>, or </a:t>
            </a:r>
            <a:r>
              <a:rPr lang="en-US" dirty="0" err="1">
                <a:latin typeface="Tahoma" panose="020B0604030504040204" pitchFamily="34" charset="0"/>
                <a:ea typeface="Tahoma" panose="020B0604030504040204" pitchFamily="34" charset="0"/>
                <a:cs typeface="Tahoma" panose="020B0604030504040204" pitchFamily="34" charset="0"/>
              </a:rPr>
              <a:t>AllenNLP</a:t>
            </a:r>
            <a:r>
              <a:rPr lang="en-US" dirty="0">
                <a:latin typeface="Tahoma" panose="020B0604030504040204" pitchFamily="34" charset="0"/>
                <a:ea typeface="Tahoma" panose="020B0604030504040204" pitchFamily="34" charset="0"/>
                <a:cs typeface="Tahoma" panose="020B0604030504040204" pitchFamily="34" charset="0"/>
              </a:rPr>
              <a:t>? Yes</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a:p>
            <a:pPr marL="285750" indent="-285750">
              <a:buFont typeface="Wingdings" panose="05000000000000000000" pitchFamily="2" charset="2"/>
              <a:buChar char="ü"/>
            </a:pPr>
            <a:r>
              <a:rPr lang="en-US" dirty="0">
                <a:latin typeface="Tahoma" panose="020B0604030504040204" pitchFamily="34" charset="0"/>
                <a:ea typeface="Tahoma" panose="020B0604030504040204" pitchFamily="34" charset="0"/>
                <a:cs typeface="Tahoma" panose="020B0604030504040204" pitchFamily="34" charset="0"/>
              </a:rPr>
              <a:t>Should an </a:t>
            </a:r>
            <a:r>
              <a:rPr lang="en-US" b="1" dirty="0">
                <a:latin typeface="Tahoma" panose="020B0604030504040204" pitchFamily="34" charset="0"/>
                <a:ea typeface="Tahoma" panose="020B0604030504040204" pitchFamily="34" charset="0"/>
                <a:cs typeface="Tahoma" panose="020B0604030504040204" pitchFamily="34" charset="0"/>
              </a:rPr>
              <a:t>Artificial</a:t>
            </a:r>
            <a:r>
              <a:rPr lang="en-US"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Intelligence</a:t>
            </a:r>
            <a:r>
              <a:rPr lang="en-US" dirty="0">
                <a:latin typeface="Tahoma" panose="020B0604030504040204" pitchFamily="34" charset="0"/>
                <a:ea typeface="Tahoma" panose="020B0604030504040204" pitchFamily="34" charset="0"/>
                <a:cs typeface="Tahoma" panose="020B0604030504040204" pitchFamily="34" charset="0"/>
              </a:rPr>
              <a:t> specialist or a </a:t>
            </a:r>
            <a:r>
              <a:rPr lang="en-US" b="1" dirty="0">
                <a:latin typeface="Tahoma" panose="020B0604030504040204" pitchFamily="34" charset="0"/>
                <a:ea typeface="Tahoma" panose="020B0604030504040204" pitchFamily="34" charset="0"/>
                <a:cs typeface="Tahoma" panose="020B0604030504040204" pitchFamily="34" charset="0"/>
              </a:rPr>
              <a:t>Data</a:t>
            </a:r>
            <a:r>
              <a:rPr lang="en-US" dirty="0">
                <a:latin typeface="Tahoma" panose="020B0604030504040204" pitchFamily="34" charset="0"/>
                <a:ea typeface="Tahoma" panose="020B0604030504040204" pitchFamily="34" charset="0"/>
                <a:cs typeface="Tahoma" panose="020B0604030504040204" pitchFamily="34" charset="0"/>
              </a:rPr>
              <a:t> </a:t>
            </a:r>
            <a:r>
              <a:rPr lang="en-US" b="1" dirty="0">
                <a:latin typeface="Tahoma" panose="020B0604030504040204" pitchFamily="34" charset="0"/>
                <a:ea typeface="Tahoma" panose="020B0604030504040204" pitchFamily="34" charset="0"/>
                <a:cs typeface="Tahoma" panose="020B0604030504040204" pitchFamily="34" charset="0"/>
              </a:rPr>
              <a:t>Scientist</a:t>
            </a:r>
            <a:r>
              <a:rPr lang="en-US" dirty="0">
                <a:latin typeface="Tahoma" panose="020B0604030504040204" pitchFamily="34" charset="0"/>
                <a:ea typeface="Tahoma" panose="020B0604030504040204" pitchFamily="34" charset="0"/>
                <a:cs typeface="Tahoma" panose="020B0604030504040204" pitchFamily="34" charset="0"/>
              </a:rPr>
              <a:t> use an API with practically no AI development? Yes</a:t>
            </a:r>
          </a:p>
          <a:p>
            <a:pPr marL="285750" indent="-285750">
              <a:buFont typeface="Wingdings" panose="05000000000000000000" pitchFamily="2" charset="2"/>
              <a:buChar char="ü"/>
            </a:pPr>
            <a:endParaRPr lang="en-US" dirty="0">
              <a:latin typeface="Tahoma" panose="020B0604030504040204" pitchFamily="34" charset="0"/>
              <a:ea typeface="Tahoma" panose="020B0604030504040204" pitchFamily="34" charset="0"/>
              <a:cs typeface="Tahoma" panose="020B0604030504040204" pitchFamily="34" charset="0"/>
            </a:endParaRPr>
          </a:p>
        </p:txBody>
      </p:sp>
      <p:pic>
        <p:nvPicPr>
          <p:cNvPr id="9" name="Immagin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035" y="4940298"/>
            <a:ext cx="2296582" cy="1456927"/>
          </a:xfrm>
          <a:prstGeom prst="rect">
            <a:avLst/>
          </a:prstGeom>
        </p:spPr>
      </p:pic>
      <p:pic>
        <p:nvPicPr>
          <p:cNvPr id="12" name="Immagin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27617" y="4959877"/>
            <a:ext cx="2952750" cy="1552575"/>
          </a:xfrm>
          <a:prstGeom prst="rect">
            <a:avLst/>
          </a:prstGeom>
        </p:spPr>
      </p:pic>
      <p:pic>
        <p:nvPicPr>
          <p:cNvPr id="13" name="Immagin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39031" y="4959348"/>
            <a:ext cx="2762250" cy="1657350"/>
          </a:xfrm>
          <a:prstGeom prst="rect">
            <a:avLst/>
          </a:prstGeom>
        </p:spPr>
      </p:pic>
      <p:pic>
        <p:nvPicPr>
          <p:cNvPr id="14" name="Immagine 1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37405" y="3506319"/>
            <a:ext cx="2405164" cy="1386516"/>
          </a:xfrm>
          <a:prstGeom prst="rect">
            <a:avLst/>
          </a:prstGeom>
        </p:spPr>
      </p:pic>
      <p:pic>
        <p:nvPicPr>
          <p:cNvPr id="15" name="Immagine 1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37405" y="1430349"/>
            <a:ext cx="2335228" cy="1829642"/>
          </a:xfrm>
          <a:prstGeom prst="rect">
            <a:avLst/>
          </a:prstGeom>
        </p:spPr>
      </p:pic>
    </p:spTree>
    <p:extLst>
      <p:ext uri="{BB962C8B-B14F-4D97-AF65-F5344CB8AC3E}">
        <p14:creationId xmlns:p14="http://schemas.microsoft.com/office/powerpoint/2010/main" val="22167105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40</a:t>
            </a:fld>
            <a:endParaRPr lang="en-US" dirty="0"/>
          </a:p>
        </p:txBody>
      </p:sp>
      <p:sp>
        <p:nvSpPr>
          <p:cNvPr id="8"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1: AI for </a:t>
            </a:r>
            <a:r>
              <a:rPr lang="it-IT" dirty="0" err="1"/>
              <a:t>Lung</a:t>
            </a:r>
            <a:r>
              <a:rPr lang="it-IT" dirty="0"/>
              <a:t> Cancer </a:t>
            </a:r>
            <a:r>
              <a:rPr lang="it-IT" dirty="0" err="1"/>
              <a:t>Detection</a:t>
            </a:r>
            <a:endParaRPr lang="it-IT" dirty="0"/>
          </a:p>
        </p:txBody>
      </p:sp>
      <p:sp>
        <p:nvSpPr>
          <p:cNvPr id="13" name="Titolo">
            <a:extLst>
              <a:ext uri="{FF2B5EF4-FFF2-40B4-BE49-F238E27FC236}">
                <a16:creationId xmlns:a16="http://schemas.microsoft.com/office/drawing/2014/main" id="{8995E1F3-C3EF-4C3A-9A86-913AD2AA73E2}"/>
              </a:ext>
            </a:extLst>
          </p:cNvPr>
          <p:cNvSpPr txBox="1"/>
          <p:nvPr/>
        </p:nvSpPr>
        <p:spPr>
          <a:xfrm>
            <a:off x="494191" y="1842403"/>
            <a:ext cx="3785394" cy="564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4" name="Sottotitolo">
            <a:extLst>
              <a:ext uri="{FF2B5EF4-FFF2-40B4-BE49-F238E27FC236}">
                <a16:creationId xmlns:a16="http://schemas.microsoft.com/office/drawing/2014/main" id="{8FEA79DB-684E-4C35-A371-51B73C035614}"/>
              </a:ext>
            </a:extLst>
          </p:cNvPr>
          <p:cNvSpPr txBox="1"/>
          <p:nvPr/>
        </p:nvSpPr>
        <p:spPr>
          <a:xfrm>
            <a:off x="494191" y="2829840"/>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pic>
        <p:nvPicPr>
          <p:cNvPr id="16" name="Picture 2">
            <a:extLst>
              <a:ext uri="{FF2B5EF4-FFF2-40B4-BE49-F238E27FC236}">
                <a16:creationId xmlns:a16="http://schemas.microsoft.com/office/drawing/2014/main" id="{025AFDE7-E7D1-4A29-B522-9E2D9F57C5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870" y="2406979"/>
            <a:ext cx="3436036" cy="32836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Shape 115">
            <a:extLst>
              <a:ext uri="{FF2B5EF4-FFF2-40B4-BE49-F238E27FC236}">
                <a16:creationId xmlns:a16="http://schemas.microsoft.com/office/drawing/2014/main" id="{B62632F8-C039-456F-84CB-8558B9CE50D4}"/>
              </a:ext>
            </a:extLst>
          </p:cNvPr>
          <p:cNvSpPr/>
          <p:nvPr/>
        </p:nvSpPr>
        <p:spPr>
          <a:xfrm>
            <a:off x="4618058" y="1403452"/>
            <a:ext cx="7120145" cy="4708981"/>
          </a:xfrm>
          <a:prstGeom prst="rect">
            <a:avLst/>
          </a:prstGeom>
          <a:extLst>
            <a:ext uri="{C572A759-6A51-4108-AA02-DFA0A04FC94B}">
              <ma14:wrappingTextBoxFlag xmlns="" xmlns:ma14="http://schemas.microsoft.com/office/mac/drawingml/2011/main" val="1"/>
            </a:ext>
          </a:extLst>
        </p:spPr>
        <p:txBody>
          <a:bodyPr wrap="square">
            <a:spAutoFit/>
          </a:bodyPr>
          <a:lstStyle/>
          <a:p>
            <a:pPr marL="285750" indent="-285750" algn="just">
              <a:spcBef>
                <a:spcPts val="400"/>
              </a:spcBef>
              <a:buFont typeface="Arial" panose="020B0604020202020204" pitchFamily="34" charset="0"/>
              <a:buChar char="•"/>
            </a:pPr>
            <a:r>
              <a:rPr lang="en-GB" sz="2000" b="1"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Kaggle</a:t>
            </a:r>
            <a:r>
              <a:rPr lang="en-GB"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In</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2010, </a:t>
            </a:r>
            <a:r>
              <a:rPr lang="en-US" sz="2000" dirty="0" err="1">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Kaggle</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was founded as a platform for predictive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modeling</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and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analytics competitions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on which companies and researchers post their data. </a:t>
            </a:r>
          </a:p>
          <a:p>
            <a:pPr marL="285750" indent="-285750" algn="just">
              <a:spcBef>
                <a:spcPts val="400"/>
              </a:spcBef>
              <a:buFont typeface="Arial" panose="020B0604020202020204" pitchFamily="34" charset="0"/>
              <a:buChar char="•"/>
            </a:pP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Statisticians and data scientists from all over the world compete to produce the best models.</a:t>
            </a:r>
          </a:p>
          <a:p>
            <a:pPr marL="285750" lvl="6" indent="-285750" algn="just">
              <a:spcBef>
                <a:spcPts val="400"/>
              </a:spcBef>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Data Science Bowl 2017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was the biggest competition focused on “Lung Cancer Detection”. The competition was founded by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Arnold Foundation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and awarded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 million in prizes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1st</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ranked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$500,000</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a:t>
            </a:r>
          </a:p>
          <a:p>
            <a:pPr marL="285750" indent="-285750" algn="just">
              <a:spcBef>
                <a:spcPts val="400"/>
              </a:spcBef>
              <a:buFont typeface="Arial" panose="020B0604020202020204" pitchFamily="34" charset="0"/>
              <a:buChar char="•"/>
            </a:pP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a:p>
            <a:pPr marL="285750" indent="-285750" algn="just">
              <a:spcBef>
                <a:spcPts val="400"/>
              </a:spcBef>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Train Set: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around 150 CT labelled scans images per patient from 1200 patients encoded in </a:t>
            </a: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DICOM</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 format.  </a:t>
            </a:r>
          </a:p>
          <a:p>
            <a:pPr marL="285750" indent="-285750" algn="just">
              <a:spcBef>
                <a:spcPts val="400"/>
              </a:spcBef>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Stage 1 test set: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190 patients CT scans.  </a:t>
            </a:r>
          </a:p>
          <a:p>
            <a:pPr marL="285750" indent="-285750" algn="just">
              <a:spcBef>
                <a:spcPts val="400"/>
              </a:spcBef>
              <a:buFont typeface="Arial" panose="020B0604020202020204" pitchFamily="34" charset="0"/>
              <a:buChar char="•"/>
            </a:pPr>
            <a:r>
              <a:rPr lang="en-US" sz="2000" b="1"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Stage 2 test : </a:t>
            </a:r>
            <a:r>
              <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500 patients CT scans</a:t>
            </a:r>
            <a:r>
              <a:rPr lang="it-IT"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rPr>
              <a:t>.</a:t>
            </a:r>
            <a:endParaRPr lang="en-US" sz="2000" dirty="0">
              <a:solidFill>
                <a:srgbClr val="000000"/>
              </a:solidFill>
              <a:uFill>
                <a:solidFill>
                  <a:srgbClr val="000000"/>
                </a:solidFill>
              </a:uFill>
              <a:latin typeface="Times New Roman" panose="02020603050405020304" pitchFamily="18" charset="0"/>
              <a:ea typeface="Tahoma" panose="020B0604030504040204" pitchFamily="34" charset="0"/>
              <a:cs typeface="Times New Roman" panose="02020603050405020304" pitchFamily="18" charset="0"/>
            </a:endParaRPr>
          </a:p>
        </p:txBody>
      </p:sp>
      <p:sp>
        <p:nvSpPr>
          <p:cNvPr id="18" name="Shape 102">
            <a:extLst>
              <a:ext uri="{FF2B5EF4-FFF2-40B4-BE49-F238E27FC236}">
                <a16:creationId xmlns:a16="http://schemas.microsoft.com/office/drawing/2014/main" id="{15A920D8-5CEC-43F5-BB8F-2A72D98481D7}"/>
              </a:ext>
            </a:extLst>
          </p:cNvPr>
          <p:cNvSpPr/>
          <p:nvPr/>
        </p:nvSpPr>
        <p:spPr>
          <a:xfrm>
            <a:off x="581340" y="1983922"/>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sz="900" dirty="0"/>
          </a:p>
        </p:txBody>
      </p:sp>
      <p:sp>
        <p:nvSpPr>
          <p:cNvPr id="19" name="Shape 53">
            <a:extLst>
              <a:ext uri="{FF2B5EF4-FFF2-40B4-BE49-F238E27FC236}">
                <a16:creationId xmlns:a16="http://schemas.microsoft.com/office/drawing/2014/main" id="{B76A1E22-ECB1-49DA-969A-FA5A7343E3D5}"/>
              </a:ext>
            </a:extLst>
          </p:cNvPr>
          <p:cNvSpPr txBox="1">
            <a:spLocks/>
          </p:cNvSpPr>
          <p:nvPr/>
        </p:nvSpPr>
        <p:spPr>
          <a:xfrm>
            <a:off x="181746" y="1425707"/>
            <a:ext cx="4267076" cy="461665"/>
          </a:xfrm>
          <a:prstGeom prst="rect">
            <a:avLst/>
          </a:prstGeom>
          <a:noFill/>
          <a:extLst>
            <a:ext uri="{C572A759-6A51-4108-AA02-DFA0A04FC94B}">
              <ma14:wrappingTextBoxFlag xmlns:ma14="http://schemas.microsoft.com/office/mac/drawingml/2011/main" xmlns="" val="1"/>
            </a:ext>
          </a:extLst>
        </p:spPr>
        <p:txBody>
          <a:bodyPr wrap="square" rtlCol="0">
            <a:spAutoFit/>
          </a:bodyPr>
          <a:lstStyle>
            <a:defPPr>
              <a:defRPr lang="it-IT"/>
            </a:defPPr>
            <a:lvl1pPr algn="ctr">
              <a:defRPr sz="2400" b="1">
                <a:solidFill>
                  <a:srgbClr val="7F142A"/>
                </a:solidFill>
              </a:defRPr>
            </a:lvl1pPr>
          </a:lstStyle>
          <a:p>
            <a:r>
              <a:rPr lang="it-IT" dirty="0" err="1"/>
              <a:t>Lung</a:t>
            </a:r>
            <a:r>
              <a:rPr lang="it-IT" dirty="0"/>
              <a:t> Cancer Dataset</a:t>
            </a:r>
          </a:p>
        </p:txBody>
      </p:sp>
    </p:spTree>
    <p:extLst>
      <p:ext uri="{BB962C8B-B14F-4D97-AF65-F5344CB8AC3E}">
        <p14:creationId xmlns:p14="http://schemas.microsoft.com/office/powerpoint/2010/main" val="16109404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41</a:t>
            </a:fld>
            <a:endParaRPr lang="en-US" dirty="0"/>
          </a:p>
        </p:txBody>
      </p:sp>
      <p:sp>
        <p:nvSpPr>
          <p:cNvPr id="8"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1: AI for </a:t>
            </a:r>
            <a:r>
              <a:rPr lang="it-IT" dirty="0" err="1"/>
              <a:t>Lung</a:t>
            </a:r>
            <a:r>
              <a:rPr lang="it-IT" dirty="0"/>
              <a:t> Cancer </a:t>
            </a:r>
            <a:r>
              <a:rPr lang="it-IT" dirty="0" err="1"/>
              <a:t>Detection</a:t>
            </a:r>
            <a:endParaRPr lang="it-IT" dirty="0"/>
          </a:p>
        </p:txBody>
      </p:sp>
      <p:sp>
        <p:nvSpPr>
          <p:cNvPr id="10" name="Shape 102">
            <a:extLst>
              <a:ext uri="{FF2B5EF4-FFF2-40B4-BE49-F238E27FC236}">
                <a16:creationId xmlns:a16="http://schemas.microsoft.com/office/drawing/2014/main" id="{B7AB0FE4-68ED-4A69-A173-3F4F02F967C0}"/>
              </a:ext>
            </a:extLst>
          </p:cNvPr>
          <p:cNvSpPr/>
          <p:nvPr/>
        </p:nvSpPr>
        <p:spPr>
          <a:xfrm>
            <a:off x="581340" y="1983922"/>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sz="900" dirty="0"/>
          </a:p>
        </p:txBody>
      </p:sp>
      <p:sp>
        <p:nvSpPr>
          <p:cNvPr id="11" name="Titolo">
            <a:extLst>
              <a:ext uri="{FF2B5EF4-FFF2-40B4-BE49-F238E27FC236}">
                <a16:creationId xmlns:a16="http://schemas.microsoft.com/office/drawing/2014/main" id="{2965D1C1-4180-4ADF-B8B9-46015A8216BE}"/>
              </a:ext>
            </a:extLst>
          </p:cNvPr>
          <p:cNvSpPr txBox="1"/>
          <p:nvPr/>
        </p:nvSpPr>
        <p:spPr>
          <a:xfrm>
            <a:off x="536203" y="2817773"/>
            <a:ext cx="3785394" cy="564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8" name="Sottotitolo">
            <a:extLst>
              <a:ext uri="{FF2B5EF4-FFF2-40B4-BE49-F238E27FC236}">
                <a16:creationId xmlns:a16="http://schemas.microsoft.com/office/drawing/2014/main" id="{6D5BA434-ACCB-4314-91F0-AC69089F71A1}"/>
              </a:ext>
            </a:extLst>
          </p:cNvPr>
          <p:cNvSpPr txBox="1"/>
          <p:nvPr/>
        </p:nvSpPr>
        <p:spPr>
          <a:xfrm>
            <a:off x="536203" y="3805210"/>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9" name="Shape 53">
            <a:extLst>
              <a:ext uri="{FF2B5EF4-FFF2-40B4-BE49-F238E27FC236}">
                <a16:creationId xmlns:a16="http://schemas.microsoft.com/office/drawing/2014/main" id="{1018A7E6-7C88-4A75-9D46-6B485517387C}"/>
              </a:ext>
            </a:extLst>
          </p:cNvPr>
          <p:cNvSpPr txBox="1">
            <a:spLocks/>
          </p:cNvSpPr>
          <p:nvPr/>
        </p:nvSpPr>
        <p:spPr>
          <a:xfrm>
            <a:off x="68243" y="1428465"/>
            <a:ext cx="4267076" cy="461665"/>
          </a:xfrm>
          <a:prstGeom prst="rect">
            <a:avLst/>
          </a:prstGeom>
          <a:noFill/>
          <a:extLst>
            <a:ext uri="{C572A759-6A51-4108-AA02-DFA0A04FC94B}">
              <ma14:wrappingTextBoxFlag xmlns:ma14="http://schemas.microsoft.com/office/mac/drawingml/2011/main" xmlns="" val="1"/>
            </a:ext>
          </a:extLst>
        </p:spPr>
        <p:txBody>
          <a:bodyPr wrap="square" rtlCol="0">
            <a:spAutoFit/>
          </a:bodyPr>
          <a:lstStyle>
            <a:defPPr>
              <a:defRPr lang="it-IT"/>
            </a:defPPr>
            <a:lvl1pPr algn="ctr">
              <a:defRPr sz="2400" b="1">
                <a:solidFill>
                  <a:srgbClr val="7F142A"/>
                </a:solidFill>
              </a:defRPr>
            </a:lvl1pPr>
          </a:lstStyle>
          <a:p>
            <a:r>
              <a:rPr lang="it-IT" dirty="0" err="1"/>
              <a:t>Lung</a:t>
            </a:r>
            <a:r>
              <a:rPr lang="it-IT" dirty="0"/>
              <a:t> Cancer Models</a:t>
            </a:r>
          </a:p>
        </p:txBody>
      </p:sp>
      <p:pic>
        <p:nvPicPr>
          <p:cNvPr id="20" name="Picture 1">
            <a:extLst>
              <a:ext uri="{FF2B5EF4-FFF2-40B4-BE49-F238E27FC236}">
                <a16:creationId xmlns:a16="http://schemas.microsoft.com/office/drawing/2014/main" id="{B78F383C-5054-4EF6-BA15-8BD8B6B98BFE}"/>
              </a:ext>
            </a:extLst>
          </p:cNvPr>
          <p:cNvPicPr>
            <a:picLocks noChangeAspect="1"/>
          </p:cNvPicPr>
          <p:nvPr/>
        </p:nvPicPr>
        <p:blipFill>
          <a:blip r:embed="rId3"/>
          <a:stretch>
            <a:fillRect/>
          </a:stretch>
        </p:blipFill>
        <p:spPr>
          <a:xfrm>
            <a:off x="651195" y="2758709"/>
            <a:ext cx="3233782" cy="2122169"/>
          </a:xfrm>
          <a:prstGeom prst="rect">
            <a:avLst/>
          </a:prstGeom>
        </p:spPr>
      </p:pic>
      <p:pic>
        <p:nvPicPr>
          <p:cNvPr id="21" name="Immagine 20">
            <a:extLst>
              <a:ext uri="{FF2B5EF4-FFF2-40B4-BE49-F238E27FC236}">
                <a16:creationId xmlns:a16="http://schemas.microsoft.com/office/drawing/2014/main" id="{3E482822-349E-44C4-92BA-295E3357855C}"/>
              </a:ext>
            </a:extLst>
          </p:cNvPr>
          <p:cNvPicPr>
            <a:picLocks noChangeAspect="1"/>
          </p:cNvPicPr>
          <p:nvPr/>
        </p:nvPicPr>
        <p:blipFill>
          <a:blip r:embed="rId4"/>
          <a:stretch>
            <a:fillRect/>
          </a:stretch>
        </p:blipFill>
        <p:spPr>
          <a:xfrm>
            <a:off x="4891078" y="1212159"/>
            <a:ext cx="6847125" cy="5185066"/>
          </a:xfrm>
          <a:prstGeom prst="rect">
            <a:avLst/>
          </a:prstGeom>
        </p:spPr>
      </p:pic>
    </p:spTree>
    <p:extLst>
      <p:ext uri="{BB962C8B-B14F-4D97-AF65-F5344CB8AC3E}">
        <p14:creationId xmlns:p14="http://schemas.microsoft.com/office/powerpoint/2010/main" val="422938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42</a:t>
            </a:fld>
            <a:endParaRPr lang="en-US" dirty="0"/>
          </a:p>
        </p:txBody>
      </p:sp>
      <p:sp>
        <p:nvSpPr>
          <p:cNvPr id="8"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1: AI for </a:t>
            </a:r>
            <a:r>
              <a:rPr lang="it-IT" dirty="0" err="1"/>
              <a:t>Lung</a:t>
            </a:r>
            <a:r>
              <a:rPr lang="it-IT" dirty="0"/>
              <a:t> Cancer </a:t>
            </a:r>
            <a:r>
              <a:rPr lang="it-IT" dirty="0" err="1"/>
              <a:t>Detection</a:t>
            </a:r>
            <a:endParaRPr lang="it-IT" dirty="0"/>
          </a:p>
        </p:txBody>
      </p:sp>
      <p:sp>
        <p:nvSpPr>
          <p:cNvPr id="10" name="Shape 102">
            <a:extLst>
              <a:ext uri="{FF2B5EF4-FFF2-40B4-BE49-F238E27FC236}">
                <a16:creationId xmlns:a16="http://schemas.microsoft.com/office/drawing/2014/main" id="{B5D17D71-677F-4251-8C86-9E87AD50C079}"/>
              </a:ext>
            </a:extLst>
          </p:cNvPr>
          <p:cNvSpPr/>
          <p:nvPr/>
        </p:nvSpPr>
        <p:spPr>
          <a:xfrm>
            <a:off x="545108" y="2409570"/>
            <a:ext cx="3390899" cy="47186"/>
          </a:xfrm>
          <a:prstGeom prst="rect">
            <a:avLst/>
          </a:prstGeom>
          <a:solidFill>
            <a:srgbClr val="464646"/>
          </a:solidFill>
          <a:ln w="12700">
            <a:miter lim="400000"/>
          </a:ln>
        </p:spPr>
        <p:txBody>
          <a:bodyPr lIns="25400" tIns="25400" rIns="25400" bIns="25400" anchor="ctr"/>
          <a:lstStyle/>
          <a:p>
            <a:pPr>
              <a:defRPr>
                <a:latin typeface="Arial"/>
                <a:ea typeface="Arial"/>
                <a:cs typeface="Arial"/>
                <a:sym typeface="Arial"/>
              </a:defRPr>
            </a:pPr>
            <a:endParaRPr sz="900"/>
          </a:p>
        </p:txBody>
      </p:sp>
      <p:sp>
        <p:nvSpPr>
          <p:cNvPr id="11" name="Titolo">
            <a:extLst>
              <a:ext uri="{FF2B5EF4-FFF2-40B4-BE49-F238E27FC236}">
                <a16:creationId xmlns:a16="http://schemas.microsoft.com/office/drawing/2014/main" id="{91D95A3D-6B57-46BC-BF92-E9645B9BF9F0}"/>
              </a:ext>
            </a:extLst>
          </p:cNvPr>
          <p:cNvSpPr txBox="1"/>
          <p:nvPr/>
        </p:nvSpPr>
        <p:spPr>
          <a:xfrm>
            <a:off x="499971" y="1714865"/>
            <a:ext cx="3785394" cy="5645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6400">
                <a:solidFill>
                  <a:srgbClr val="3B4152"/>
                </a:solidFill>
                <a:uFillTx/>
                <a:latin typeface="Montserrat Bold"/>
                <a:ea typeface="Montserrat Bold"/>
                <a:cs typeface="Montserrat Bold"/>
                <a:sym typeface="Montserrat Bold"/>
              </a:defRPr>
            </a:lvl1pPr>
          </a:lstStyle>
          <a:p>
            <a:endParaRPr sz="3200" dirty="0"/>
          </a:p>
        </p:txBody>
      </p:sp>
      <p:sp>
        <p:nvSpPr>
          <p:cNvPr id="18" name="Sottotitolo">
            <a:extLst>
              <a:ext uri="{FF2B5EF4-FFF2-40B4-BE49-F238E27FC236}">
                <a16:creationId xmlns:a16="http://schemas.microsoft.com/office/drawing/2014/main" id="{851394E5-9DDE-457A-9521-5232E1A82E79}"/>
              </a:ext>
            </a:extLst>
          </p:cNvPr>
          <p:cNvSpPr txBox="1"/>
          <p:nvPr/>
        </p:nvSpPr>
        <p:spPr>
          <a:xfrm>
            <a:off x="499971" y="2702302"/>
            <a:ext cx="3785394" cy="33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marR="0" indent="0" defTabSz="820737">
              <a:defRPr sz="3400">
                <a:solidFill>
                  <a:srgbClr val="3B4152"/>
                </a:solidFill>
                <a:uFillTx/>
                <a:latin typeface="Montserrat Bold"/>
                <a:ea typeface="Montserrat Bold"/>
                <a:cs typeface="Montserrat Bold"/>
                <a:sym typeface="Montserrat Bold"/>
              </a:defRPr>
            </a:lvl1pPr>
          </a:lstStyle>
          <a:p>
            <a:endParaRPr sz="1700" dirty="0"/>
          </a:p>
        </p:txBody>
      </p:sp>
      <p:sp>
        <p:nvSpPr>
          <p:cNvPr id="19" name="Shape 128">
            <a:extLst>
              <a:ext uri="{FF2B5EF4-FFF2-40B4-BE49-F238E27FC236}">
                <a16:creationId xmlns:a16="http://schemas.microsoft.com/office/drawing/2014/main" id="{0CF34D3B-4CA4-4740-AC03-A50F69F21B39}"/>
              </a:ext>
            </a:extLst>
          </p:cNvPr>
          <p:cNvSpPr txBox="1">
            <a:spLocks/>
          </p:cNvSpPr>
          <p:nvPr/>
        </p:nvSpPr>
        <p:spPr>
          <a:xfrm>
            <a:off x="8479963" y="7292522"/>
            <a:ext cx="2743200" cy="365125"/>
          </a:xfrm>
          <a:prstGeom prst="rect">
            <a:avLst/>
          </a:prstGeom>
          <a:extLst>
            <a:ext uri="{C572A759-6A51-4108-AA02-DFA0A04FC94B}">
              <ma14:wrappingTextBoxFlag xmlns:ma14="http://schemas.microsoft.com/office/mac/drawingml/2011/main" xmlns="" val="1"/>
            </a:ext>
          </a:extLst>
        </p:spPr>
        <p:txBody>
          <a:bodyPr vert="horz" lIns="91440" tIns="45720" rIns="91440" bIns="45720" rtlCol="0" anchor="ctr">
            <a:normAutofit lnSpcReduction="10000"/>
          </a:bodyPr>
          <a:lstStyle>
            <a:defPPr>
              <a:defRPr lang="it-IT"/>
            </a:defPPr>
            <a:lvl1pPr marL="0" algn="r" defTabSz="914400" rtl="0" eaLnBrk="1" fontAlgn="base" latinLnBrk="0" hangingPunct="1">
              <a:spcBef>
                <a:spcPct val="0"/>
              </a:spcBef>
              <a:spcAft>
                <a:spcPct val="0"/>
              </a:spcAft>
              <a:defRPr sz="1200" kern="1200">
                <a:solidFill>
                  <a:schemeClr val="tx1">
                    <a:tint val="75000"/>
                  </a:schemeClr>
                </a:solidFill>
                <a:latin typeface="+mn-lt"/>
                <a:ea typeface="+mn-ea"/>
                <a:cs typeface="+mn-cs"/>
              </a:defRPr>
            </a:lvl1pPr>
            <a:lvl2pPr marL="457200" algn="l" defTabSz="914400" rtl="0" eaLnBrk="1" fontAlgn="base" latinLnBrk="0" hangingPunct="1">
              <a:spcBef>
                <a:spcPct val="0"/>
              </a:spcBef>
              <a:spcAft>
                <a:spcPct val="0"/>
              </a:spcAft>
              <a:defRPr sz="1800" kern="1200">
                <a:solidFill>
                  <a:schemeClr val="tx1"/>
                </a:solidFill>
                <a:latin typeface="+mn-lt"/>
                <a:ea typeface="+mn-ea"/>
                <a:cs typeface="+mn-cs"/>
              </a:defRPr>
            </a:lvl2pPr>
            <a:lvl3pPr marL="914400" algn="l" defTabSz="914400" rtl="0" eaLnBrk="1" fontAlgn="base" latinLnBrk="0" hangingPunct="1">
              <a:spcBef>
                <a:spcPct val="0"/>
              </a:spcBef>
              <a:spcAft>
                <a:spcPct val="0"/>
              </a:spcAft>
              <a:defRPr sz="1800" kern="1200">
                <a:solidFill>
                  <a:schemeClr val="tx1"/>
                </a:solidFill>
                <a:latin typeface="+mn-lt"/>
                <a:ea typeface="+mn-ea"/>
                <a:cs typeface="+mn-cs"/>
              </a:defRPr>
            </a:lvl3pPr>
            <a:lvl4pPr marL="1371600" algn="l" defTabSz="914400" rtl="0" eaLnBrk="1" fontAlgn="base" latinLnBrk="0" hangingPunct="1">
              <a:spcBef>
                <a:spcPct val="0"/>
              </a:spcBef>
              <a:spcAft>
                <a:spcPct val="0"/>
              </a:spcAft>
              <a:defRPr sz="1800" kern="1200">
                <a:solidFill>
                  <a:schemeClr val="tx1"/>
                </a:solidFill>
                <a:latin typeface="+mn-lt"/>
                <a:ea typeface="+mn-ea"/>
                <a:cs typeface="+mn-cs"/>
              </a:defRPr>
            </a:lvl4pPr>
            <a:lvl5pPr marL="1828800" algn="l" defTabSz="914400" rtl="0" eaLnBrk="1" fontAlgn="base" latinLnBrk="0" hangingPunct="1">
              <a:spcBef>
                <a:spcPct val="0"/>
              </a:spcBef>
              <a:spcAft>
                <a:spcPct val="0"/>
              </a:spcAft>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sz="1800">
                <a:solidFill>
                  <a:srgbClr val="000000"/>
                </a:solidFill>
              </a:defRPr>
            </a:pPr>
            <a:fld id="{0963570B-F1F2-4315-AC82-5A235D64A224}" type="slidenum">
              <a:rPr lang="it-IT" sz="1800" smtClean="0">
                <a:solidFill>
                  <a:srgbClr val="000000"/>
                </a:solidFill>
              </a:rPr>
              <a:pPr>
                <a:defRPr sz="1800">
                  <a:solidFill>
                    <a:srgbClr val="000000"/>
                  </a:solidFill>
                </a:defRPr>
              </a:pPr>
              <a:t>42</a:t>
            </a:fld>
            <a:endParaRPr lang="it-IT" sz="600" dirty="0">
              <a:solidFill>
                <a:srgbClr val="888888"/>
              </a:solidFill>
            </a:endParaRPr>
          </a:p>
        </p:txBody>
      </p:sp>
      <p:sp>
        <p:nvSpPr>
          <p:cNvPr id="20" name="Shape 53">
            <a:extLst>
              <a:ext uri="{FF2B5EF4-FFF2-40B4-BE49-F238E27FC236}">
                <a16:creationId xmlns:a16="http://schemas.microsoft.com/office/drawing/2014/main" id="{25C2BC00-BC04-49AB-B6F2-9EB339DC9B97}"/>
              </a:ext>
            </a:extLst>
          </p:cNvPr>
          <p:cNvSpPr txBox="1">
            <a:spLocks/>
          </p:cNvSpPr>
          <p:nvPr/>
        </p:nvSpPr>
        <p:spPr>
          <a:xfrm>
            <a:off x="107019" y="1821395"/>
            <a:ext cx="4267076" cy="461665"/>
          </a:xfrm>
          <a:prstGeom prst="rect">
            <a:avLst/>
          </a:prstGeom>
          <a:noFill/>
          <a:extLst>
            <a:ext uri="{C572A759-6A51-4108-AA02-DFA0A04FC94B}">
              <ma14:wrappingTextBoxFlag xmlns:ma14="http://schemas.microsoft.com/office/mac/drawingml/2011/main" xmlns="" val="1"/>
            </a:ext>
          </a:extLst>
        </p:spPr>
        <p:txBody>
          <a:bodyPr wrap="square" rtlCol="0">
            <a:spAutoFit/>
          </a:bodyPr>
          <a:lstStyle>
            <a:defPPr>
              <a:defRPr lang="it-IT"/>
            </a:defPPr>
            <a:lvl1pPr algn="ctr">
              <a:defRPr sz="2400" b="1">
                <a:solidFill>
                  <a:srgbClr val="7F142A"/>
                </a:solidFill>
              </a:defRPr>
            </a:lvl1pPr>
          </a:lstStyle>
          <a:p>
            <a:r>
              <a:rPr lang="it-IT" dirty="0" err="1"/>
              <a:t>Lung</a:t>
            </a:r>
            <a:r>
              <a:rPr lang="it-IT" dirty="0"/>
              <a:t> Cancer </a:t>
            </a:r>
            <a:r>
              <a:rPr lang="it-IT" dirty="0" err="1"/>
              <a:t>Results</a:t>
            </a:r>
            <a:endParaRPr lang="it-IT" dirty="0"/>
          </a:p>
        </p:txBody>
      </p:sp>
      <p:pic>
        <p:nvPicPr>
          <p:cNvPr id="21" name="Picture 1">
            <a:extLst>
              <a:ext uri="{FF2B5EF4-FFF2-40B4-BE49-F238E27FC236}">
                <a16:creationId xmlns:a16="http://schemas.microsoft.com/office/drawing/2014/main" id="{C91F8988-2C7D-4FE0-AC4C-23B4213686DE}"/>
              </a:ext>
            </a:extLst>
          </p:cNvPr>
          <p:cNvPicPr>
            <a:picLocks noChangeAspect="1"/>
          </p:cNvPicPr>
          <p:nvPr/>
        </p:nvPicPr>
        <p:blipFill>
          <a:blip r:embed="rId3"/>
          <a:stretch>
            <a:fillRect/>
          </a:stretch>
        </p:blipFill>
        <p:spPr>
          <a:xfrm>
            <a:off x="614963" y="3184357"/>
            <a:ext cx="3233782" cy="2122169"/>
          </a:xfrm>
          <a:prstGeom prst="rect">
            <a:avLst/>
          </a:prstGeom>
        </p:spPr>
      </p:pic>
      <p:graphicFrame>
        <p:nvGraphicFramePr>
          <p:cNvPr id="22" name="Diagramma 21">
            <a:extLst>
              <a:ext uri="{FF2B5EF4-FFF2-40B4-BE49-F238E27FC236}">
                <a16:creationId xmlns:a16="http://schemas.microsoft.com/office/drawing/2014/main" id="{28942DD4-A6CB-45A1-B68A-405E91330C47}"/>
              </a:ext>
            </a:extLst>
          </p:cNvPr>
          <p:cNvGraphicFramePr/>
          <p:nvPr>
            <p:extLst>
              <p:ext uri="{D42A27DB-BD31-4B8C-83A1-F6EECF244321}">
                <p14:modId xmlns:p14="http://schemas.microsoft.com/office/powerpoint/2010/main" val="1277458331"/>
              </p:ext>
            </p:extLst>
          </p:nvPr>
        </p:nvGraphicFramePr>
        <p:xfrm>
          <a:off x="4136596" y="1120770"/>
          <a:ext cx="7731935" cy="405929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3" name="Picture 2">
            <a:extLst>
              <a:ext uri="{FF2B5EF4-FFF2-40B4-BE49-F238E27FC236}">
                <a16:creationId xmlns:a16="http://schemas.microsoft.com/office/drawing/2014/main" id="{89AF7B96-C211-44AB-B732-2DB47A8F1D9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36596" y="4245441"/>
            <a:ext cx="2875395" cy="2072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3">
            <a:extLst>
              <a:ext uri="{FF2B5EF4-FFF2-40B4-BE49-F238E27FC236}">
                <a16:creationId xmlns:a16="http://schemas.microsoft.com/office/drawing/2014/main" id="{B9A3D383-B8E3-4114-8AF7-C36446C7707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99841" y="4245442"/>
            <a:ext cx="2530821" cy="20913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Rettangolo 24">
            <a:extLst>
              <a:ext uri="{FF2B5EF4-FFF2-40B4-BE49-F238E27FC236}">
                <a16:creationId xmlns:a16="http://schemas.microsoft.com/office/drawing/2014/main" id="{B8E64A92-A2EA-4B44-B706-E062C1D6EF99}"/>
              </a:ext>
            </a:extLst>
          </p:cNvPr>
          <p:cNvSpPr/>
          <p:nvPr/>
        </p:nvSpPr>
        <p:spPr>
          <a:xfrm>
            <a:off x="10118512" y="5155328"/>
            <a:ext cx="1692188" cy="723275"/>
          </a:xfrm>
          <a:prstGeom prst="rect">
            <a:avLst/>
          </a:prstGeom>
          <a:noFill/>
        </p:spPr>
        <p:txBody>
          <a:bodyPr wrap="square" lIns="45720" tIns="22860" rIns="45720" bIns="22860">
            <a:spAutoFit/>
          </a:bodyPr>
          <a:lstStyle/>
          <a:p>
            <a:pPr algn="ctr"/>
            <a:r>
              <a:rPr lang="it-IT" sz="22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Cancer</a:t>
            </a:r>
            <a:r>
              <a:rPr lang="it-IT" sz="2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 </a:t>
            </a:r>
          </a:p>
          <a:p>
            <a:pPr algn="ctr"/>
            <a:r>
              <a:rPr lang="it-IT" sz="2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Non </a:t>
            </a:r>
            <a:r>
              <a:rPr lang="it-IT" sz="2200" b="1" dirty="0" err="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cancer</a:t>
            </a:r>
            <a:endParaRPr lang="it-IT" sz="22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cxnSp>
        <p:nvCxnSpPr>
          <p:cNvPr id="26" name="Connettore 2 25">
            <a:extLst>
              <a:ext uri="{FF2B5EF4-FFF2-40B4-BE49-F238E27FC236}">
                <a16:creationId xmlns:a16="http://schemas.microsoft.com/office/drawing/2014/main" id="{95047C35-90B2-4170-B289-6838C380A66C}"/>
              </a:ext>
            </a:extLst>
          </p:cNvPr>
          <p:cNvCxnSpPr/>
          <p:nvPr/>
        </p:nvCxnSpPr>
        <p:spPr>
          <a:xfrm>
            <a:off x="5266323" y="2279441"/>
            <a:ext cx="0" cy="1818762"/>
          </a:xfrm>
          <a:prstGeom prst="straightConnector1">
            <a:avLst/>
          </a:prstGeom>
          <a:noFill/>
          <a:ln w="25400" cap="flat">
            <a:solidFill>
              <a:schemeClr val="accent3">
                <a:lumMod val="75000"/>
              </a:schemeClr>
            </a:solidFill>
            <a:prstDash val="solid"/>
            <a:bevel/>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7" name="Connettore 2 26">
            <a:extLst>
              <a:ext uri="{FF2B5EF4-FFF2-40B4-BE49-F238E27FC236}">
                <a16:creationId xmlns:a16="http://schemas.microsoft.com/office/drawing/2014/main" id="{BF40AAA3-C208-493E-8530-82EAE8CBAE74}"/>
              </a:ext>
            </a:extLst>
          </p:cNvPr>
          <p:cNvCxnSpPr/>
          <p:nvPr/>
        </p:nvCxnSpPr>
        <p:spPr>
          <a:xfrm>
            <a:off x="8252504" y="2916392"/>
            <a:ext cx="0" cy="1181811"/>
          </a:xfrm>
          <a:prstGeom prst="straightConnector1">
            <a:avLst/>
          </a:prstGeom>
          <a:noFill/>
          <a:ln w="25400" cap="flat">
            <a:solidFill>
              <a:schemeClr val="accent3">
                <a:lumMod val="75000"/>
              </a:schemeClr>
            </a:solidFill>
            <a:prstDash val="solid"/>
            <a:bevel/>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cxnSp>
        <p:nvCxnSpPr>
          <p:cNvPr id="28" name="Connettore 2 27">
            <a:extLst>
              <a:ext uri="{FF2B5EF4-FFF2-40B4-BE49-F238E27FC236}">
                <a16:creationId xmlns:a16="http://schemas.microsoft.com/office/drawing/2014/main" id="{C6CDF683-D720-4EA7-A39E-0FAF0C01F958}"/>
              </a:ext>
            </a:extLst>
          </p:cNvPr>
          <p:cNvCxnSpPr/>
          <p:nvPr/>
        </p:nvCxnSpPr>
        <p:spPr>
          <a:xfrm>
            <a:off x="10880716" y="3532211"/>
            <a:ext cx="0" cy="1623118"/>
          </a:xfrm>
          <a:prstGeom prst="straightConnector1">
            <a:avLst/>
          </a:prstGeom>
          <a:noFill/>
          <a:ln w="25400" cap="flat">
            <a:solidFill>
              <a:schemeClr val="accent3">
                <a:lumMod val="75000"/>
              </a:schemeClr>
            </a:solidFill>
            <a:prstDash val="solid"/>
            <a:bevel/>
            <a:tailEnd type="arrow"/>
          </a:ln>
          <a:effectLst>
            <a:outerShdw blurRad="38100" dist="20000" dir="5400000" rotWithShape="0">
              <a:srgbClr val="000000">
                <a:alpha val="38000"/>
              </a:srgbClr>
            </a:outerShdw>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6487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down)">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down)">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1000"/>
                                        <p:tgtEl>
                                          <p:spTgt spid="26"/>
                                        </p:tgtEl>
                                      </p:cBhvr>
                                    </p:animEffect>
                                    <p:anim calcmode="lin" valueType="num">
                                      <p:cBhvr>
                                        <p:cTn id="23" dur="1000" fill="hold"/>
                                        <p:tgtEl>
                                          <p:spTgt spid="26"/>
                                        </p:tgtEl>
                                        <p:attrNameLst>
                                          <p:attrName>ppt_x</p:attrName>
                                        </p:attrNameLst>
                                      </p:cBhvr>
                                      <p:tavLst>
                                        <p:tav tm="0">
                                          <p:val>
                                            <p:strVal val="#ppt_x"/>
                                          </p:val>
                                        </p:tav>
                                        <p:tav tm="100000">
                                          <p:val>
                                            <p:strVal val="#ppt_x"/>
                                          </p:val>
                                        </p:tav>
                                      </p:tavLst>
                                    </p:anim>
                                    <p:anim calcmode="lin" valueType="num">
                                      <p:cBhvr>
                                        <p:cTn id="2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1000"/>
                                        <p:tgtEl>
                                          <p:spTgt spid="28"/>
                                        </p:tgtEl>
                                      </p:cBhvr>
                                    </p:animEffect>
                                    <p:anim calcmode="lin" valueType="num">
                                      <p:cBhvr>
                                        <p:cTn id="37" dur="1000" fill="hold"/>
                                        <p:tgtEl>
                                          <p:spTgt spid="28"/>
                                        </p:tgtEl>
                                        <p:attrNameLst>
                                          <p:attrName>ppt_x</p:attrName>
                                        </p:attrNameLst>
                                      </p:cBhvr>
                                      <p:tavLst>
                                        <p:tav tm="0">
                                          <p:val>
                                            <p:strVal val="#ppt_x"/>
                                          </p:val>
                                        </p:tav>
                                        <p:tav tm="100000">
                                          <p:val>
                                            <p:strVal val="#ppt_x"/>
                                          </p:val>
                                        </p:tav>
                                      </p:tavLst>
                                    </p:anim>
                                    <p:anim calcmode="lin" valueType="num">
                                      <p:cBhvr>
                                        <p:cTn id="38"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43</a:t>
            </a:fld>
            <a:endParaRPr lang="en-US" dirty="0"/>
          </a:p>
        </p:txBody>
      </p:sp>
      <p:sp>
        <p:nvSpPr>
          <p:cNvPr id="8"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6" name="CasellaDiTesto 5"/>
          <p:cNvSpPr txBox="1"/>
          <p:nvPr/>
        </p:nvSpPr>
        <p:spPr>
          <a:xfrm>
            <a:off x="825119" y="1211880"/>
            <a:ext cx="10091553" cy="492443"/>
          </a:xfrm>
          <a:prstGeom prst="rect">
            <a:avLst/>
          </a:prstGeom>
          <a:noFill/>
        </p:spPr>
        <p:txBody>
          <a:bodyPr wrap="square" lIns="0" tIns="0" rIns="0" bIns="0" rtlCol="0">
            <a:spAutoFit/>
          </a:bodyPr>
          <a:lstStyle/>
          <a:p>
            <a:pPr>
              <a:tabLst>
                <a:tab pos="1919872" algn="l"/>
              </a:tabLst>
            </a:pPr>
            <a:r>
              <a:rPr lang="it-IT" sz="3200" b="1" dirty="0" err="1">
                <a:solidFill>
                  <a:srgbClr val="0C3182"/>
                </a:solidFill>
                <a:latin typeface="Trebuchet MS" charset="0"/>
                <a:ea typeface="Trebuchet MS" charset="0"/>
                <a:cs typeface="Trebuchet MS" charset="0"/>
              </a:rPr>
              <a:t>Detection</a:t>
            </a:r>
            <a:r>
              <a:rPr lang="it-IT" sz="3200" b="1" dirty="0">
                <a:solidFill>
                  <a:srgbClr val="0C3182"/>
                </a:solidFill>
                <a:latin typeface="Trebuchet MS" charset="0"/>
                <a:ea typeface="Trebuchet MS" charset="0"/>
                <a:cs typeface="Trebuchet MS" charset="0"/>
              </a:rPr>
              <a:t> Model</a:t>
            </a:r>
          </a:p>
        </p:txBody>
      </p:sp>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805" t="8065" r="1678" b="5547"/>
          <a:stretch/>
        </p:blipFill>
        <p:spPr bwMode="auto">
          <a:xfrm>
            <a:off x="825119" y="1866929"/>
            <a:ext cx="4418267" cy="3117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2923" t="32959" r="33313" b="30997"/>
          <a:stretch/>
        </p:blipFill>
        <p:spPr bwMode="auto">
          <a:xfrm>
            <a:off x="3772792" y="2567737"/>
            <a:ext cx="7327768" cy="3771810"/>
          </a:xfrm>
          <a:prstGeom prst="rect">
            <a:avLst/>
          </a:prstGeom>
          <a:noFill/>
          <a:ln w="38100">
            <a:solidFill>
              <a:srgbClr val="C00000"/>
            </a:solidFill>
            <a:miter lim="800000"/>
            <a:headEnd/>
            <a:tailEnd/>
          </a:ln>
          <a:extLst>
            <a:ext uri="{909E8E84-426E-40DD-AFC4-6F175D3DCCD1}">
              <a14:hiddenFill xmlns:a14="http://schemas.microsoft.com/office/drawing/2010/main">
                <a:solidFill>
                  <a:schemeClr val="accent1"/>
                </a:solidFill>
              </a14:hiddenFill>
            </a:ext>
          </a:extLst>
        </p:spPr>
      </p:pic>
      <p:sp>
        <p:nvSpPr>
          <p:cNvPr id="10" name="CasellaDiTesto 9"/>
          <p:cNvSpPr txBox="1"/>
          <p:nvPr/>
        </p:nvSpPr>
        <p:spPr>
          <a:xfrm>
            <a:off x="825119" y="5147150"/>
            <a:ext cx="2510444" cy="646331"/>
          </a:xfrm>
          <a:prstGeom prst="rect">
            <a:avLst/>
          </a:prstGeom>
          <a:noFill/>
        </p:spPr>
        <p:txBody>
          <a:bodyPr wrap="square" rtlCol="0">
            <a:spAutoFit/>
          </a:bodyPr>
          <a:lstStyle/>
          <a:p>
            <a:r>
              <a:rPr lang="en-US" b="1" dirty="0" err="1">
                <a:solidFill>
                  <a:srgbClr val="FF0000"/>
                </a:solidFill>
              </a:rPr>
              <a:t>Istat</a:t>
            </a:r>
            <a:r>
              <a:rPr lang="en-US" b="1" dirty="0">
                <a:solidFill>
                  <a:srgbClr val="FF0000"/>
                </a:solidFill>
              </a:rPr>
              <a:t> Form D4-D4bis ‘Death Certificate</a:t>
            </a:r>
            <a:endParaRPr lang="it-IT" b="1" dirty="0">
              <a:solidFill>
                <a:srgbClr val="FF0000"/>
              </a:solidFill>
            </a:endParaRPr>
          </a:p>
        </p:txBody>
      </p:sp>
      <p:sp>
        <p:nvSpPr>
          <p:cNvPr id="11" name="CasellaDiTesto 10"/>
          <p:cNvSpPr txBox="1"/>
          <p:nvPr/>
        </p:nvSpPr>
        <p:spPr>
          <a:xfrm>
            <a:off x="5199359" y="1266764"/>
            <a:ext cx="5717313" cy="1200329"/>
          </a:xfrm>
          <a:prstGeom prst="rect">
            <a:avLst/>
          </a:prstGeom>
          <a:noFill/>
        </p:spPr>
        <p:txBody>
          <a:bodyPr wrap="square" rtlCol="0">
            <a:spAutoFit/>
          </a:bodyPr>
          <a:lstStyle/>
          <a:p>
            <a:pPr algn="r"/>
            <a:r>
              <a:rPr lang="en-US" b="1" dirty="0">
                <a:solidFill>
                  <a:srgbClr val="FF0000"/>
                </a:solidFill>
              </a:rPr>
              <a:t>For each individual death occurring within the national territory, the certifying physician records the information on the causes of death in this part of the paper certificate</a:t>
            </a:r>
            <a:endParaRPr lang="it-IT" b="1" dirty="0">
              <a:solidFill>
                <a:srgbClr val="FF0000"/>
              </a:solidFill>
            </a:endParaRPr>
          </a:p>
        </p:txBody>
      </p:sp>
    </p:spTree>
    <p:extLst>
      <p:ext uri="{BB962C8B-B14F-4D97-AF65-F5344CB8AC3E}">
        <p14:creationId xmlns:p14="http://schemas.microsoft.com/office/powerpoint/2010/main" val="13083928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44</a:t>
            </a:fld>
            <a:endParaRPr lang="en-US" dirty="0"/>
          </a:p>
        </p:txBody>
      </p:sp>
      <p:sp>
        <p:nvSpPr>
          <p:cNvPr id="8"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12" name="Rettangolo 11"/>
          <p:cNvSpPr/>
          <p:nvPr/>
        </p:nvSpPr>
        <p:spPr>
          <a:xfrm>
            <a:off x="945773" y="1224475"/>
            <a:ext cx="10524737" cy="6093976"/>
          </a:xfrm>
          <a:prstGeom prst="rect">
            <a:avLst/>
          </a:prstGeom>
        </p:spPr>
        <p:txBody>
          <a:bodyPr wrap="square">
            <a:spAutoFit/>
          </a:bodyPr>
          <a:lstStyle/>
          <a:p>
            <a:r>
              <a:rPr lang="it-IT" sz="2000" b="1" dirty="0">
                <a:solidFill>
                  <a:srgbClr val="FF0000"/>
                </a:solidFill>
              </a:rPr>
              <a:t>The </a:t>
            </a:r>
            <a:r>
              <a:rPr lang="it-IT" sz="2000" b="1" dirty="0" err="1">
                <a:solidFill>
                  <a:srgbClr val="FF0000"/>
                </a:solidFill>
              </a:rPr>
              <a:t>project</a:t>
            </a:r>
            <a:r>
              <a:rPr lang="it-IT" sz="2000" b="1" dirty="0">
                <a:solidFill>
                  <a:srgbClr val="FF0000"/>
                </a:solidFill>
              </a:rPr>
              <a:t> </a:t>
            </a:r>
            <a:r>
              <a:rPr lang="it-IT" sz="2000" b="1" dirty="0" err="1">
                <a:solidFill>
                  <a:srgbClr val="FF0000"/>
                </a:solidFill>
              </a:rPr>
              <a:t>aims</a:t>
            </a:r>
            <a:r>
              <a:rPr lang="it-IT" sz="2000" b="1" dirty="0">
                <a:solidFill>
                  <a:srgbClr val="FF0000"/>
                </a:solidFill>
              </a:rPr>
              <a:t> to:</a:t>
            </a:r>
          </a:p>
          <a:p>
            <a:endParaRPr lang="it-IT" altLang="it-IT" sz="2000" dirty="0"/>
          </a:p>
          <a:p>
            <a:pPr marL="285750" indent="-285750">
              <a:buFont typeface="Arial" panose="020B0604020202020204" pitchFamily="34" charset="0"/>
              <a:buChar char="•"/>
            </a:pPr>
            <a:r>
              <a:rPr lang="it-IT" altLang="it-IT" sz="2000" dirty="0" err="1"/>
              <a:t>identify</a:t>
            </a:r>
            <a:r>
              <a:rPr lang="it-IT" altLang="it-IT" sz="2000" dirty="0"/>
              <a:t> the </a:t>
            </a:r>
            <a:r>
              <a:rPr lang="it-IT" altLang="it-IT" sz="2000" dirty="0" err="1"/>
              <a:t>most</a:t>
            </a:r>
            <a:r>
              <a:rPr lang="it-IT" altLang="it-IT" sz="2000" dirty="0"/>
              <a:t> </a:t>
            </a:r>
            <a:r>
              <a:rPr lang="it-IT" altLang="it-IT" sz="2000" dirty="0" err="1"/>
              <a:t>suitable</a:t>
            </a:r>
            <a:r>
              <a:rPr lang="it-IT" altLang="it-IT" sz="2000" dirty="0"/>
              <a:t> AI </a:t>
            </a:r>
            <a:r>
              <a:rPr lang="it-IT" altLang="it-IT" sz="2000" dirty="0" err="1"/>
              <a:t>methods</a:t>
            </a:r>
            <a:r>
              <a:rPr lang="it-IT" altLang="it-IT" sz="2000" dirty="0"/>
              <a:t> for </a:t>
            </a:r>
            <a:r>
              <a:rPr lang="it-IT" altLang="it-IT" sz="2000" dirty="0" err="1"/>
              <a:t>coding</a:t>
            </a:r>
            <a:r>
              <a:rPr lang="it-IT" altLang="it-IT" sz="2000" dirty="0"/>
              <a:t> </a:t>
            </a:r>
            <a:r>
              <a:rPr lang="it-IT" altLang="it-IT" sz="2000" dirty="0" err="1"/>
              <a:t>causes</a:t>
            </a:r>
            <a:r>
              <a:rPr lang="it-IT" altLang="it-IT" sz="2000" dirty="0"/>
              <a:t> of </a:t>
            </a:r>
            <a:r>
              <a:rPr lang="it-IT" altLang="it-IT" sz="2000" dirty="0" err="1"/>
              <a:t>death</a:t>
            </a:r>
            <a:r>
              <a:rPr lang="it-IT" altLang="it-IT" sz="2000" dirty="0"/>
              <a:t>;</a:t>
            </a:r>
          </a:p>
          <a:p>
            <a:pPr marL="285750" indent="-285750">
              <a:buFont typeface="Arial" panose="020B0604020202020204" pitchFamily="34" charset="0"/>
              <a:buChar char="•"/>
            </a:pPr>
            <a:r>
              <a:rPr lang="it-IT" altLang="it-IT" sz="2000" dirty="0"/>
              <a:t>create an </a:t>
            </a:r>
            <a:r>
              <a:rPr lang="it-IT" altLang="it-IT" sz="2000" dirty="0" err="1"/>
              <a:t>algorithm</a:t>
            </a:r>
            <a:r>
              <a:rPr lang="it-IT" altLang="it-IT" sz="2000" dirty="0"/>
              <a:t> for </a:t>
            </a:r>
            <a:r>
              <a:rPr lang="it-IT" altLang="it-IT" sz="2000" dirty="0" err="1"/>
              <a:t>coding</a:t>
            </a:r>
            <a:r>
              <a:rPr lang="it-IT" altLang="it-IT" sz="2000" dirty="0"/>
              <a:t> </a:t>
            </a:r>
            <a:r>
              <a:rPr lang="it-IT" altLang="it-IT" sz="2000" dirty="0" err="1"/>
              <a:t>causes</a:t>
            </a:r>
            <a:r>
              <a:rPr lang="it-IT" altLang="it-IT" sz="2000" dirty="0"/>
              <a:t> of </a:t>
            </a:r>
            <a:r>
              <a:rPr lang="it-IT" altLang="it-IT" sz="2000" dirty="0" err="1"/>
              <a:t>death</a:t>
            </a:r>
            <a:r>
              <a:rPr lang="it-IT" altLang="it-IT" sz="2000" dirty="0"/>
              <a:t> by </a:t>
            </a:r>
            <a:r>
              <a:rPr lang="it-IT" altLang="it-IT" sz="2000" dirty="0" err="1"/>
              <a:t>applying</a:t>
            </a:r>
            <a:r>
              <a:rPr lang="it-IT" altLang="it-IT" sz="2000" dirty="0"/>
              <a:t> </a:t>
            </a:r>
            <a:r>
              <a:rPr lang="it-IT" altLang="it-IT" sz="2000" dirty="0" err="1"/>
              <a:t>these</a:t>
            </a:r>
            <a:r>
              <a:rPr lang="it-IT" altLang="it-IT" sz="2000" dirty="0"/>
              <a:t> </a:t>
            </a:r>
            <a:r>
              <a:rPr lang="it-IT" altLang="it-IT" sz="2000" dirty="0" err="1"/>
              <a:t>methods</a:t>
            </a:r>
            <a:r>
              <a:rPr lang="it-IT" altLang="it-IT" sz="2000" dirty="0"/>
              <a:t>;</a:t>
            </a:r>
          </a:p>
          <a:p>
            <a:pPr marL="285750" indent="-285750">
              <a:buFont typeface="Arial" panose="020B0604020202020204" pitchFamily="34" charset="0"/>
              <a:buChar char="•"/>
            </a:pPr>
            <a:r>
              <a:rPr lang="it-IT" altLang="it-IT" sz="2000" dirty="0" err="1"/>
              <a:t>evaluate</a:t>
            </a:r>
            <a:r>
              <a:rPr lang="it-IT" altLang="it-IT" sz="2000" dirty="0"/>
              <a:t> the performance of </a:t>
            </a:r>
            <a:r>
              <a:rPr lang="it-IT" altLang="it-IT" sz="2000" dirty="0" err="1"/>
              <a:t>automatic</a:t>
            </a:r>
            <a:r>
              <a:rPr lang="it-IT" altLang="it-IT" sz="2000" dirty="0"/>
              <a:t> </a:t>
            </a:r>
            <a:r>
              <a:rPr lang="it-IT" altLang="it-IT" sz="2000" dirty="0" err="1"/>
              <a:t>coding</a:t>
            </a:r>
            <a:r>
              <a:rPr lang="it-IT" altLang="it-IT" sz="2000" dirty="0"/>
              <a:t> and the </a:t>
            </a:r>
            <a:r>
              <a:rPr lang="it-IT" altLang="it-IT" sz="2000" dirty="0" err="1"/>
              <a:t>quality</a:t>
            </a:r>
            <a:r>
              <a:rPr lang="it-IT" altLang="it-IT" sz="2000" dirty="0"/>
              <a:t> of the data by </a:t>
            </a:r>
            <a:r>
              <a:rPr lang="it-IT" altLang="it-IT" sz="2000" dirty="0" err="1"/>
              <a:t>applying</a:t>
            </a:r>
            <a:r>
              <a:rPr lang="it-IT" altLang="it-IT" sz="2000" dirty="0"/>
              <a:t> </a:t>
            </a:r>
            <a:r>
              <a:rPr lang="it-IT" altLang="it-IT" sz="2000" dirty="0" err="1"/>
              <a:t>this</a:t>
            </a:r>
            <a:r>
              <a:rPr lang="it-IT" altLang="it-IT" sz="2000" dirty="0"/>
              <a:t> </a:t>
            </a:r>
            <a:r>
              <a:rPr lang="it-IT" altLang="it-IT" sz="2000" dirty="0" err="1"/>
              <a:t>algorithm</a:t>
            </a:r>
            <a:r>
              <a:rPr lang="it-IT" altLang="it-IT" sz="2000" dirty="0"/>
              <a:t>.</a:t>
            </a:r>
          </a:p>
          <a:p>
            <a:endParaRPr lang="it-IT" sz="2000" dirty="0"/>
          </a:p>
          <a:p>
            <a:r>
              <a:rPr lang="en-US" sz="2000" b="1" dirty="0">
                <a:solidFill>
                  <a:srgbClr val="FF0000"/>
                </a:solidFill>
              </a:rPr>
              <a:t>The main expected results are:</a:t>
            </a:r>
            <a:endParaRPr lang="it-IT" sz="2000" b="1" dirty="0">
              <a:solidFill>
                <a:srgbClr val="FF0000"/>
              </a:solidFill>
            </a:endParaRPr>
          </a:p>
          <a:p>
            <a:endParaRPr lang="it-IT" sz="2000" b="1" dirty="0">
              <a:solidFill>
                <a:srgbClr val="FF0000"/>
              </a:solidFill>
            </a:endParaRPr>
          </a:p>
          <a:p>
            <a:pPr marL="285750" lvl="0" indent="-285750" defTabSz="914400">
              <a:buFont typeface="Arial" panose="020B0604020202020204" pitchFamily="34" charset="0"/>
              <a:buChar char="•"/>
            </a:pPr>
            <a:r>
              <a:rPr lang="it-IT" altLang="it-IT" sz="2000" dirty="0">
                <a:latin typeface="Arial" panose="020B0604020202020204" pitchFamily="34" charset="0"/>
              </a:rPr>
              <a:t>a </a:t>
            </a:r>
            <a:r>
              <a:rPr lang="it-IT" altLang="it-IT" sz="2000" dirty="0" err="1">
                <a:latin typeface="Arial" panose="020B0604020202020204" pitchFamily="34" charset="0"/>
              </a:rPr>
              <a:t>reduction</a:t>
            </a:r>
            <a:r>
              <a:rPr lang="it-IT" altLang="it-IT" sz="2000" dirty="0">
                <a:latin typeface="Arial" panose="020B0604020202020204" pitchFamily="34" charset="0"/>
              </a:rPr>
              <a:t> in </a:t>
            </a:r>
            <a:r>
              <a:rPr lang="it-IT" altLang="it-IT" sz="2000" dirty="0" err="1">
                <a:latin typeface="Arial" panose="020B0604020202020204" pitchFamily="34" charset="0"/>
              </a:rPr>
              <a:t>coding</a:t>
            </a:r>
            <a:r>
              <a:rPr lang="it-IT" altLang="it-IT" sz="2000" dirty="0">
                <a:latin typeface="Arial" panose="020B0604020202020204" pitchFamily="34" charset="0"/>
              </a:rPr>
              <a:t> </a:t>
            </a:r>
            <a:r>
              <a:rPr lang="it-IT" altLang="it-IT" sz="2000" dirty="0" err="1">
                <a:latin typeface="Arial" panose="020B0604020202020204" pitchFamily="34" charset="0"/>
              </a:rPr>
              <a:t>variability</a:t>
            </a:r>
            <a:r>
              <a:rPr lang="it-IT" altLang="it-IT" sz="2000" dirty="0">
                <a:latin typeface="Arial" panose="020B0604020202020204" pitchFamily="34" charset="0"/>
              </a:rPr>
              <a:t> </a:t>
            </a:r>
            <a:r>
              <a:rPr lang="it-IT" altLang="it-IT" sz="2000" dirty="0" err="1">
                <a:latin typeface="Arial" panose="020B0604020202020204" pitchFamily="34" charset="0"/>
              </a:rPr>
              <a:t>among</a:t>
            </a:r>
            <a:r>
              <a:rPr lang="it-IT" altLang="it-IT" sz="2000" dirty="0">
                <a:latin typeface="Arial" panose="020B0604020202020204" pitchFamily="34" charset="0"/>
              </a:rPr>
              <a:t> </a:t>
            </a:r>
            <a:r>
              <a:rPr lang="it-IT" altLang="it-IT" sz="2000" dirty="0" err="1">
                <a:latin typeface="Arial" panose="020B0604020202020204" pitchFamily="34" charset="0"/>
              </a:rPr>
              <a:t>coders</a:t>
            </a:r>
            <a:r>
              <a:rPr lang="it-IT" altLang="it-IT" sz="2000" dirty="0">
                <a:latin typeface="Arial" panose="020B0604020202020204" pitchFamily="34" charset="0"/>
              </a:rPr>
              <a:t> and in </a:t>
            </a:r>
            <a:r>
              <a:rPr lang="it-IT" altLang="it-IT" sz="2000" dirty="0" err="1">
                <a:latin typeface="Arial" panose="020B0604020202020204" pitchFamily="34" charset="0"/>
              </a:rPr>
              <a:t>errors</a:t>
            </a:r>
            <a:r>
              <a:rPr lang="it-IT" altLang="it-IT" sz="2000" dirty="0">
                <a:latin typeface="Arial" panose="020B0604020202020204" pitchFamily="34" charset="0"/>
              </a:rPr>
              <a:t>, </a:t>
            </a:r>
            <a:r>
              <a:rPr lang="it-IT" altLang="it-IT" sz="2000" dirty="0" err="1">
                <a:latin typeface="Arial" panose="020B0604020202020204" pitchFamily="34" charset="0"/>
              </a:rPr>
              <a:t>resulting</a:t>
            </a:r>
            <a:r>
              <a:rPr lang="it-IT" altLang="it-IT" sz="2000" dirty="0">
                <a:latin typeface="Arial" panose="020B0604020202020204" pitchFamily="34" charset="0"/>
              </a:rPr>
              <a:t> in </a:t>
            </a:r>
            <a:r>
              <a:rPr lang="it-IT" altLang="it-IT" sz="2000" dirty="0" err="1">
                <a:latin typeface="Arial" panose="020B0604020202020204" pitchFamily="34" charset="0"/>
              </a:rPr>
              <a:t>improved</a:t>
            </a:r>
            <a:r>
              <a:rPr lang="it-IT" altLang="it-IT" sz="2000" dirty="0">
                <a:latin typeface="Arial" panose="020B0604020202020204" pitchFamily="34" charset="0"/>
              </a:rPr>
              <a:t> </a:t>
            </a:r>
            <a:r>
              <a:rPr lang="it-IT" altLang="it-IT" sz="2000" dirty="0" err="1">
                <a:latin typeface="Arial" panose="020B0604020202020204" pitchFamily="34" charset="0"/>
              </a:rPr>
              <a:t>quality</a:t>
            </a:r>
            <a:r>
              <a:rPr lang="it-IT" altLang="it-IT" sz="2000" dirty="0">
                <a:latin typeface="Arial" panose="020B0604020202020204" pitchFamily="34" charset="0"/>
              </a:rPr>
              <a:t>;</a:t>
            </a:r>
          </a:p>
          <a:p>
            <a:pPr marL="285750" lvl="0" indent="-285750" defTabSz="914400">
              <a:buFont typeface="Arial" panose="020B0604020202020204" pitchFamily="34" charset="0"/>
              <a:buChar char="•"/>
            </a:pPr>
            <a:r>
              <a:rPr lang="it-IT" altLang="it-IT" sz="2000" dirty="0">
                <a:latin typeface="Arial" panose="020B0604020202020204" pitchFamily="34" charset="0"/>
              </a:rPr>
              <a:t>in </a:t>
            </a:r>
            <a:r>
              <a:rPr lang="it-IT" altLang="it-IT" sz="2000" dirty="0" err="1">
                <a:latin typeface="Arial" panose="020B0604020202020204" pitchFamily="34" charset="0"/>
              </a:rPr>
              <a:t>view</a:t>
            </a:r>
            <a:r>
              <a:rPr lang="it-IT" altLang="it-IT" sz="2000" dirty="0">
                <a:latin typeface="Arial" panose="020B0604020202020204" pitchFamily="34" charset="0"/>
              </a:rPr>
              <a:t> of the </a:t>
            </a:r>
            <a:r>
              <a:rPr lang="it-IT" altLang="it-IT" sz="2000" dirty="0" err="1">
                <a:latin typeface="Arial" panose="020B0604020202020204" pitchFamily="34" charset="0"/>
              </a:rPr>
              <a:t>imminent</a:t>
            </a:r>
            <a:r>
              <a:rPr lang="it-IT" altLang="it-IT" sz="2000" dirty="0">
                <a:latin typeface="Arial" panose="020B0604020202020204" pitchFamily="34" charset="0"/>
              </a:rPr>
              <a:t> </a:t>
            </a:r>
            <a:r>
              <a:rPr lang="it-IT" altLang="it-IT" sz="2000" dirty="0" err="1">
                <a:latin typeface="Arial" panose="020B0604020202020204" pitchFamily="34" charset="0"/>
              </a:rPr>
              <a:t>replacement</a:t>
            </a:r>
            <a:r>
              <a:rPr lang="it-IT" altLang="it-IT" sz="2000" dirty="0">
                <a:latin typeface="Arial" panose="020B0604020202020204" pitchFamily="34" charset="0"/>
              </a:rPr>
              <a:t> of the </a:t>
            </a:r>
            <a:r>
              <a:rPr lang="it-IT" altLang="it-IT" sz="2000" dirty="0" err="1">
                <a:latin typeface="Arial" panose="020B0604020202020204" pitchFamily="34" charset="0"/>
              </a:rPr>
              <a:t>paper</a:t>
            </a:r>
            <a:r>
              <a:rPr lang="it-IT" altLang="it-IT" sz="2000" dirty="0">
                <a:latin typeface="Arial" panose="020B0604020202020204" pitchFamily="34" charset="0"/>
              </a:rPr>
              <a:t> </a:t>
            </a:r>
            <a:r>
              <a:rPr lang="it-IT" altLang="it-IT" sz="2000" dirty="0" err="1">
                <a:latin typeface="Arial" panose="020B0604020202020204" pitchFamily="34" charset="0"/>
              </a:rPr>
              <a:t>form</a:t>
            </a:r>
            <a:r>
              <a:rPr lang="it-IT" altLang="it-IT" sz="2000" dirty="0">
                <a:latin typeface="Arial" panose="020B0604020202020204" pitchFamily="34" charset="0"/>
              </a:rPr>
              <a:t> with an </a:t>
            </a:r>
            <a:r>
              <a:rPr lang="it-IT" altLang="it-IT" sz="2000" dirty="0" err="1">
                <a:latin typeface="Arial" panose="020B0604020202020204" pitchFamily="34" charset="0"/>
              </a:rPr>
              <a:t>electronic</a:t>
            </a:r>
            <a:r>
              <a:rPr lang="it-IT" altLang="it-IT" sz="2000" dirty="0">
                <a:latin typeface="Arial" panose="020B0604020202020204" pitchFamily="34" charset="0"/>
              </a:rPr>
              <a:t> model, AI </a:t>
            </a:r>
            <a:r>
              <a:rPr lang="it-IT" altLang="it-IT" sz="2000" dirty="0" err="1">
                <a:latin typeface="Arial" panose="020B0604020202020204" pitchFamily="34" charset="0"/>
              </a:rPr>
              <a:t>methods</a:t>
            </a:r>
            <a:r>
              <a:rPr lang="it-IT" altLang="it-IT" sz="2000" dirty="0">
                <a:latin typeface="Arial" panose="020B0604020202020204" pitchFamily="34" charset="0"/>
              </a:rPr>
              <a:t> </a:t>
            </a:r>
            <a:r>
              <a:rPr lang="it-IT" altLang="it-IT" sz="2000" dirty="0" err="1">
                <a:latin typeface="Arial" panose="020B0604020202020204" pitchFamily="34" charset="0"/>
              </a:rPr>
              <a:t>will</a:t>
            </a:r>
            <a:r>
              <a:rPr lang="it-IT" altLang="it-IT" sz="2000" dirty="0">
                <a:latin typeface="Arial" panose="020B0604020202020204" pitchFamily="34" charset="0"/>
              </a:rPr>
              <a:t> be </a:t>
            </a:r>
            <a:r>
              <a:rPr lang="it-IT" altLang="it-IT" sz="2000" dirty="0" err="1">
                <a:latin typeface="Arial" panose="020B0604020202020204" pitchFamily="34" charset="0"/>
              </a:rPr>
              <a:t>useful</a:t>
            </a:r>
            <a:r>
              <a:rPr lang="it-IT" altLang="it-IT" sz="2000" dirty="0">
                <a:latin typeface="Arial" panose="020B0604020202020204" pitchFamily="34" charset="0"/>
              </a:rPr>
              <a:t> to </a:t>
            </a:r>
            <a:r>
              <a:rPr lang="it-IT" altLang="it-IT" sz="2000" dirty="0" err="1">
                <a:latin typeface="Arial" panose="020B0604020202020204" pitchFamily="34" charset="0"/>
              </a:rPr>
              <a:t>maintain</a:t>
            </a:r>
            <a:r>
              <a:rPr lang="it-IT" altLang="it-IT" sz="2000" dirty="0">
                <a:latin typeface="Arial" panose="020B0604020202020204" pitchFamily="34" charset="0"/>
              </a:rPr>
              <a:t> high performance in </a:t>
            </a:r>
            <a:r>
              <a:rPr lang="it-IT" altLang="it-IT" sz="2000" dirty="0" err="1">
                <a:latin typeface="Arial" panose="020B0604020202020204" pitchFamily="34" charset="0"/>
              </a:rPr>
              <a:t>recognizing</a:t>
            </a:r>
            <a:r>
              <a:rPr lang="it-IT" altLang="it-IT" sz="2000" dirty="0">
                <a:latin typeface="Arial" panose="020B0604020202020204" pitchFamily="34" charset="0"/>
              </a:rPr>
              <a:t> </a:t>
            </a:r>
            <a:r>
              <a:rPr lang="it-IT" altLang="it-IT" sz="2000" dirty="0" err="1">
                <a:latin typeface="Arial" panose="020B0604020202020204" pitchFamily="34" charset="0"/>
              </a:rPr>
              <a:t>medical</a:t>
            </a:r>
            <a:r>
              <a:rPr lang="it-IT" altLang="it-IT" sz="2000" dirty="0">
                <a:latin typeface="Arial" panose="020B0604020202020204" pitchFamily="34" charset="0"/>
              </a:rPr>
              <a:t> text, </a:t>
            </a:r>
            <a:r>
              <a:rPr lang="it-IT" altLang="it-IT" sz="2000" dirty="0" err="1">
                <a:latin typeface="Arial" panose="020B0604020202020204" pitchFamily="34" charset="0"/>
              </a:rPr>
              <a:t>even</a:t>
            </a:r>
            <a:r>
              <a:rPr lang="it-IT" altLang="it-IT" sz="2000" dirty="0">
                <a:latin typeface="Arial" panose="020B0604020202020204" pitchFamily="34" charset="0"/>
              </a:rPr>
              <a:t> in the </a:t>
            </a:r>
            <a:r>
              <a:rPr lang="it-IT" altLang="it-IT" sz="2000" dirty="0" err="1">
                <a:latin typeface="Arial" panose="020B0604020202020204" pitchFamily="34" charset="0"/>
              </a:rPr>
              <a:t>absence</a:t>
            </a:r>
            <a:r>
              <a:rPr lang="it-IT" altLang="it-IT" sz="2000" dirty="0">
                <a:latin typeface="Arial" panose="020B0604020202020204" pitchFamily="34" charset="0"/>
              </a:rPr>
              <a:t> of the </a:t>
            </a:r>
            <a:r>
              <a:rPr lang="it-IT" altLang="it-IT" sz="2000" dirty="0" err="1">
                <a:latin typeface="Arial" panose="020B0604020202020204" pitchFamily="34" charset="0"/>
              </a:rPr>
              <a:t>preprocessing</a:t>
            </a:r>
            <a:r>
              <a:rPr lang="it-IT" altLang="it-IT" sz="2000" dirty="0">
                <a:latin typeface="Arial" panose="020B0604020202020204" pitchFamily="34" charset="0"/>
              </a:rPr>
              <a:t> </a:t>
            </a:r>
            <a:r>
              <a:rPr lang="it-IT" altLang="it-IT" sz="2000" dirty="0" err="1">
                <a:latin typeface="Arial" panose="020B0604020202020204" pitchFamily="34" charset="0"/>
              </a:rPr>
              <a:t>currently</a:t>
            </a:r>
            <a:r>
              <a:rPr lang="it-IT" altLang="it-IT" sz="2000" dirty="0">
                <a:latin typeface="Arial" panose="020B0604020202020204" pitchFamily="34" charset="0"/>
              </a:rPr>
              <a:t> </a:t>
            </a:r>
            <a:r>
              <a:rPr lang="it-IT" altLang="it-IT" sz="2000" dirty="0" err="1">
                <a:latin typeface="Arial" panose="020B0604020202020204" pitchFamily="34" charset="0"/>
              </a:rPr>
              <a:t>applied</a:t>
            </a:r>
            <a:r>
              <a:rPr lang="it-IT" altLang="it-IT" sz="2000" dirty="0">
                <a:latin typeface="Arial" panose="020B0604020202020204" pitchFamily="34" charset="0"/>
              </a:rPr>
              <a:t> </a:t>
            </a:r>
            <a:r>
              <a:rPr lang="it-IT" altLang="it-IT" sz="2000" dirty="0" err="1">
                <a:latin typeface="Arial" panose="020B0604020202020204" pitchFamily="34" charset="0"/>
              </a:rPr>
              <a:t>during</a:t>
            </a:r>
            <a:r>
              <a:rPr lang="it-IT" altLang="it-IT" sz="2000" dirty="0">
                <a:latin typeface="Arial" panose="020B0604020202020204" pitchFamily="34" charset="0"/>
              </a:rPr>
              <a:t> the </a:t>
            </a:r>
            <a:r>
              <a:rPr lang="it-IT" altLang="it-IT" sz="2000" dirty="0" err="1">
                <a:latin typeface="Arial" panose="020B0604020202020204" pitchFamily="34" charset="0"/>
              </a:rPr>
              <a:t>registration</a:t>
            </a:r>
            <a:r>
              <a:rPr lang="it-IT" altLang="it-IT" sz="2000" dirty="0">
                <a:latin typeface="Arial" panose="020B0604020202020204" pitchFamily="34" charset="0"/>
              </a:rPr>
              <a:t> of </a:t>
            </a:r>
            <a:r>
              <a:rPr lang="it-IT" altLang="it-IT" sz="2000" dirty="0" err="1">
                <a:latin typeface="Arial" panose="020B0604020202020204" pitchFamily="34" charset="0"/>
              </a:rPr>
              <a:t>paper</a:t>
            </a:r>
            <a:r>
              <a:rPr lang="it-IT" altLang="it-IT" sz="2000" dirty="0">
                <a:latin typeface="Arial" panose="020B0604020202020204" pitchFamily="34" charset="0"/>
              </a:rPr>
              <a:t> </a:t>
            </a:r>
            <a:r>
              <a:rPr lang="it-IT" altLang="it-IT" sz="2000" dirty="0" err="1">
                <a:latin typeface="Arial" panose="020B0604020202020204" pitchFamily="34" charset="0"/>
              </a:rPr>
              <a:t>forms</a:t>
            </a:r>
            <a:r>
              <a:rPr lang="it-IT" altLang="it-IT" sz="2000" dirty="0">
                <a:latin typeface="Arial" panose="020B0604020202020204" pitchFamily="34" charset="0"/>
              </a:rPr>
              <a:t>.</a:t>
            </a:r>
          </a:p>
          <a:p>
            <a:pPr marL="285750" lvl="0" indent="-285750" defTabSz="914400">
              <a:buFont typeface="Arial" panose="020B0604020202020204" pitchFamily="34" charset="0"/>
              <a:buChar char="•"/>
            </a:pPr>
            <a:r>
              <a:rPr lang="it-IT" altLang="it-IT" sz="2000" dirty="0">
                <a:latin typeface="Arial" panose="020B0604020202020204" pitchFamily="34" charset="0"/>
              </a:rPr>
              <a:t>an </a:t>
            </a:r>
            <a:r>
              <a:rPr lang="it-IT" altLang="it-IT" sz="2000" dirty="0" err="1">
                <a:latin typeface="Arial" panose="020B0604020202020204" pitchFamily="34" charset="0"/>
              </a:rPr>
              <a:t>increase</a:t>
            </a:r>
            <a:r>
              <a:rPr lang="it-IT" altLang="it-IT" sz="2000" dirty="0">
                <a:latin typeface="Arial" panose="020B0604020202020204" pitchFamily="34" charset="0"/>
              </a:rPr>
              <a:t> in the </a:t>
            </a:r>
            <a:r>
              <a:rPr lang="it-IT" altLang="it-IT" sz="2000" dirty="0" err="1">
                <a:latin typeface="Arial" panose="020B0604020202020204" pitchFamily="34" charset="0"/>
              </a:rPr>
              <a:t>number</a:t>
            </a:r>
            <a:r>
              <a:rPr lang="it-IT" altLang="it-IT" sz="2000" dirty="0">
                <a:latin typeface="Arial" panose="020B0604020202020204" pitchFamily="34" charset="0"/>
              </a:rPr>
              <a:t> of </a:t>
            </a:r>
            <a:r>
              <a:rPr lang="it-IT" altLang="it-IT" sz="2000" dirty="0" err="1">
                <a:latin typeface="Arial" panose="020B0604020202020204" pitchFamily="34" charset="0"/>
              </a:rPr>
              <a:t>death</a:t>
            </a:r>
            <a:r>
              <a:rPr lang="it-IT" altLang="it-IT" sz="2000" dirty="0">
                <a:latin typeface="Arial" panose="020B0604020202020204" pitchFamily="34" charset="0"/>
              </a:rPr>
              <a:t> </a:t>
            </a:r>
            <a:r>
              <a:rPr lang="it-IT" altLang="it-IT" sz="2000" dirty="0" err="1">
                <a:latin typeface="Arial" panose="020B0604020202020204" pitchFamily="34" charset="0"/>
              </a:rPr>
              <a:t>certificates</a:t>
            </a:r>
            <a:r>
              <a:rPr lang="it-IT" altLang="it-IT" sz="2000" dirty="0">
                <a:latin typeface="Arial" panose="020B0604020202020204" pitchFamily="34" charset="0"/>
              </a:rPr>
              <a:t> </a:t>
            </a:r>
            <a:r>
              <a:rPr lang="it-IT" altLang="it-IT" sz="2000" dirty="0" err="1">
                <a:latin typeface="Arial" panose="020B0604020202020204" pitchFamily="34" charset="0"/>
              </a:rPr>
              <a:t>coded</a:t>
            </a:r>
            <a:r>
              <a:rPr lang="it-IT" altLang="it-IT" sz="2000" dirty="0">
                <a:latin typeface="Arial" panose="020B0604020202020204" pitchFamily="34" charset="0"/>
              </a:rPr>
              <a:t> </a:t>
            </a:r>
            <a:r>
              <a:rPr lang="it-IT" altLang="it-IT" sz="2000" dirty="0" err="1">
                <a:latin typeface="Arial" panose="020B0604020202020204" pitchFamily="34" charset="0"/>
              </a:rPr>
              <a:t>completely</a:t>
            </a:r>
            <a:r>
              <a:rPr lang="it-IT" altLang="it-IT" sz="2000" dirty="0">
                <a:latin typeface="Arial" panose="020B0604020202020204" pitchFamily="34" charset="0"/>
              </a:rPr>
              <a:t> </a:t>
            </a:r>
            <a:r>
              <a:rPr lang="it-IT" altLang="it-IT" sz="2000" dirty="0" err="1">
                <a:latin typeface="Arial" panose="020B0604020202020204" pitchFamily="34" charset="0"/>
              </a:rPr>
              <a:t>automatically</a:t>
            </a:r>
            <a:r>
              <a:rPr lang="it-IT" altLang="it-IT" sz="2000" dirty="0">
                <a:latin typeface="Arial" panose="020B0604020202020204" pitchFamily="34" charset="0"/>
              </a:rPr>
              <a:t>, </a:t>
            </a:r>
            <a:r>
              <a:rPr lang="it-IT" altLang="it-IT" sz="2000" dirty="0" err="1">
                <a:latin typeface="Arial" panose="020B0604020202020204" pitchFamily="34" charset="0"/>
              </a:rPr>
              <a:t>without</a:t>
            </a:r>
            <a:r>
              <a:rPr lang="it-IT" altLang="it-IT" sz="2000" dirty="0">
                <a:latin typeface="Arial" panose="020B0604020202020204" pitchFamily="34" charset="0"/>
              </a:rPr>
              <a:t> human </a:t>
            </a:r>
            <a:r>
              <a:rPr lang="it-IT" altLang="it-IT" sz="2000" dirty="0" err="1">
                <a:latin typeface="Arial" panose="020B0604020202020204" pitchFamily="34" charset="0"/>
              </a:rPr>
              <a:t>intervention</a:t>
            </a:r>
            <a:r>
              <a:rPr lang="it-IT" altLang="it-IT" sz="2000" dirty="0">
                <a:latin typeface="Arial" panose="020B0604020202020204" pitchFamily="34" charset="0"/>
              </a:rPr>
              <a:t>;</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endParaRPr lang="it-IT" dirty="0"/>
          </a:p>
          <a:p>
            <a:endParaRPr lang="it-IT" dirty="0"/>
          </a:p>
        </p:txBody>
      </p:sp>
    </p:spTree>
    <p:extLst>
      <p:ext uri="{BB962C8B-B14F-4D97-AF65-F5344CB8AC3E}">
        <p14:creationId xmlns:p14="http://schemas.microsoft.com/office/powerpoint/2010/main" val="23366956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45</a:t>
            </a:fld>
            <a:endParaRPr lang="en-US" dirty="0"/>
          </a:p>
        </p:txBody>
      </p:sp>
      <p:sp>
        <p:nvSpPr>
          <p:cNvPr id="2" name="Rettangolo 1"/>
          <p:cNvSpPr/>
          <p:nvPr/>
        </p:nvSpPr>
        <p:spPr>
          <a:xfrm>
            <a:off x="976131" y="1303358"/>
            <a:ext cx="10644851" cy="4893647"/>
          </a:xfrm>
          <a:prstGeom prst="rect">
            <a:avLst/>
          </a:prstGeom>
        </p:spPr>
        <p:txBody>
          <a:bodyPr wrap="square">
            <a:spAutoFit/>
          </a:bodyPr>
          <a:lstStyle/>
          <a:p>
            <a:r>
              <a:rPr lang="en-US" sz="2400" dirty="0"/>
              <a:t>The information on the causes is recorded by physicians on a paper death certificate, digitized, and coded according to the </a:t>
            </a:r>
            <a:r>
              <a:rPr lang="en-US" sz="2400" b="1" dirty="0"/>
              <a:t>tenth revision of the International Classification of Diseases (ICD-10)</a:t>
            </a:r>
            <a:r>
              <a:rPr lang="en-US" sz="2400" dirty="0"/>
              <a:t> of the </a:t>
            </a:r>
            <a:r>
              <a:rPr lang="en-US" sz="2400" b="1" dirty="0"/>
              <a:t>World Health Organization (WHO)</a:t>
            </a:r>
            <a:r>
              <a:rPr lang="en-US" sz="2400" dirty="0"/>
              <a:t>.</a:t>
            </a:r>
          </a:p>
          <a:p>
            <a:endParaRPr lang="en-US" sz="2400" dirty="0"/>
          </a:p>
          <a:p>
            <a:r>
              <a:rPr lang="en-US" sz="2400" dirty="0"/>
              <a:t>The application of the ICD is a complex process that involves:</a:t>
            </a:r>
          </a:p>
          <a:p>
            <a:endParaRPr lang="en-US" sz="2400" dirty="0"/>
          </a:p>
          <a:p>
            <a:pPr marL="342900" indent="-342900">
              <a:buFont typeface="Arial" panose="020B0604020202020204" pitchFamily="34" charset="0"/>
              <a:buChar char="•"/>
            </a:pPr>
            <a:r>
              <a:rPr lang="en-US" sz="2400" dirty="0"/>
              <a:t>first, assigning a code to all the causes certified by physicians on the forms (multiple causes).</a:t>
            </a:r>
          </a:p>
          <a:p>
            <a:pPr marL="342900" indent="-342900">
              <a:buFont typeface="Arial" panose="020B0604020202020204" pitchFamily="34" charset="0"/>
              <a:buChar char="•"/>
            </a:pPr>
            <a:r>
              <a:rPr lang="en-US" sz="2400" dirty="0"/>
              <a:t>then, selecting only one code for each death: the </a:t>
            </a:r>
            <a:r>
              <a:rPr lang="en-US" sz="2400" b="1" dirty="0"/>
              <a:t>underlying cause</a:t>
            </a:r>
            <a:r>
              <a:rPr lang="en-US" sz="2400" dirty="0"/>
              <a:t>. </a:t>
            </a:r>
          </a:p>
          <a:p>
            <a:endParaRPr lang="en-US" sz="2400" dirty="0"/>
          </a:p>
          <a:p>
            <a:r>
              <a:rPr lang="en-US" sz="2400" dirty="0"/>
              <a:t>Both phases are carried out according to the rules described in the ICD, and both the multiple causes and the underlying cause are used for mortality statistics.</a:t>
            </a:r>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Tree>
    <p:extLst>
      <p:ext uri="{BB962C8B-B14F-4D97-AF65-F5344CB8AC3E}">
        <p14:creationId xmlns:p14="http://schemas.microsoft.com/office/powerpoint/2010/main" val="4170687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46</a:t>
            </a:fld>
            <a:endParaRPr lang="en-US" dirty="0"/>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3: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10" name="Rettangolo 9"/>
          <p:cNvSpPr/>
          <p:nvPr/>
        </p:nvSpPr>
        <p:spPr>
          <a:xfrm>
            <a:off x="825119" y="1276513"/>
            <a:ext cx="10913084" cy="2308324"/>
          </a:xfrm>
          <a:prstGeom prst="rect">
            <a:avLst/>
          </a:prstGeom>
        </p:spPr>
        <p:txBody>
          <a:bodyPr wrap="square">
            <a:spAutoFit/>
          </a:bodyPr>
          <a:lstStyle/>
          <a:p>
            <a:r>
              <a:rPr lang="en-US" sz="2400" b="1" dirty="0"/>
              <a:t>Training set 22_23:</a:t>
            </a:r>
            <a:r>
              <a:rPr lang="en-US" sz="2400" dirty="0"/>
              <a:t> about 4 million texts.</a:t>
            </a:r>
            <a:br>
              <a:rPr lang="en-US" sz="2400" dirty="0"/>
            </a:br>
            <a:r>
              <a:rPr lang="en-US" sz="2400" dirty="0"/>
              <a:t>53,876 classes after class cleaning and drops with cutoff.</a:t>
            </a:r>
            <a:br>
              <a:rPr lang="en-US" sz="2400" dirty="0"/>
            </a:br>
            <a:r>
              <a:rPr lang="en-US" sz="2400" dirty="0"/>
              <a:t>Too much data for training: we sample progressively (starting from 300,000 texts).</a:t>
            </a:r>
          </a:p>
          <a:p>
            <a:r>
              <a:rPr lang="en-US" sz="2400" b="1" dirty="0" err="1"/>
              <a:t>DS_Gold_standard</a:t>
            </a:r>
            <a:r>
              <a:rPr lang="en-US" sz="2400" b="1" dirty="0"/>
              <a:t> (external):</a:t>
            </a:r>
            <a:r>
              <a:rPr lang="en-US" sz="2400" dirty="0"/>
              <a:t> 951 texts assigned a code whose correctness has been verified.</a:t>
            </a:r>
          </a:p>
          <a:p>
            <a:r>
              <a:rPr lang="en-US" sz="2400" b="1" dirty="0"/>
              <a:t>TEST_08_09 (</a:t>
            </a:r>
            <a:r>
              <a:rPr lang="en-US" sz="2400" b="1" dirty="0" err="1"/>
              <a:t>test_set_blind</a:t>
            </a:r>
            <a:r>
              <a:rPr lang="en-US" sz="2400" b="1" dirty="0"/>
              <a:t>):</a:t>
            </a:r>
            <a:r>
              <a:rPr lang="en-US" sz="2400" dirty="0"/>
              <a:t> 11,909 texts to be labeled.</a:t>
            </a:r>
          </a:p>
        </p:txBody>
      </p:sp>
      <p:sp>
        <p:nvSpPr>
          <p:cNvPr id="11" name="Rettangolo 10"/>
          <p:cNvSpPr/>
          <p:nvPr/>
        </p:nvSpPr>
        <p:spPr>
          <a:xfrm>
            <a:off x="825119" y="3836869"/>
            <a:ext cx="10913084" cy="2308324"/>
          </a:xfrm>
          <a:prstGeom prst="rect">
            <a:avLst/>
          </a:prstGeom>
        </p:spPr>
        <p:txBody>
          <a:bodyPr wrap="square">
            <a:spAutoFit/>
          </a:bodyPr>
          <a:lstStyle/>
          <a:p>
            <a:r>
              <a:rPr lang="it-IT" sz="2400" b="1" dirty="0" err="1"/>
              <a:t>Valid</a:t>
            </a:r>
            <a:r>
              <a:rPr lang="it-IT" sz="2400" b="1" dirty="0"/>
              <a:t> ICD </a:t>
            </a:r>
            <a:r>
              <a:rPr lang="it-IT" sz="2400" b="1" dirty="0" err="1"/>
              <a:t>codes</a:t>
            </a:r>
            <a:br>
              <a:rPr lang="it-IT" sz="2400" dirty="0"/>
            </a:br>
            <a:r>
              <a:rPr lang="it-IT" sz="2400" b="1" dirty="0" err="1"/>
              <a:t>Flag</a:t>
            </a:r>
            <a:r>
              <a:rPr lang="it-IT" sz="2400" dirty="0"/>
              <a:t> (A, C, CON, P, </a:t>
            </a:r>
            <a:r>
              <a:rPr lang="it-IT" sz="2400" dirty="0" err="1"/>
              <a:t>etc</a:t>
            </a:r>
            <a:r>
              <a:rPr lang="it-IT" sz="2400" dirty="0"/>
              <a:t>). </a:t>
            </a:r>
            <a:r>
              <a:rPr lang="it-IT" sz="2400" dirty="0" err="1"/>
              <a:t>Example</a:t>
            </a:r>
            <a:r>
              <a:rPr lang="it-IT" sz="2400" dirty="0"/>
              <a:t>:</a:t>
            </a:r>
            <a:br>
              <a:rPr lang="it-IT" sz="2400" dirty="0"/>
            </a:br>
            <a:r>
              <a:rPr lang="it-IT" sz="2400" b="1" dirty="0" err="1"/>
              <a:t>Separators</a:t>
            </a:r>
            <a:r>
              <a:rPr lang="it-IT" sz="2400" dirty="0"/>
              <a:t> (‘;’, ‘/’, </a:t>
            </a:r>
            <a:r>
              <a:rPr lang="it-IT" sz="2400" dirty="0" err="1"/>
              <a:t>etc</a:t>
            </a:r>
            <a:r>
              <a:rPr lang="it-IT" sz="2400" dirty="0"/>
              <a:t>). </a:t>
            </a:r>
            <a:r>
              <a:rPr lang="it-IT" sz="2400" dirty="0" err="1"/>
              <a:t>Example</a:t>
            </a:r>
            <a:r>
              <a:rPr lang="it-IT" sz="2400" dirty="0"/>
              <a:t>: </a:t>
            </a:r>
            <a:r>
              <a:rPr lang="it-IT" sz="2400" i="1" dirty="0"/>
              <a:t>CACHESSIA TERMINALE CON IRA IN GRANDE ANZIANO</a:t>
            </a:r>
            <a:r>
              <a:rPr lang="it-IT" sz="2400" dirty="0"/>
              <a:t> </a:t>
            </a:r>
            <a:r>
              <a:rPr lang="it-IT" sz="2400" dirty="0" err="1"/>
              <a:t>coded</a:t>
            </a:r>
            <a:r>
              <a:rPr lang="it-IT" sz="2400" dirty="0"/>
              <a:t> </a:t>
            </a:r>
            <a:r>
              <a:rPr lang="it-IT" sz="2400" dirty="0" err="1"/>
              <a:t>as</a:t>
            </a:r>
            <a:r>
              <a:rPr lang="it-IT" sz="2400" dirty="0"/>
              <a:t> </a:t>
            </a:r>
            <a:r>
              <a:rPr lang="it-IT" sz="2400" b="1" dirty="0"/>
              <a:t>N179 / R54</a:t>
            </a:r>
            <a:r>
              <a:rPr lang="it-IT" sz="2400" dirty="0"/>
              <a:t>.</a:t>
            </a:r>
          </a:p>
          <a:p>
            <a:r>
              <a:rPr lang="it-IT" sz="2400" dirty="0"/>
              <a:t>(</a:t>
            </a:r>
            <a:r>
              <a:rPr lang="it-IT" sz="2400" i="1" dirty="0"/>
              <a:t>Note: “Cachessia terminale con IRA in grande anziano” = “Terminal </a:t>
            </a:r>
            <a:r>
              <a:rPr lang="it-IT" sz="2400" i="1" dirty="0" err="1"/>
              <a:t>cachexia</a:t>
            </a:r>
            <a:r>
              <a:rPr lang="it-IT" sz="2400" i="1" dirty="0"/>
              <a:t> with acute </a:t>
            </a:r>
            <a:r>
              <a:rPr lang="it-IT" sz="2400" i="1" dirty="0" err="1"/>
              <a:t>renal</a:t>
            </a:r>
            <a:r>
              <a:rPr lang="it-IT" sz="2400" i="1" dirty="0"/>
              <a:t> </a:t>
            </a:r>
            <a:r>
              <a:rPr lang="it-IT" sz="2400" i="1" dirty="0" err="1"/>
              <a:t>failure</a:t>
            </a:r>
            <a:r>
              <a:rPr lang="it-IT" sz="2400" i="1" dirty="0"/>
              <a:t> in a </a:t>
            </a:r>
            <a:r>
              <a:rPr lang="it-IT" sz="2400" i="1" dirty="0" err="1"/>
              <a:t>very</a:t>
            </a:r>
            <a:r>
              <a:rPr lang="it-IT" sz="2400" i="1" dirty="0"/>
              <a:t> </a:t>
            </a:r>
            <a:r>
              <a:rPr lang="it-IT" sz="2400" i="1" dirty="0" err="1"/>
              <a:t>elderly</a:t>
            </a:r>
            <a:r>
              <a:rPr lang="it-IT" sz="2400" i="1" dirty="0"/>
              <a:t> </a:t>
            </a:r>
            <a:r>
              <a:rPr lang="it-IT" sz="2400" i="1" dirty="0" err="1"/>
              <a:t>patient</a:t>
            </a:r>
            <a:r>
              <a:rPr lang="it-IT" sz="2400" i="1" dirty="0"/>
              <a:t>.”</a:t>
            </a:r>
            <a:r>
              <a:rPr lang="it-IT" sz="2400" dirty="0"/>
              <a:t>)</a:t>
            </a:r>
          </a:p>
        </p:txBody>
      </p:sp>
    </p:spTree>
    <p:extLst>
      <p:ext uri="{BB962C8B-B14F-4D97-AF65-F5344CB8AC3E}">
        <p14:creationId xmlns:p14="http://schemas.microsoft.com/office/powerpoint/2010/main" val="14512021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47</a:t>
            </a:fld>
            <a:endParaRPr lang="en-US" dirty="0"/>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2" name="Rettangolo 1"/>
          <p:cNvSpPr/>
          <p:nvPr/>
        </p:nvSpPr>
        <p:spPr>
          <a:xfrm>
            <a:off x="574294" y="1373599"/>
            <a:ext cx="7458536" cy="4524315"/>
          </a:xfrm>
          <a:prstGeom prst="rect">
            <a:avLst/>
          </a:prstGeom>
        </p:spPr>
        <p:txBody>
          <a:bodyPr wrap="square">
            <a:spAutoFit/>
          </a:bodyPr>
          <a:lstStyle/>
          <a:p>
            <a:r>
              <a:rPr lang="en-US" sz="2400" b="1" dirty="0"/>
              <a:t>TF-IDF</a:t>
            </a:r>
            <a:r>
              <a:rPr lang="en-US" sz="2400" dirty="0"/>
              <a:t> on the dataset to obtain the normalized term-document matrix; </a:t>
            </a:r>
            <a:r>
              <a:rPr lang="en-US" sz="2400" b="1" dirty="0"/>
              <a:t>Random Forest</a:t>
            </a:r>
            <a:r>
              <a:rPr lang="en-US" sz="2400" dirty="0"/>
              <a:t> is used for classification (which works on SL).</a:t>
            </a:r>
          </a:p>
          <a:p>
            <a:r>
              <a:rPr lang="en-US" sz="2400" dirty="0"/>
              <a:t>We take a sample of </a:t>
            </a:r>
            <a:r>
              <a:rPr lang="en-US" sz="2400" b="1" dirty="0"/>
              <a:t>300,000 texts</a:t>
            </a:r>
            <a:r>
              <a:rPr lang="en-US" sz="2400" dirty="0"/>
              <a:t> for training.</a:t>
            </a:r>
            <a:br>
              <a:rPr lang="en-US" sz="2400" dirty="0"/>
            </a:br>
            <a:r>
              <a:rPr lang="en-US" sz="2400" dirty="0"/>
              <a:t>Initially </a:t>
            </a:r>
            <a:r>
              <a:rPr lang="en-US" sz="2400" b="1" dirty="0"/>
              <a:t>54,767 classes</a:t>
            </a:r>
            <a:r>
              <a:rPr lang="en-US" sz="2400" dirty="0"/>
              <a:t>, later reduced to </a:t>
            </a:r>
            <a:r>
              <a:rPr lang="en-US" sz="2400" b="1" dirty="0"/>
              <a:t>27,364</a:t>
            </a:r>
            <a:r>
              <a:rPr lang="en-US" sz="2400" dirty="0"/>
              <a:t>, after non-semantic splitting (in cases where the number of classes equals the number of texts).</a:t>
            </a:r>
            <a:br>
              <a:rPr lang="en-US" sz="2400" dirty="0"/>
            </a:br>
            <a:r>
              <a:rPr lang="en-US" sz="2400" dirty="0"/>
              <a:t>We use a </a:t>
            </a:r>
            <a:r>
              <a:rPr lang="en-US" sz="2400" b="1" dirty="0"/>
              <a:t>cutoff of 2</a:t>
            </a:r>
            <a:r>
              <a:rPr lang="en-US" sz="2400" dirty="0"/>
              <a:t>, meaning we consider only classes with at least two instances.</a:t>
            </a:r>
            <a:br>
              <a:rPr lang="en-US" sz="2400" dirty="0"/>
            </a:br>
            <a:r>
              <a:rPr lang="en-US" sz="2400" dirty="0"/>
              <a:t>There are about </a:t>
            </a:r>
            <a:r>
              <a:rPr lang="en-US" sz="2400" b="1" dirty="0"/>
              <a:t>17,666 classes</a:t>
            </a:r>
            <a:r>
              <a:rPr lang="en-US" sz="2400" dirty="0"/>
              <a:t> that appear only once, and these are removed.</a:t>
            </a:r>
            <a:br>
              <a:rPr lang="en-US" sz="2400" dirty="0"/>
            </a:br>
            <a:r>
              <a:rPr lang="en-US" sz="2400" dirty="0"/>
              <a:t>In the end, we are left with </a:t>
            </a:r>
            <a:r>
              <a:rPr lang="en-US" sz="2400" b="1" dirty="0"/>
              <a:t>9,698 classes</a:t>
            </a:r>
            <a:r>
              <a:rPr lang="en-US" sz="2400" dirty="0"/>
              <a:t>.</a:t>
            </a:r>
          </a:p>
        </p:txBody>
      </p:sp>
      <p:pic>
        <p:nvPicPr>
          <p:cNvPr id="3" name="Immagin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016" y="1759352"/>
            <a:ext cx="4356310" cy="3541853"/>
          </a:xfrm>
          <a:prstGeom prst="rect">
            <a:avLst/>
          </a:prstGeom>
        </p:spPr>
      </p:pic>
    </p:spTree>
    <p:extLst>
      <p:ext uri="{BB962C8B-B14F-4D97-AF65-F5344CB8AC3E}">
        <p14:creationId xmlns:p14="http://schemas.microsoft.com/office/powerpoint/2010/main" val="2215050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48</a:t>
            </a:fld>
            <a:endParaRPr lang="en-US" dirty="0"/>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8" name="Rectangle 3"/>
          <p:cNvSpPr>
            <a:spLocks noChangeArrowheads="1"/>
          </p:cNvSpPr>
          <p:nvPr/>
        </p:nvSpPr>
        <p:spPr bwMode="auto">
          <a:xfrm>
            <a:off x="468895" y="5481715"/>
            <a:ext cx="100828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it-IT" altLang="it-IT" sz="2000" b="0" i="1" u="none" strike="noStrike" cap="none" normalizeH="0" baseline="0" dirty="0">
                <a:ln>
                  <a:noFill/>
                </a:ln>
                <a:solidFill>
                  <a:schemeClr val="tx1"/>
                </a:solidFill>
                <a:effectLst/>
                <a:latin typeface="Arial" panose="020B0604020202020204" pitchFamily="34" charset="0"/>
              </a:rPr>
              <a:t>(Note: The “%” </a:t>
            </a:r>
            <a:r>
              <a:rPr kumimoji="0" lang="it-IT" altLang="it-IT" sz="2000" b="0" i="1" u="none" strike="noStrike" cap="none" normalizeH="0" baseline="0" dirty="0" err="1">
                <a:ln>
                  <a:noFill/>
                </a:ln>
                <a:solidFill>
                  <a:schemeClr val="tx1"/>
                </a:solidFill>
                <a:effectLst/>
                <a:latin typeface="Arial" panose="020B0604020202020204" pitchFamily="34" charset="0"/>
              </a:rPr>
              <a:t>signs</a:t>
            </a:r>
            <a:r>
              <a:rPr kumimoji="0" lang="it-IT" altLang="it-IT" sz="2000" b="0" i="1" u="none" strike="noStrike" cap="none" normalizeH="0" baseline="0" dirty="0">
                <a:ln>
                  <a:noFill/>
                </a:ln>
                <a:solidFill>
                  <a:schemeClr val="tx1"/>
                </a:solidFill>
                <a:effectLst/>
                <a:latin typeface="Arial" panose="020B0604020202020204" pitchFamily="34" charset="0"/>
              </a:rPr>
              <a:t> </a:t>
            </a:r>
            <a:r>
              <a:rPr kumimoji="0" lang="it-IT" altLang="it-IT" sz="2000" b="0" i="1" u="none" strike="noStrike" cap="none" normalizeH="0" baseline="0" dirty="0" err="1">
                <a:ln>
                  <a:noFill/>
                </a:ln>
                <a:solidFill>
                  <a:schemeClr val="tx1"/>
                </a:solidFill>
                <a:effectLst/>
                <a:latin typeface="Arial" panose="020B0604020202020204" pitchFamily="34" charset="0"/>
              </a:rPr>
              <a:t>seem</a:t>
            </a:r>
            <a:r>
              <a:rPr kumimoji="0" lang="it-IT" altLang="it-IT" sz="2000" b="0" i="1" u="none" strike="noStrike" cap="none" normalizeH="0" baseline="0" dirty="0">
                <a:ln>
                  <a:noFill/>
                </a:ln>
                <a:solidFill>
                  <a:schemeClr val="tx1"/>
                </a:solidFill>
                <a:effectLst/>
                <a:latin typeface="Arial" panose="020B0604020202020204" pitchFamily="34" charset="0"/>
              </a:rPr>
              <a:t> to be </a:t>
            </a:r>
            <a:r>
              <a:rPr kumimoji="0" lang="it-IT" altLang="it-IT" sz="2000" b="0" i="1" u="none" strike="noStrike" cap="none" normalizeH="0" baseline="0" dirty="0" err="1">
                <a:ln>
                  <a:noFill/>
                </a:ln>
                <a:solidFill>
                  <a:schemeClr val="tx1"/>
                </a:solidFill>
                <a:effectLst/>
                <a:latin typeface="Arial" panose="020B0604020202020204" pitchFamily="34" charset="0"/>
              </a:rPr>
              <a:t>used</a:t>
            </a:r>
            <a:r>
              <a:rPr kumimoji="0" lang="it-IT" altLang="it-IT" sz="2000" b="0" i="1" u="none" strike="noStrike" cap="none" normalizeH="0" baseline="0" dirty="0">
                <a:ln>
                  <a:noFill/>
                </a:ln>
                <a:solidFill>
                  <a:schemeClr val="tx1"/>
                </a:solidFill>
                <a:effectLst/>
                <a:latin typeface="Arial" panose="020B0604020202020204" pitchFamily="34" charset="0"/>
              </a:rPr>
              <a:t> </a:t>
            </a:r>
            <a:r>
              <a:rPr kumimoji="0" lang="it-IT" altLang="it-IT" sz="2000" b="0" i="1" u="none" strike="noStrike" cap="none" normalizeH="0" baseline="0" dirty="0" err="1">
                <a:ln>
                  <a:noFill/>
                </a:ln>
                <a:solidFill>
                  <a:schemeClr val="tx1"/>
                </a:solidFill>
                <a:effectLst/>
                <a:latin typeface="Arial" panose="020B0604020202020204" pitchFamily="34" charset="0"/>
              </a:rPr>
              <a:t>instead</a:t>
            </a:r>
            <a:r>
              <a:rPr kumimoji="0" lang="it-IT" altLang="it-IT" sz="2000" b="0" i="1" u="none" strike="noStrike" cap="none" normalizeH="0" baseline="0" dirty="0">
                <a:ln>
                  <a:noFill/>
                </a:ln>
                <a:solidFill>
                  <a:schemeClr val="tx1"/>
                </a:solidFill>
                <a:effectLst/>
                <a:latin typeface="Arial" panose="020B0604020202020204" pitchFamily="34" charset="0"/>
              </a:rPr>
              <a:t> of </a:t>
            </a:r>
            <a:r>
              <a:rPr kumimoji="0" lang="it-IT" altLang="it-IT" sz="2000" b="0" i="1" u="none" strike="noStrike" cap="none" normalizeH="0" baseline="0" dirty="0" err="1">
                <a:ln>
                  <a:noFill/>
                </a:ln>
                <a:solidFill>
                  <a:schemeClr val="tx1"/>
                </a:solidFill>
                <a:effectLst/>
                <a:latin typeface="Arial" panose="020B0604020202020204" pitchFamily="34" charset="0"/>
              </a:rPr>
              <a:t>decimals</a:t>
            </a:r>
            <a:r>
              <a:rPr kumimoji="0" lang="it-IT" altLang="it-IT" sz="2000" b="0" i="1" u="none" strike="noStrike" cap="none" normalizeH="0" baseline="0" dirty="0">
                <a:ln>
                  <a:noFill/>
                </a:ln>
                <a:solidFill>
                  <a:schemeClr val="tx1"/>
                </a:solidFill>
                <a:effectLst/>
                <a:latin typeface="Arial" panose="020B0604020202020204" pitchFamily="34" charset="0"/>
              </a:rPr>
              <a:t> — e.g., </a:t>
            </a:r>
            <a:r>
              <a:rPr kumimoji="0" lang="it-IT" altLang="it-IT" sz="2000" b="0" i="1" u="none" strike="noStrike" cap="none" normalizeH="0" baseline="0" dirty="0" err="1">
                <a:ln>
                  <a:noFill/>
                </a:ln>
                <a:solidFill>
                  <a:schemeClr val="tx1"/>
                </a:solidFill>
                <a:effectLst/>
                <a:latin typeface="Arial" panose="020B0604020202020204" pitchFamily="34" charset="0"/>
              </a:rPr>
              <a:t>accuracy</a:t>
            </a:r>
            <a:r>
              <a:rPr kumimoji="0" lang="it-IT" altLang="it-IT" sz="2000" b="0" i="1" u="none" strike="noStrike" cap="none" normalizeH="0" baseline="0" dirty="0">
                <a:ln>
                  <a:noFill/>
                </a:ln>
                <a:solidFill>
                  <a:schemeClr val="tx1"/>
                </a:solidFill>
                <a:effectLst/>
                <a:latin typeface="Arial" panose="020B0604020202020204" pitchFamily="34" charset="0"/>
              </a:rPr>
              <a:t> 0.9761 </a:t>
            </a:r>
            <a:r>
              <a:rPr kumimoji="0" lang="it-IT" altLang="it-IT" sz="2000" b="0" i="1" u="none" strike="noStrike" cap="none" normalizeH="0" baseline="0" dirty="0" err="1">
                <a:ln>
                  <a:noFill/>
                </a:ln>
                <a:solidFill>
                  <a:schemeClr val="tx1"/>
                </a:solidFill>
                <a:effectLst/>
                <a:latin typeface="Arial" panose="020B0604020202020204" pitchFamily="34" charset="0"/>
              </a:rPr>
              <a:t>likely</a:t>
            </a:r>
            <a:r>
              <a:rPr kumimoji="0" lang="it-IT" altLang="it-IT" sz="2000" b="0" i="1" u="none" strike="noStrike" cap="none" normalizeH="0" baseline="0" dirty="0">
                <a:ln>
                  <a:noFill/>
                </a:ln>
                <a:solidFill>
                  <a:schemeClr val="tx1"/>
                </a:solidFill>
                <a:effectLst/>
                <a:latin typeface="Arial" panose="020B0604020202020204" pitchFamily="34" charset="0"/>
              </a:rPr>
              <a:t> </a:t>
            </a:r>
            <a:r>
              <a:rPr kumimoji="0" lang="it-IT" altLang="it-IT" sz="2000" b="0" i="1" u="none" strike="noStrike" cap="none" normalizeH="0" baseline="0" dirty="0" err="1">
                <a:ln>
                  <a:noFill/>
                </a:ln>
                <a:solidFill>
                  <a:schemeClr val="tx1"/>
                </a:solidFill>
                <a:effectLst/>
                <a:latin typeface="Arial" panose="020B0604020202020204" pitchFamily="34" charset="0"/>
              </a:rPr>
              <a:t>means</a:t>
            </a:r>
            <a:r>
              <a:rPr kumimoji="0" lang="it-IT" altLang="it-IT" sz="2000" b="0" i="1" u="none" strike="noStrike" cap="none" normalizeH="0" baseline="0" dirty="0">
                <a:ln>
                  <a:noFill/>
                </a:ln>
                <a:solidFill>
                  <a:schemeClr val="tx1"/>
                </a:solidFill>
                <a:effectLst/>
                <a:latin typeface="Arial" panose="020B0604020202020204" pitchFamily="34" charset="0"/>
              </a:rPr>
              <a:t> 97.61%.)</a:t>
            </a:r>
            <a:endParaRPr kumimoji="0" lang="it-IT" altLang="it-IT" sz="2000" b="0" i="0" u="none" strike="noStrike" cap="none" normalizeH="0" baseline="0" dirty="0">
              <a:ln>
                <a:noFill/>
              </a:ln>
              <a:solidFill>
                <a:schemeClr val="tx1"/>
              </a:solidFill>
              <a:effectLst/>
              <a:latin typeface="Arial" panose="020B0604020202020204" pitchFamily="34" charset="0"/>
            </a:endParaRPr>
          </a:p>
        </p:txBody>
      </p:sp>
      <p:sp>
        <p:nvSpPr>
          <p:cNvPr id="9" name="Rettangolo 8"/>
          <p:cNvSpPr/>
          <p:nvPr/>
        </p:nvSpPr>
        <p:spPr>
          <a:xfrm>
            <a:off x="468895" y="1224084"/>
            <a:ext cx="11646829" cy="4401205"/>
          </a:xfrm>
          <a:prstGeom prst="rect">
            <a:avLst/>
          </a:prstGeom>
        </p:spPr>
        <p:txBody>
          <a:bodyPr wrap="square">
            <a:spAutoFit/>
          </a:bodyPr>
          <a:lstStyle/>
          <a:p>
            <a:pPr lvl="0" defTabSz="914400"/>
            <a:r>
              <a:rPr lang="it-IT" altLang="it-IT" sz="2000" b="1" dirty="0">
                <a:latin typeface="Arial" panose="020B0604020202020204" pitchFamily="34" charset="0"/>
              </a:rPr>
              <a:t>On training set of 300,000:</a:t>
            </a:r>
            <a:br>
              <a:rPr lang="it-IT" altLang="it-IT" sz="2000" dirty="0">
                <a:latin typeface="Arial" panose="020B0604020202020204" pitchFamily="34" charset="0"/>
              </a:rPr>
            </a:br>
            <a:r>
              <a:rPr lang="it-IT" altLang="it-IT" sz="2000" dirty="0" err="1">
                <a:latin typeface="Arial" panose="020B0604020202020204" pitchFamily="34" charset="0"/>
              </a:rPr>
              <a:t>Accuracy</a:t>
            </a:r>
            <a:r>
              <a:rPr lang="it-IT" altLang="it-IT" sz="2000" dirty="0">
                <a:latin typeface="Arial" panose="020B0604020202020204" pitchFamily="34" charset="0"/>
              </a:rPr>
              <a:t>: 0.9761%</a:t>
            </a:r>
            <a:br>
              <a:rPr lang="it-IT" altLang="it-IT" sz="2000" dirty="0">
                <a:latin typeface="Arial" panose="020B0604020202020204" pitchFamily="34" charset="0"/>
              </a:rPr>
            </a:br>
            <a:r>
              <a:rPr lang="it-IT" altLang="it-IT" sz="2000" dirty="0">
                <a:latin typeface="Arial" panose="020B0604020202020204" pitchFamily="34" charset="0"/>
              </a:rPr>
              <a:t>F1-score (macro-</a:t>
            </a:r>
            <a:r>
              <a:rPr lang="it-IT" altLang="it-IT" sz="2000" dirty="0" err="1">
                <a:latin typeface="Arial" panose="020B0604020202020204" pitchFamily="34" charset="0"/>
              </a:rPr>
              <a:t>weighted</a:t>
            </a:r>
            <a:r>
              <a:rPr lang="it-IT" altLang="it-IT" sz="2000" dirty="0">
                <a:latin typeface="Arial" panose="020B0604020202020204" pitchFamily="34" charset="0"/>
              </a:rPr>
              <a:t>): 0.9745%</a:t>
            </a:r>
          </a:p>
          <a:p>
            <a:pPr lvl="0" defTabSz="914400"/>
            <a:r>
              <a:rPr lang="it-IT" altLang="it-IT" sz="2000" b="1" dirty="0">
                <a:latin typeface="Arial" panose="020B0604020202020204" pitchFamily="34" charset="0"/>
              </a:rPr>
              <a:t>On test set (20%):</a:t>
            </a:r>
            <a:br>
              <a:rPr lang="it-IT" altLang="it-IT" sz="2000" dirty="0">
                <a:latin typeface="Arial" panose="020B0604020202020204" pitchFamily="34" charset="0"/>
              </a:rPr>
            </a:br>
            <a:r>
              <a:rPr lang="it-IT" altLang="it-IT" sz="2000" dirty="0" err="1">
                <a:latin typeface="Arial" panose="020B0604020202020204" pitchFamily="34" charset="0"/>
              </a:rPr>
              <a:t>Accuracy</a:t>
            </a:r>
            <a:r>
              <a:rPr lang="it-IT" altLang="it-IT" sz="2000" dirty="0">
                <a:latin typeface="Arial" panose="020B0604020202020204" pitchFamily="34" charset="0"/>
              </a:rPr>
              <a:t>: 0.9467%</a:t>
            </a:r>
            <a:br>
              <a:rPr lang="it-IT" altLang="it-IT" sz="2000" dirty="0">
                <a:latin typeface="Arial" panose="020B0604020202020204" pitchFamily="34" charset="0"/>
              </a:rPr>
            </a:br>
            <a:r>
              <a:rPr lang="it-IT" altLang="it-IT" sz="2000" dirty="0">
                <a:latin typeface="Arial" panose="020B0604020202020204" pitchFamily="34" charset="0"/>
              </a:rPr>
              <a:t>F1-score (macro-</a:t>
            </a:r>
            <a:r>
              <a:rPr lang="it-IT" altLang="it-IT" sz="2000" dirty="0" err="1">
                <a:latin typeface="Arial" panose="020B0604020202020204" pitchFamily="34" charset="0"/>
              </a:rPr>
              <a:t>weighted</a:t>
            </a:r>
            <a:r>
              <a:rPr lang="it-IT" altLang="it-IT" sz="2000" dirty="0">
                <a:latin typeface="Arial" panose="020B0604020202020204" pitchFamily="34" charset="0"/>
              </a:rPr>
              <a:t>): 0.9422%</a:t>
            </a:r>
          </a:p>
          <a:p>
            <a:pPr lvl="0" defTabSz="914400"/>
            <a:endParaRPr lang="it-IT" altLang="it-IT" sz="2000" dirty="0">
              <a:latin typeface="Arial" panose="020B0604020202020204" pitchFamily="34" charset="0"/>
            </a:endParaRPr>
          </a:p>
          <a:p>
            <a:pPr lvl="0" defTabSz="914400"/>
            <a:r>
              <a:rPr lang="it-IT" altLang="it-IT" sz="2000" b="1" dirty="0" err="1">
                <a:latin typeface="Arial" panose="020B0604020202020204" pitchFamily="34" charset="0"/>
              </a:rPr>
              <a:t>Accuracy</a:t>
            </a:r>
            <a:r>
              <a:rPr lang="it-IT" altLang="it-IT" sz="2000" b="1" dirty="0">
                <a:latin typeface="Arial" panose="020B0604020202020204" pitchFamily="34" charset="0"/>
              </a:rPr>
              <a:t> on test set of </a:t>
            </a:r>
            <a:r>
              <a:rPr lang="it-IT" altLang="it-IT" sz="2000" b="1" dirty="0" err="1">
                <a:latin typeface="Arial" panose="020B0604020202020204" pitchFamily="34" charset="0"/>
              </a:rPr>
              <a:t>about</a:t>
            </a:r>
            <a:r>
              <a:rPr lang="it-IT" altLang="it-IT" sz="2000" b="1" dirty="0">
                <a:latin typeface="Arial" panose="020B0604020202020204" pitchFamily="34" charset="0"/>
              </a:rPr>
              <a:t> 65,161 </a:t>
            </a:r>
            <a:r>
              <a:rPr lang="it-IT" altLang="it-IT" sz="2000" b="1" dirty="0" err="1">
                <a:latin typeface="Arial" panose="020B0604020202020204" pitchFamily="34" charset="0"/>
              </a:rPr>
              <a:t>texts</a:t>
            </a:r>
            <a:r>
              <a:rPr lang="it-IT" altLang="it-IT" sz="2000" b="1" dirty="0">
                <a:latin typeface="Arial" panose="020B0604020202020204" pitchFamily="34" charset="0"/>
              </a:rPr>
              <a:t>:</a:t>
            </a:r>
            <a:endParaRPr lang="it-IT" altLang="it-IT" sz="2000" dirty="0">
              <a:latin typeface="Arial" panose="020B0604020202020204" pitchFamily="34" charset="0"/>
            </a:endParaRPr>
          </a:p>
          <a:p>
            <a:pPr lvl="0" defTabSz="914400">
              <a:buFontTx/>
              <a:buChar char="•"/>
            </a:pPr>
            <a:r>
              <a:rPr lang="it-IT" altLang="it-IT" sz="2000" dirty="0">
                <a:latin typeface="Arial" panose="020B0604020202020204" pitchFamily="34" charset="0"/>
              </a:rPr>
              <a:t>#</a:t>
            </a:r>
            <a:r>
              <a:rPr lang="it-IT" altLang="it-IT" sz="2000" dirty="0" err="1">
                <a:latin typeface="Arial" panose="020B0604020202020204" pitchFamily="34" charset="0"/>
              </a:rPr>
              <a:t>codes</a:t>
            </a:r>
            <a:r>
              <a:rPr lang="it-IT" altLang="it-IT" sz="2000" dirty="0">
                <a:latin typeface="Arial" panose="020B0604020202020204" pitchFamily="34" charset="0"/>
              </a:rPr>
              <a:t> = #</a:t>
            </a:r>
            <a:r>
              <a:rPr lang="it-IT" altLang="it-IT" sz="2000" dirty="0" err="1">
                <a:latin typeface="Arial" panose="020B0604020202020204" pitchFamily="34" charset="0"/>
              </a:rPr>
              <a:t>texts</a:t>
            </a:r>
            <a:r>
              <a:rPr lang="it-IT" altLang="it-IT" sz="2000" dirty="0">
                <a:latin typeface="Arial" panose="020B0604020202020204" pitchFamily="34" charset="0"/>
              </a:rPr>
              <a:t> (</a:t>
            </a:r>
            <a:r>
              <a:rPr lang="it-IT" altLang="it-IT" sz="2000" dirty="0" err="1">
                <a:latin typeface="Arial" panose="020B0604020202020204" pitchFamily="34" charset="0"/>
              </a:rPr>
              <a:t>size</a:t>
            </a:r>
            <a:r>
              <a:rPr lang="it-IT" altLang="it-IT" sz="2000" dirty="0">
                <a:latin typeface="Arial" panose="020B0604020202020204" pitchFamily="34" charset="0"/>
              </a:rPr>
              <a:t> = 63,636, 97.66% of the test </a:t>
            </a:r>
            <a:r>
              <a:rPr lang="it-IT" altLang="it-IT" sz="2000" dirty="0" err="1">
                <a:latin typeface="Arial" panose="020B0604020202020204" pitchFamily="34" charset="0"/>
              </a:rPr>
              <a:t>dataset</a:t>
            </a:r>
            <a:r>
              <a:rPr lang="it-IT" altLang="it-IT" sz="2000" dirty="0">
                <a:latin typeface="Arial" panose="020B0604020202020204" pitchFamily="34" charset="0"/>
              </a:rPr>
              <a:t>): </a:t>
            </a:r>
            <a:r>
              <a:rPr lang="it-IT" altLang="it-IT" sz="2000" dirty="0" err="1">
                <a:latin typeface="Arial" panose="020B0604020202020204" pitchFamily="34" charset="0"/>
              </a:rPr>
              <a:t>Accuracy</a:t>
            </a:r>
            <a:r>
              <a:rPr lang="it-IT" altLang="it-IT" sz="2000" dirty="0">
                <a:latin typeface="Arial" panose="020B0604020202020204" pitchFamily="34" charset="0"/>
              </a:rPr>
              <a:t>: 0.9528% – F1-score (macro-</a:t>
            </a:r>
            <a:r>
              <a:rPr lang="it-IT" altLang="it-IT" sz="2000" dirty="0" err="1">
                <a:latin typeface="Arial" panose="020B0604020202020204" pitchFamily="34" charset="0"/>
              </a:rPr>
              <a:t>weighted</a:t>
            </a:r>
            <a:r>
              <a:rPr lang="it-IT" altLang="it-IT" sz="2000" dirty="0">
                <a:latin typeface="Arial" panose="020B0604020202020204" pitchFamily="34" charset="0"/>
              </a:rPr>
              <a:t>): 0.9505%</a:t>
            </a:r>
          </a:p>
          <a:p>
            <a:pPr lvl="0" defTabSz="914400">
              <a:buFontTx/>
              <a:buChar char="•"/>
            </a:pPr>
            <a:r>
              <a:rPr lang="it-IT" altLang="it-IT" sz="2000" dirty="0">
                <a:latin typeface="Arial" panose="020B0604020202020204" pitchFamily="34" charset="0"/>
              </a:rPr>
              <a:t>#</a:t>
            </a:r>
            <a:r>
              <a:rPr lang="it-IT" altLang="it-IT" sz="2000" dirty="0" err="1">
                <a:latin typeface="Arial" panose="020B0604020202020204" pitchFamily="34" charset="0"/>
              </a:rPr>
              <a:t>codes</a:t>
            </a:r>
            <a:r>
              <a:rPr lang="it-IT" altLang="it-IT" sz="2000" dirty="0">
                <a:latin typeface="Arial" panose="020B0604020202020204" pitchFamily="34" charset="0"/>
              </a:rPr>
              <a:t> &gt; #</a:t>
            </a:r>
            <a:r>
              <a:rPr lang="it-IT" altLang="it-IT" sz="2000" dirty="0" err="1">
                <a:latin typeface="Arial" panose="020B0604020202020204" pitchFamily="34" charset="0"/>
              </a:rPr>
              <a:t>texts</a:t>
            </a:r>
            <a:r>
              <a:rPr lang="it-IT" altLang="it-IT" sz="2000" dirty="0">
                <a:latin typeface="Arial" panose="020B0604020202020204" pitchFamily="34" charset="0"/>
              </a:rPr>
              <a:t> (</a:t>
            </a:r>
            <a:r>
              <a:rPr lang="it-IT" altLang="it-IT" sz="2000" dirty="0" err="1">
                <a:latin typeface="Arial" panose="020B0604020202020204" pitchFamily="34" charset="0"/>
              </a:rPr>
              <a:t>size</a:t>
            </a:r>
            <a:r>
              <a:rPr lang="it-IT" altLang="it-IT" sz="2000" dirty="0">
                <a:latin typeface="Arial" panose="020B0604020202020204" pitchFamily="34" charset="0"/>
              </a:rPr>
              <a:t> = 1,525, 2.34% of the test </a:t>
            </a:r>
            <a:r>
              <a:rPr lang="it-IT" altLang="it-IT" sz="2000" dirty="0" err="1">
                <a:latin typeface="Arial" panose="020B0604020202020204" pitchFamily="34" charset="0"/>
              </a:rPr>
              <a:t>dataset</a:t>
            </a:r>
            <a:r>
              <a:rPr lang="it-IT" altLang="it-IT" sz="2000" dirty="0">
                <a:latin typeface="Arial" panose="020B0604020202020204" pitchFamily="34" charset="0"/>
              </a:rPr>
              <a:t>): </a:t>
            </a:r>
            <a:r>
              <a:rPr lang="it-IT" altLang="it-IT" sz="2000" dirty="0" err="1">
                <a:latin typeface="Arial" panose="020B0604020202020204" pitchFamily="34" charset="0"/>
              </a:rPr>
              <a:t>Accuracy</a:t>
            </a:r>
            <a:r>
              <a:rPr lang="it-IT" altLang="it-IT" sz="2000" dirty="0">
                <a:latin typeface="Arial" panose="020B0604020202020204" pitchFamily="34" charset="0"/>
              </a:rPr>
              <a:t>: 0.69% – F1-score (macro-</a:t>
            </a:r>
            <a:r>
              <a:rPr lang="it-IT" altLang="it-IT" sz="2000" dirty="0" err="1">
                <a:latin typeface="Arial" panose="020B0604020202020204" pitchFamily="34" charset="0"/>
              </a:rPr>
              <a:t>weighted</a:t>
            </a:r>
            <a:r>
              <a:rPr lang="it-IT" altLang="it-IT" sz="2000" dirty="0">
                <a:latin typeface="Arial" panose="020B0604020202020204" pitchFamily="34" charset="0"/>
              </a:rPr>
              <a:t>): 0.71% → 1,060 </a:t>
            </a:r>
            <a:r>
              <a:rPr lang="it-IT" altLang="it-IT" sz="2000" dirty="0" err="1">
                <a:latin typeface="Arial" panose="020B0604020202020204" pitchFamily="34" charset="0"/>
              </a:rPr>
              <a:t>correct</a:t>
            </a:r>
            <a:r>
              <a:rPr lang="it-IT" altLang="it-IT" sz="2000" dirty="0">
                <a:latin typeface="Arial" panose="020B0604020202020204" pitchFamily="34" charset="0"/>
              </a:rPr>
              <a:t>, 465 </a:t>
            </a:r>
            <a:r>
              <a:rPr lang="it-IT" altLang="it-IT" sz="2000" dirty="0" err="1">
                <a:latin typeface="Arial" panose="020B0604020202020204" pitchFamily="34" charset="0"/>
              </a:rPr>
              <a:t>incorrect</a:t>
            </a:r>
            <a:r>
              <a:rPr lang="it-IT" altLang="it-IT" sz="2000" dirty="0">
                <a:latin typeface="Arial" panose="020B0604020202020204" pitchFamily="34" charset="0"/>
              </a:rPr>
              <a:t> (</a:t>
            </a:r>
            <a:r>
              <a:rPr lang="it-IT" altLang="it-IT" sz="2000" dirty="0" err="1">
                <a:latin typeface="Arial" panose="020B0604020202020204" pitchFamily="34" charset="0"/>
              </a:rPr>
              <a:t>outputs</a:t>
            </a:r>
            <a:r>
              <a:rPr lang="it-IT" altLang="it-IT" sz="2000" dirty="0">
                <a:latin typeface="Arial" panose="020B0604020202020204" pitchFamily="34" charset="0"/>
              </a:rPr>
              <a:t> </a:t>
            </a:r>
            <a:r>
              <a:rPr lang="it-IT" altLang="it-IT" sz="2000" dirty="0" err="1">
                <a:latin typeface="Arial" panose="020B0604020202020204" pitchFamily="34" charset="0"/>
              </a:rPr>
              <a:t>exported</a:t>
            </a:r>
            <a:r>
              <a:rPr lang="it-IT" altLang="it-IT" sz="2000" dirty="0">
                <a:latin typeface="Arial" panose="020B0604020202020204" pitchFamily="34" charset="0"/>
              </a:rPr>
              <a:t> to Excel and CSV for </a:t>
            </a:r>
            <a:r>
              <a:rPr lang="it-IT" altLang="it-IT" sz="2000" dirty="0" err="1">
                <a:latin typeface="Arial" panose="020B0604020202020204" pitchFamily="34" charset="0"/>
              </a:rPr>
              <a:t>sharing</a:t>
            </a:r>
            <a:r>
              <a:rPr lang="it-IT" altLang="it-IT" sz="2000" dirty="0">
                <a:latin typeface="Arial" panose="020B0604020202020204" pitchFamily="34" charset="0"/>
              </a:rPr>
              <a:t>)</a:t>
            </a:r>
          </a:p>
          <a:p>
            <a:pPr lvl="0" defTabSz="914400">
              <a:buFontTx/>
              <a:buChar char="•"/>
            </a:pPr>
            <a:r>
              <a:rPr lang="it-IT" altLang="it-IT" sz="2000" dirty="0">
                <a:latin typeface="Arial" panose="020B0604020202020204" pitchFamily="34" charset="0"/>
              </a:rPr>
              <a:t>#</a:t>
            </a:r>
            <a:r>
              <a:rPr lang="it-IT" altLang="it-IT" sz="2000" dirty="0" err="1">
                <a:latin typeface="Arial" panose="020B0604020202020204" pitchFamily="34" charset="0"/>
              </a:rPr>
              <a:t>texts</a:t>
            </a:r>
            <a:r>
              <a:rPr lang="it-IT" altLang="it-IT" sz="2000" dirty="0">
                <a:latin typeface="Arial" panose="020B0604020202020204" pitchFamily="34" charset="0"/>
              </a:rPr>
              <a:t> &gt; #</a:t>
            </a:r>
            <a:r>
              <a:rPr lang="it-IT" altLang="it-IT" sz="2000" dirty="0" err="1">
                <a:latin typeface="Arial" panose="020B0604020202020204" pitchFamily="34" charset="0"/>
              </a:rPr>
              <a:t>codes</a:t>
            </a:r>
            <a:r>
              <a:rPr lang="it-IT" altLang="it-IT" sz="2000" dirty="0">
                <a:latin typeface="Arial" panose="020B0604020202020204" pitchFamily="34" charset="0"/>
              </a:rPr>
              <a:t> (</a:t>
            </a:r>
            <a:r>
              <a:rPr lang="it-IT" altLang="it-IT" sz="2000" dirty="0" err="1">
                <a:latin typeface="Arial" panose="020B0604020202020204" pitchFamily="34" charset="0"/>
              </a:rPr>
              <a:t>size</a:t>
            </a:r>
            <a:r>
              <a:rPr lang="it-IT" altLang="it-IT" sz="2000" dirty="0">
                <a:latin typeface="Arial" panose="020B0604020202020204" pitchFamily="34" charset="0"/>
              </a:rPr>
              <a:t> = 0)</a:t>
            </a:r>
          </a:p>
          <a:p>
            <a:pPr lvl="0" defTabSz="914400"/>
            <a:endParaRPr lang="it-IT" altLang="it-IT" sz="2000" dirty="0">
              <a:latin typeface="Arial" panose="020B0604020202020204" pitchFamily="34" charset="0"/>
            </a:endParaRPr>
          </a:p>
        </p:txBody>
      </p:sp>
    </p:spTree>
    <p:extLst>
      <p:ext uri="{BB962C8B-B14F-4D97-AF65-F5344CB8AC3E}">
        <p14:creationId xmlns:p14="http://schemas.microsoft.com/office/powerpoint/2010/main" val="14935169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49</a:t>
            </a:fld>
            <a:endParaRPr lang="en-US" dirty="0"/>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9" name="Rettangolo 8"/>
          <p:cNvSpPr/>
          <p:nvPr/>
        </p:nvSpPr>
        <p:spPr>
          <a:xfrm>
            <a:off x="468895" y="1224084"/>
            <a:ext cx="11646829" cy="5693866"/>
          </a:xfrm>
          <a:prstGeom prst="rect">
            <a:avLst/>
          </a:prstGeom>
        </p:spPr>
        <p:txBody>
          <a:bodyPr wrap="square">
            <a:spAutoFit/>
          </a:bodyPr>
          <a:lstStyle/>
          <a:p>
            <a:r>
              <a:rPr lang="en-US" sz="2800" b="1" dirty="0"/>
              <a:t>Accuracy on test set of about 65,161 texts:</a:t>
            </a:r>
            <a:br>
              <a:rPr lang="en-US" sz="2800" dirty="0"/>
            </a:br>
            <a:r>
              <a:rPr lang="en-US" sz="2800" dirty="0"/>
              <a:t>#codes &gt; #texts (size = 1,525, 2.34% of the test dataset): Accuracy: 0.69% – F1-score (macro-weighted): 0.71% → 1,060 correct, 465 incorrect.</a:t>
            </a:r>
          </a:p>
          <a:p>
            <a:endParaRPr lang="en-US" sz="2800" dirty="0"/>
          </a:p>
          <a:p>
            <a:r>
              <a:rPr lang="en-US" sz="2800" dirty="0"/>
              <a:t>The correct cases are mostly those in which one text corresponds to two codes.</a:t>
            </a:r>
          </a:p>
          <a:p>
            <a:r>
              <a:rPr lang="en-US" sz="2800" dirty="0"/>
              <a:t>We check what percentage of the texts corresponding to the correct cases are present in the training set: </a:t>
            </a:r>
            <a:r>
              <a:rPr lang="en-US" sz="2800" b="1" dirty="0"/>
              <a:t>915 out of 1,050 (86%)</a:t>
            </a:r>
            <a:r>
              <a:rPr lang="en-US" sz="2800" dirty="0"/>
              <a:t>.</a:t>
            </a:r>
            <a:br>
              <a:rPr lang="en-US" sz="2800" dirty="0"/>
            </a:br>
            <a:r>
              <a:rPr lang="en-US" sz="2800" dirty="0"/>
              <a:t>We check what percentage of the texts corresponding to the incorrect cases are present in the training set: </a:t>
            </a:r>
            <a:r>
              <a:rPr lang="en-US" sz="2800" b="1" dirty="0"/>
              <a:t>76 out of 475 (16%)</a:t>
            </a:r>
            <a:r>
              <a:rPr lang="en-US" sz="2800" dirty="0"/>
              <a:t>.</a:t>
            </a:r>
          </a:p>
          <a:p>
            <a:r>
              <a:rPr lang="en-US" sz="2800" b="1" dirty="0"/>
              <a:t>Theory:</a:t>
            </a:r>
            <a:r>
              <a:rPr lang="en-US" sz="2800" dirty="0"/>
              <a:t> Random Forest performs well when it finds the same words combined in the same way in the training set.</a:t>
            </a:r>
          </a:p>
          <a:p>
            <a:pPr lvl="0" defTabSz="914400"/>
            <a:endParaRPr lang="it-IT" altLang="it-IT" sz="2800" dirty="0">
              <a:latin typeface="Arial" panose="020B0604020202020204" pitchFamily="34" charset="0"/>
            </a:endParaRPr>
          </a:p>
        </p:txBody>
      </p:sp>
    </p:spTree>
    <p:extLst>
      <p:ext uri="{BB962C8B-B14F-4D97-AF65-F5344CB8AC3E}">
        <p14:creationId xmlns:p14="http://schemas.microsoft.com/office/powerpoint/2010/main" val="40870870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0ADD6-B4C0-8601-6F69-FA9331543658}"/>
            </a:ext>
          </a:extLst>
        </p:cNvPr>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p:txBody>
          <a:bodyPr/>
          <a:lstStyle/>
          <a:p>
            <a:pPr>
              <a:defRPr/>
            </a:pPr>
            <a:fld id="{48B4153A-D4C5-4CEF-8992-0D8815C829E3}" type="slidenum">
              <a:rPr lang="en-US" smtClean="0"/>
              <a:pPr>
                <a:defRPr/>
              </a:pPr>
              <a:t>50</a:t>
            </a:fld>
            <a:endParaRPr lang="en-US" dirty="0"/>
          </a:p>
        </p:txBody>
      </p:sp>
      <p:sp>
        <p:nvSpPr>
          <p:cNvPr id="6" name="Titolo 2">
            <a:extLst>
              <a:ext uri="{FF2B5EF4-FFF2-40B4-BE49-F238E27FC236}">
                <a16:creationId xmlns:a16="http://schemas.microsoft.com/office/drawing/2014/main" id="{81112789-6A2E-6B6A-5DB5-8FF9265D9782}"/>
              </a:ext>
            </a:extLst>
          </p:cNvPr>
          <p:cNvSpPr>
            <a:spLocks noGrp="1"/>
          </p:cNvSpPr>
          <p:nvPr>
            <p:ph type="title"/>
          </p:nvPr>
        </p:nvSpPr>
        <p:spPr>
          <a:xfrm>
            <a:off x="468895" y="387728"/>
            <a:ext cx="11269308" cy="384721"/>
          </a:xfrm>
        </p:spPr>
        <p:txBody>
          <a:bodyPr/>
          <a:lstStyle/>
          <a:p>
            <a:r>
              <a:rPr lang="it-IT" dirty="0"/>
              <a:t>Use Case 2: AI for the </a:t>
            </a:r>
            <a:r>
              <a:rPr lang="it-IT" dirty="0" err="1"/>
              <a:t>automatic</a:t>
            </a:r>
            <a:r>
              <a:rPr lang="it-IT" dirty="0"/>
              <a:t> </a:t>
            </a:r>
            <a:r>
              <a:rPr lang="it-IT" dirty="0" err="1"/>
              <a:t>classification</a:t>
            </a:r>
            <a:r>
              <a:rPr lang="it-IT" dirty="0"/>
              <a:t> of </a:t>
            </a:r>
            <a:r>
              <a:rPr lang="it-IT" dirty="0" err="1"/>
              <a:t>Causes</a:t>
            </a:r>
            <a:r>
              <a:rPr lang="it-IT" dirty="0"/>
              <a:t> of Death</a:t>
            </a:r>
          </a:p>
        </p:txBody>
      </p:sp>
      <p:sp>
        <p:nvSpPr>
          <p:cNvPr id="10" name="Rettangolo 9"/>
          <p:cNvSpPr/>
          <p:nvPr/>
        </p:nvSpPr>
        <p:spPr>
          <a:xfrm>
            <a:off x="323469" y="1117369"/>
            <a:ext cx="11621604" cy="1477328"/>
          </a:xfrm>
          <a:prstGeom prst="rect">
            <a:avLst/>
          </a:prstGeom>
        </p:spPr>
        <p:txBody>
          <a:bodyPr wrap="square">
            <a:spAutoFit/>
          </a:bodyPr>
          <a:lstStyle/>
          <a:p>
            <a:r>
              <a:rPr lang="en-US" b="1" dirty="0"/>
              <a:t>Accuracy on test set (sample of 950 “</a:t>
            </a:r>
            <a:r>
              <a:rPr lang="en-US" b="1" dirty="0" err="1"/>
              <a:t>gold_standard</a:t>
            </a:r>
            <a:r>
              <a:rPr lang="en-US" b="1" dirty="0"/>
              <a:t>” texts):</a:t>
            </a:r>
            <a:br>
              <a:rPr lang="en-US" dirty="0"/>
            </a:br>
            <a:r>
              <a:rPr lang="en-US" dirty="0"/>
              <a:t>For this dataset, the initial number of classes is </a:t>
            </a:r>
            <a:r>
              <a:rPr lang="en-US" b="1" dirty="0"/>
              <a:t>876</a:t>
            </a:r>
            <a:r>
              <a:rPr lang="en-US" dirty="0"/>
              <a:t>. After non-semantic splitting (in cases where the number of classes equals the number of texts — i.e., for 197 cases), we obtain </a:t>
            </a:r>
            <a:r>
              <a:rPr lang="en-US" b="1" dirty="0"/>
              <a:t>847 classes</a:t>
            </a:r>
            <a:r>
              <a:rPr lang="en-US" dirty="0"/>
              <a:t>, and the number of texts to be classified becomes </a:t>
            </a:r>
            <a:r>
              <a:rPr lang="en-US" b="1" dirty="0"/>
              <a:t>1,154</a:t>
            </a:r>
            <a:r>
              <a:rPr lang="en-US" dirty="0"/>
              <a:t>.</a:t>
            </a:r>
            <a:br>
              <a:rPr lang="en-US" dirty="0"/>
            </a:br>
            <a:r>
              <a:rPr lang="en-US" dirty="0"/>
              <a:t>The classes are reduced to </a:t>
            </a:r>
            <a:r>
              <a:rPr lang="en-US" b="1" dirty="0"/>
              <a:t>716</a:t>
            </a:r>
            <a:r>
              <a:rPr lang="en-US" dirty="0"/>
              <a:t> after removing the time period.</a:t>
            </a:r>
            <a:endParaRPr lang="it-IT" dirty="0"/>
          </a:p>
        </p:txBody>
      </p:sp>
      <p:sp>
        <p:nvSpPr>
          <p:cNvPr id="11" name="Rettangolo 10"/>
          <p:cNvSpPr/>
          <p:nvPr/>
        </p:nvSpPr>
        <p:spPr>
          <a:xfrm>
            <a:off x="323468" y="2733196"/>
            <a:ext cx="11868531" cy="1754326"/>
          </a:xfrm>
          <a:prstGeom prst="rect">
            <a:avLst/>
          </a:prstGeom>
        </p:spPr>
        <p:txBody>
          <a:bodyPr wrap="square">
            <a:spAutoFit/>
          </a:bodyPr>
          <a:lstStyle/>
          <a:p>
            <a:r>
              <a:rPr lang="en-US" b="1" dirty="0"/>
              <a:t>Accuracy on “</a:t>
            </a:r>
            <a:r>
              <a:rPr lang="en-US" b="1" dirty="0" err="1"/>
              <a:t>gold_standard</a:t>
            </a:r>
            <a:r>
              <a:rPr lang="en-US" b="1" dirty="0"/>
              <a:t>” test set:</a:t>
            </a:r>
            <a:r>
              <a:rPr lang="en-US" dirty="0"/>
              <a:t> overall </a:t>
            </a:r>
            <a:r>
              <a:rPr lang="en-US" b="1" dirty="0"/>
              <a:t>0.41% F1-score</a:t>
            </a:r>
            <a:r>
              <a:rPr lang="en-US" dirty="0"/>
              <a:t> → problem: only </a:t>
            </a:r>
            <a:r>
              <a:rPr lang="en-US" b="1" dirty="0"/>
              <a:t>24% of the gold standard texts</a:t>
            </a:r>
            <a:r>
              <a:rPr lang="en-US" dirty="0"/>
              <a:t> are present in the training set, while </a:t>
            </a:r>
            <a:r>
              <a:rPr lang="en-US" b="1" dirty="0"/>
              <a:t>62% of the classes</a:t>
            </a:r>
            <a:r>
              <a:rPr lang="en-US" dirty="0"/>
              <a:t> are present in the training set.</a:t>
            </a:r>
          </a:p>
          <a:p>
            <a:pPr>
              <a:buFont typeface="Arial" panose="020B0604020202020204" pitchFamily="34" charset="0"/>
              <a:buChar char="•"/>
            </a:pPr>
            <a:r>
              <a:rPr lang="en-US" dirty="0"/>
              <a:t>#codes = #texts (size = 948, 82.15% of the gold standard dataset): Accuracy: 0.55% – F1-score (macro-weighted): 0.52%</a:t>
            </a:r>
          </a:p>
          <a:p>
            <a:pPr>
              <a:buFont typeface="Arial" panose="020B0604020202020204" pitchFamily="34" charset="0"/>
              <a:buChar char="•"/>
            </a:pPr>
            <a:r>
              <a:rPr lang="en-US" dirty="0"/>
              <a:t>#codes &gt; #texts (size = 206, 17.85% of the gold standard dataset): Accuracy: 0.033% – F1-score (macro-weighted): 0.033% → 7 correct, 199 incorrect (outputs exported to Excel and CSV for sharing)</a:t>
            </a:r>
          </a:p>
          <a:p>
            <a:pPr>
              <a:buFont typeface="Arial" panose="020B0604020202020204" pitchFamily="34" charset="0"/>
              <a:buChar char="•"/>
            </a:pPr>
            <a:r>
              <a:rPr lang="en-US" dirty="0"/>
              <a:t>#texts &gt; #codes (size = 0)</a:t>
            </a:r>
          </a:p>
        </p:txBody>
      </p:sp>
      <p:sp>
        <p:nvSpPr>
          <p:cNvPr id="12" name="Rettangolo 11"/>
          <p:cNvSpPr/>
          <p:nvPr/>
        </p:nvSpPr>
        <p:spPr>
          <a:xfrm>
            <a:off x="323468" y="4626022"/>
            <a:ext cx="11714203" cy="1200329"/>
          </a:xfrm>
          <a:prstGeom prst="rect">
            <a:avLst/>
          </a:prstGeom>
        </p:spPr>
        <p:txBody>
          <a:bodyPr wrap="square">
            <a:spAutoFit/>
          </a:bodyPr>
          <a:lstStyle/>
          <a:p>
            <a:r>
              <a:rPr lang="en-US" b="1" dirty="0"/>
              <a:t>OBSERVATION:</a:t>
            </a:r>
            <a:r>
              <a:rPr lang="en-US" dirty="0"/>
              <a:t> for the label encoding of the classes, we include both the classes present in the training set and those in the gold standard, to prevent cases where classes in the gold standard are missing from the training data.</a:t>
            </a:r>
            <a:br>
              <a:rPr lang="en-US" dirty="0"/>
            </a:br>
            <a:r>
              <a:rPr lang="en-US" dirty="0"/>
              <a:t>In the previous case, this issue did not arise because we had obtained it using a </a:t>
            </a:r>
            <a:r>
              <a:rPr lang="en-US" b="1" dirty="0"/>
              <a:t>stratified train-test split</a:t>
            </a:r>
            <a:r>
              <a:rPr lang="en-US" dirty="0"/>
              <a:t>, which ensures that each class has a sample in both the training and test sets.</a:t>
            </a:r>
          </a:p>
        </p:txBody>
      </p:sp>
    </p:spTree>
    <p:extLst>
      <p:ext uri="{BB962C8B-B14F-4D97-AF65-F5344CB8AC3E}">
        <p14:creationId xmlns:p14="http://schemas.microsoft.com/office/powerpoint/2010/main" val="2824409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461346" y="463247"/>
            <a:ext cx="11269308" cy="384721"/>
          </a:xfrm>
        </p:spPr>
        <p:txBody>
          <a:bodyPr/>
          <a:lstStyle/>
          <a:p>
            <a:r>
              <a:rPr lang="it-IT" dirty="0" err="1"/>
              <a:t>References</a:t>
            </a:r>
            <a:endParaRPr lang="it-IT" dirty="0"/>
          </a:p>
        </p:txBody>
      </p:sp>
      <p:sp>
        <p:nvSpPr>
          <p:cNvPr id="5" name="Rettangolo 4"/>
          <p:cNvSpPr/>
          <p:nvPr/>
        </p:nvSpPr>
        <p:spPr>
          <a:xfrm>
            <a:off x="461347" y="1236891"/>
            <a:ext cx="11269308" cy="5078313"/>
          </a:xfrm>
          <a:prstGeom prst="rect">
            <a:avLst/>
          </a:prstGeom>
        </p:spPr>
        <p:txBody>
          <a:bodyPr wrap="square">
            <a:spAutoFit/>
          </a:bodyPr>
          <a:lstStyle/>
          <a:p>
            <a:r>
              <a:rPr lang="it-IT">
                <a:solidFill>
                  <a:srgbClr val="222222"/>
                </a:solidFill>
                <a:latin typeface="Arial" panose="020B0604020202020204" pitchFamily="34" charset="0"/>
              </a:rPr>
              <a:t>Reimann, M. W., Nolte, M., Scolamiero, M., Turner, K., Perin, R., Chindemi, G., ... &amp; Markram, H. (2017). Cliques of neurons bound into cavities provide a missing link between structure and function. Frontiers in computational neuroscience, 11, 266051. </a:t>
            </a:r>
          </a:p>
          <a:p>
            <a:endParaRPr lang="it-IT">
              <a:solidFill>
                <a:srgbClr val="222222"/>
              </a:solidFill>
              <a:latin typeface="Arial" panose="020B0604020202020204" pitchFamily="34" charset="0"/>
            </a:endParaRPr>
          </a:p>
          <a:p>
            <a:r>
              <a:rPr lang="en-US">
                <a:solidFill>
                  <a:srgbClr val="222222"/>
                </a:solidFill>
                <a:latin typeface="Arial" panose="020B0604020202020204" pitchFamily="34" charset="0"/>
              </a:rPr>
              <a:t>van Gerven, M., &amp; Bohte, S. (2018). Frontiers Research Topic: Artificial Neural Networks as Models of Neural Information Processing. Frontiers in Computational Neuroscience, Retrieved, 20.</a:t>
            </a:r>
          </a:p>
          <a:p>
            <a:endParaRPr lang="en-US">
              <a:solidFill>
                <a:srgbClr val="222222"/>
              </a:solidFill>
              <a:latin typeface="Arial" panose="020B0604020202020204" pitchFamily="34" charset="0"/>
            </a:endParaRPr>
          </a:p>
          <a:p>
            <a:r>
              <a:rPr lang="en-US">
                <a:solidFill>
                  <a:srgbClr val="222222"/>
                </a:solidFill>
                <a:latin typeface="Arial" panose="020B0604020202020204" pitchFamily="34" charset="0"/>
              </a:rPr>
              <a:t>Pugliese, F., Acerbi, A., &amp; Marocco, D. (2015). Emergence of leadership in a group of autonomous robots. PLoS One, 10(9), e0137234.</a:t>
            </a:r>
          </a:p>
          <a:p>
            <a:endParaRPr lang="en-US">
              <a:solidFill>
                <a:srgbClr val="222222"/>
              </a:solidFill>
              <a:latin typeface="Arial" panose="020B0604020202020204" pitchFamily="34" charset="0"/>
            </a:endParaRPr>
          </a:p>
          <a:p>
            <a:r>
              <a:rPr lang="en-US">
                <a:solidFill>
                  <a:srgbClr val="222222"/>
                </a:solidFill>
                <a:latin typeface="Arial" panose="020B0604020202020204" pitchFamily="34" charset="0"/>
              </a:rPr>
              <a:t>Nolfi, S., &amp; Floreano, D. (2002). Synthesis of autonomous robots through evolution. Trends in cognitive sciences, 6(1), 31-37.</a:t>
            </a:r>
          </a:p>
          <a:p>
            <a:endParaRPr lang="en-US">
              <a:solidFill>
                <a:srgbClr val="222222"/>
              </a:solidFill>
              <a:latin typeface="Arial" panose="020B0604020202020204" pitchFamily="34" charset="0"/>
            </a:endParaRPr>
          </a:p>
          <a:p>
            <a:r>
              <a:rPr lang="en-US">
                <a:solidFill>
                  <a:srgbClr val="222222"/>
                </a:solidFill>
                <a:latin typeface="Arial" panose="020B0604020202020204" pitchFamily="34" charset="0"/>
              </a:rPr>
              <a:t>Bengio, Y. (2009). Learning deep architectures for AI. Foundations and Trends® in Finance, 2(1), 1-127.</a:t>
            </a:r>
          </a:p>
          <a:p>
            <a:endParaRPr lang="it-IT">
              <a:solidFill>
                <a:srgbClr val="222222"/>
              </a:solidFill>
              <a:latin typeface="Arial" panose="020B0604020202020204" pitchFamily="34" charset="0"/>
            </a:endParaRPr>
          </a:p>
          <a:p>
            <a:r>
              <a:rPr lang="en-US">
                <a:solidFill>
                  <a:srgbClr val="222222"/>
                </a:solidFill>
                <a:latin typeface="Arial" panose="020B0604020202020204" pitchFamily="34" charset="0"/>
              </a:rPr>
              <a:t>Chellappa, R. (2012). Mathematical statistics and computer vision. Image and Vision Computing, 30(8), 467-468.</a:t>
            </a:r>
          </a:p>
          <a:p>
            <a:endParaRPr lang="it-IT">
              <a:solidFill>
                <a:srgbClr val="222222"/>
              </a:solidFill>
              <a:latin typeface="Arial" panose="020B0604020202020204" pitchFamily="34" charset="0"/>
            </a:endParaRPr>
          </a:p>
        </p:txBody>
      </p:sp>
      <p:sp>
        <p:nvSpPr>
          <p:cNvPr id="8"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51</a:t>
            </a:fld>
            <a:endParaRPr lang="en-US" dirty="0"/>
          </a:p>
        </p:txBody>
      </p:sp>
    </p:spTree>
    <p:extLst>
      <p:ext uri="{BB962C8B-B14F-4D97-AF65-F5344CB8AC3E}">
        <p14:creationId xmlns:p14="http://schemas.microsoft.com/office/powerpoint/2010/main" val="35360525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461346" y="463247"/>
            <a:ext cx="11269308" cy="384721"/>
          </a:xfrm>
        </p:spPr>
        <p:txBody>
          <a:bodyPr/>
          <a:lstStyle/>
          <a:p>
            <a:r>
              <a:rPr lang="it-IT" dirty="0" err="1"/>
              <a:t>References</a:t>
            </a:r>
            <a:endParaRPr lang="it-IT" dirty="0"/>
          </a:p>
        </p:txBody>
      </p:sp>
      <p:sp>
        <p:nvSpPr>
          <p:cNvPr id="5" name="Rettangolo 4"/>
          <p:cNvSpPr/>
          <p:nvPr/>
        </p:nvSpPr>
        <p:spPr>
          <a:xfrm>
            <a:off x="461347" y="1236891"/>
            <a:ext cx="11269308" cy="5632311"/>
          </a:xfrm>
          <a:prstGeom prst="rect">
            <a:avLst/>
          </a:prstGeom>
        </p:spPr>
        <p:txBody>
          <a:bodyPr wrap="square">
            <a:spAutoFit/>
          </a:bodyPr>
          <a:lstStyle/>
          <a:p>
            <a:r>
              <a:rPr lang="en-US">
                <a:solidFill>
                  <a:srgbClr val="222222"/>
                </a:solidFill>
                <a:latin typeface="Arial" panose="020B0604020202020204" pitchFamily="34" charset="0"/>
              </a:rPr>
              <a:t>Tsukahara, J. S., Harrison, T. L., &amp; Engle, R. W. (2016). The relationship between baseline pupil size and intelligence. Cognitive Psychology, 91, 109-123.</a:t>
            </a:r>
          </a:p>
          <a:p>
            <a:endParaRPr lang="en-US">
              <a:solidFill>
                <a:srgbClr val="222222"/>
              </a:solidFill>
              <a:latin typeface="Arial" panose="020B0604020202020204" pitchFamily="34" charset="0"/>
            </a:endParaRPr>
          </a:p>
          <a:p>
            <a:r>
              <a:rPr lang="en-US">
                <a:solidFill>
                  <a:srgbClr val="222222"/>
                </a:solidFill>
                <a:latin typeface="Arial" panose="020B0604020202020204" pitchFamily="34" charset="0"/>
              </a:rPr>
              <a:t>Francesco Pugliese - Deep Learning al servizio del Riciclo </a:t>
            </a:r>
            <a:r>
              <a:rPr lang="en-US">
                <a:solidFill>
                  <a:srgbClr val="222222"/>
                </a:solidFill>
                <a:latin typeface="Arial" panose="020B0604020202020204" pitchFamily="34" charset="0"/>
                <a:hlinkClick r:id="rId3"/>
              </a:rPr>
              <a:t>https://www.wired.it/attualita/tech/2018/09/20/party-cloud-ibm-deep-learning/</a:t>
            </a:r>
            <a:endParaRPr lang="en-US">
              <a:solidFill>
                <a:srgbClr val="222222"/>
              </a:solidFill>
              <a:latin typeface="Arial" panose="020B0604020202020204" pitchFamily="34" charset="0"/>
            </a:endParaRPr>
          </a:p>
          <a:p>
            <a:endParaRPr lang="en-US">
              <a:solidFill>
                <a:srgbClr val="222222"/>
              </a:solidFill>
              <a:latin typeface="Arial" panose="020B0604020202020204" pitchFamily="34" charset="0"/>
            </a:endParaRPr>
          </a:p>
          <a:p>
            <a:r>
              <a:rPr lang="it-IT">
                <a:solidFill>
                  <a:srgbClr val="222222"/>
                </a:solidFill>
                <a:latin typeface="Arial" panose="020B0604020202020204" pitchFamily="34" charset="0"/>
              </a:rPr>
              <a:t>Adam, S. P., Alexandropoulos, S. A. N., Pardalos, P. M., &amp; Vrahatis, M. N. (2019). No free lunch theorem: A review. Approximation and optimization: Algorithms, complexity and applications, 57-82.</a:t>
            </a:r>
            <a:endParaRPr lang="en-US">
              <a:solidFill>
                <a:srgbClr val="222222"/>
              </a:solidFill>
              <a:latin typeface="Arial" panose="020B0604020202020204" pitchFamily="34" charset="0"/>
            </a:endParaRPr>
          </a:p>
          <a:p>
            <a:endParaRPr lang="en-US">
              <a:solidFill>
                <a:srgbClr val="222222"/>
              </a:solidFill>
              <a:latin typeface="Arial" panose="020B0604020202020204" pitchFamily="34" charset="0"/>
            </a:endParaRPr>
          </a:p>
          <a:p>
            <a:r>
              <a:rPr lang="it-IT">
                <a:solidFill>
                  <a:srgbClr val="222222"/>
                </a:solidFill>
                <a:latin typeface="Arial" panose="020B0604020202020204" pitchFamily="34" charset="0"/>
              </a:rPr>
              <a:t>Catanese, E., Bruno, M., Stefanelli, L., &amp; Pugliese, F. (2023, September). Measuring Social Mood on Economy during Covid times: effects of retraining Supervised Deep Neural Networks. In 5th International Conference on Advanced Research Methods and Analytics (CARMA 2023) (pp. 139-147). Editorial Universitat Politècnica de València.</a:t>
            </a:r>
          </a:p>
          <a:p>
            <a:endParaRPr lang="it-IT">
              <a:solidFill>
                <a:srgbClr val="222222"/>
              </a:solidFill>
              <a:latin typeface="Arial" panose="020B0604020202020204" pitchFamily="34" charset="0"/>
            </a:endParaRPr>
          </a:p>
          <a:p>
            <a:r>
              <a:rPr lang="it-IT">
                <a:solidFill>
                  <a:srgbClr val="222222"/>
                </a:solidFill>
                <a:latin typeface="Arial" panose="020B0604020202020204" pitchFamily="34" charset="0"/>
              </a:rPr>
              <a:t>Bernasconi, E., De Fausti, F., Pugliese, F., Scannapieco, M., &amp; Zardetto, D. (2022). Automatic extraction of land cover statistics from satellite imagery by deep learning. Statistical Journal of the IAOS, 38(1), 183-199.</a:t>
            </a:r>
          </a:p>
          <a:p>
            <a:endParaRPr lang="it-IT">
              <a:solidFill>
                <a:srgbClr val="222222"/>
              </a:solidFill>
              <a:latin typeface="Arial" panose="020B0604020202020204" pitchFamily="34" charset="0"/>
            </a:endParaRPr>
          </a:p>
          <a:p>
            <a:r>
              <a:rPr lang="it-IT">
                <a:solidFill>
                  <a:srgbClr val="222222"/>
                </a:solidFill>
                <a:latin typeface="Arial" panose="020B0604020202020204" pitchFamily="34" charset="0"/>
              </a:rPr>
              <a:t> </a:t>
            </a:r>
          </a:p>
          <a:p>
            <a:endParaRPr lang="it-IT"/>
          </a:p>
          <a:p>
            <a:endParaRPr lang="it-IT"/>
          </a:p>
        </p:txBody>
      </p:sp>
      <p:sp>
        <p:nvSpPr>
          <p:cNvPr id="8"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52</a:t>
            </a:fld>
            <a:endParaRPr lang="en-US" dirty="0"/>
          </a:p>
        </p:txBody>
      </p:sp>
    </p:spTree>
    <p:extLst>
      <p:ext uri="{BB962C8B-B14F-4D97-AF65-F5344CB8AC3E}">
        <p14:creationId xmlns:p14="http://schemas.microsoft.com/office/powerpoint/2010/main" val="10987372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olo 2"/>
          <p:cNvSpPr>
            <a:spLocks noGrp="1"/>
          </p:cNvSpPr>
          <p:nvPr>
            <p:ph type="title"/>
          </p:nvPr>
        </p:nvSpPr>
        <p:spPr>
          <a:xfrm>
            <a:off x="461346" y="463247"/>
            <a:ext cx="11269308" cy="384721"/>
          </a:xfrm>
        </p:spPr>
        <p:txBody>
          <a:bodyPr/>
          <a:lstStyle/>
          <a:p>
            <a:r>
              <a:rPr lang="it-IT" dirty="0" err="1"/>
              <a:t>References</a:t>
            </a:r>
            <a:endParaRPr lang="it-IT" dirty="0"/>
          </a:p>
        </p:txBody>
      </p:sp>
      <p:sp>
        <p:nvSpPr>
          <p:cNvPr id="5" name="Rettangolo 4"/>
          <p:cNvSpPr/>
          <p:nvPr/>
        </p:nvSpPr>
        <p:spPr>
          <a:xfrm>
            <a:off x="461347" y="1236891"/>
            <a:ext cx="11269308" cy="2031325"/>
          </a:xfrm>
          <a:prstGeom prst="rect">
            <a:avLst/>
          </a:prstGeom>
        </p:spPr>
        <p:txBody>
          <a:bodyPr wrap="square">
            <a:spAutoFit/>
          </a:bodyPr>
          <a:lstStyle/>
          <a:p>
            <a:endParaRPr lang="it-IT">
              <a:solidFill>
                <a:srgbClr val="222222"/>
              </a:solidFill>
              <a:latin typeface="Arial" panose="020B0604020202020204" pitchFamily="34" charset="0"/>
            </a:endParaRPr>
          </a:p>
          <a:p>
            <a:r>
              <a:rPr lang="it-IT">
                <a:solidFill>
                  <a:srgbClr val="222222"/>
                </a:solidFill>
                <a:latin typeface="Arial" panose="020B0604020202020204" pitchFamily="34" charset="0"/>
              </a:rPr>
              <a:t>Pugliese, F., Pappagallo, A., &amp; De Cubellis, M. (2024, June). Generation of Synthetic Data from Mobile Network Operators (MNO) Data Through Generative Adversarial Networks (GANs). In Scientific Meeting of the Italian Statistical Society (pp. 69-74). Cham: Springer Nature Switzerland.</a:t>
            </a:r>
          </a:p>
          <a:p>
            <a:r>
              <a:rPr lang="it-IT">
                <a:solidFill>
                  <a:srgbClr val="222222"/>
                </a:solidFill>
                <a:latin typeface="Arial" panose="020B0604020202020204" pitchFamily="34" charset="0"/>
              </a:rPr>
              <a:t> </a:t>
            </a:r>
          </a:p>
          <a:p>
            <a:endParaRPr lang="it-IT"/>
          </a:p>
          <a:p>
            <a:endParaRPr lang="it-IT"/>
          </a:p>
        </p:txBody>
      </p:sp>
      <p:sp>
        <p:nvSpPr>
          <p:cNvPr id="8" name="Segnaposto numero diapositiva 4">
            <a:extLst>
              <a:ext uri="{FF2B5EF4-FFF2-40B4-BE49-F238E27FC236}">
                <a16:creationId xmlns:a16="http://schemas.microsoft.com/office/drawing/2014/main" id="{80E96021-C168-B145-CD79-3708234658C2}"/>
              </a:ext>
            </a:extLst>
          </p:cNvPr>
          <p:cNvSpPr>
            <a:spLocks noGrp="1"/>
          </p:cNvSpPr>
          <p:nvPr>
            <p:ph type="sldNum" sz="quarter" idx="11"/>
          </p:nvPr>
        </p:nvSpPr>
        <p:spPr>
          <a:xfrm>
            <a:off x="323469" y="6397225"/>
            <a:ext cx="501650" cy="365125"/>
          </a:xfrm>
        </p:spPr>
        <p:txBody>
          <a:bodyPr/>
          <a:lstStyle/>
          <a:p>
            <a:pPr>
              <a:defRPr/>
            </a:pPr>
            <a:fld id="{48B4153A-D4C5-4CEF-8992-0D8815C829E3}" type="slidenum">
              <a:rPr lang="en-US" smtClean="0"/>
              <a:pPr>
                <a:defRPr/>
              </a:pPr>
              <a:t>53</a:t>
            </a:fld>
            <a:endParaRPr lang="en-US" dirty="0"/>
          </a:p>
        </p:txBody>
      </p:sp>
    </p:spTree>
    <p:extLst>
      <p:ext uri="{BB962C8B-B14F-4D97-AF65-F5344CB8AC3E}">
        <p14:creationId xmlns:p14="http://schemas.microsoft.com/office/powerpoint/2010/main" val="38450021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07821B-5649-449D-A1C2-3F67CA468A7F}"/>
              </a:ext>
            </a:extLst>
          </p:cNvPr>
          <p:cNvSpPr>
            <a:spLocks noGrp="1"/>
          </p:cNvSpPr>
          <p:nvPr>
            <p:ph type="ctrTitle"/>
          </p:nvPr>
        </p:nvSpPr>
        <p:spPr>
          <a:xfrm>
            <a:off x="487849" y="603334"/>
            <a:ext cx="11283042" cy="1839433"/>
          </a:xfrm>
        </p:spPr>
        <p:txBody>
          <a:bodyPr/>
          <a:lstStyle/>
          <a:p>
            <a:r>
              <a:rPr lang="it-IT" sz="6600" dirty="0" err="1"/>
              <a:t>Thanks</a:t>
            </a:r>
            <a:endParaRPr lang="it-IT" sz="6600" dirty="0"/>
          </a:p>
        </p:txBody>
      </p:sp>
      <p:sp>
        <p:nvSpPr>
          <p:cNvPr id="3" name="Segnaposto testo 2">
            <a:extLst>
              <a:ext uri="{FF2B5EF4-FFF2-40B4-BE49-F238E27FC236}">
                <a16:creationId xmlns:a16="http://schemas.microsoft.com/office/drawing/2014/main" id="{52857493-CE83-4A58-B836-860B262B8CCD}"/>
              </a:ext>
            </a:extLst>
          </p:cNvPr>
          <p:cNvSpPr>
            <a:spLocks noGrp="1"/>
          </p:cNvSpPr>
          <p:nvPr>
            <p:ph type="body" idx="1"/>
          </p:nvPr>
        </p:nvSpPr>
        <p:spPr>
          <a:xfrm>
            <a:off x="3246635" y="2990328"/>
            <a:ext cx="6064500" cy="2522577"/>
          </a:xfrm>
        </p:spPr>
        <p:txBody>
          <a:bodyPr/>
          <a:lstStyle/>
          <a:p>
            <a:r>
              <a:rPr lang="it-IT" dirty="0"/>
              <a:t>FRANCESCO PUGLIESE | </a:t>
            </a:r>
            <a:r>
              <a:rPr lang="it-IT" dirty="0">
                <a:hlinkClick r:id="rId3"/>
              </a:rPr>
              <a:t>francesco.pugliese@istat.it</a:t>
            </a:r>
            <a:endParaRPr lang="it-IT" dirty="0"/>
          </a:p>
        </p:txBody>
      </p:sp>
    </p:spTree>
    <p:extLst>
      <p:ext uri="{BB962C8B-B14F-4D97-AF65-F5344CB8AC3E}">
        <p14:creationId xmlns:p14="http://schemas.microsoft.com/office/powerpoint/2010/main" val="2892166170"/>
      </p:ext>
    </p:extLst>
  </p:cSld>
  <p:clrMapOvr>
    <a:masterClrMapping/>
  </p:clrMapOvr>
</p:sld>
</file>

<file path=ppt/theme/theme1.xml><?xml version="1.0" encoding="utf-8"?>
<a:theme xmlns:a="http://schemas.openxmlformats.org/drawingml/2006/main" name="elenco puntato">
  <a:themeElements>
    <a:clrScheme name="Gradazioni di grigio">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5D8C9649-FBE1-4B5B-8258-8A170F9843A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3DC0D574C2C4BAADE7BDE2CC7A3EA" ma:contentTypeVersion="15" ma:contentTypeDescription="Create a new document." ma:contentTypeScope="" ma:versionID="6b638efe44edcf0a5a126cd5379eee9c">
  <xsd:schema xmlns:xsd="http://www.w3.org/2001/XMLSchema" xmlns:xs="http://www.w3.org/2001/XMLSchema" xmlns:p="http://schemas.microsoft.com/office/2006/metadata/properties" xmlns:ns3="c6bb7392-db91-43db-9b6a-d40b95d0671e" xmlns:ns4="c78848ff-9278-4b5b-81db-3b67e3af0c37" targetNamespace="http://schemas.microsoft.com/office/2006/metadata/properties" ma:root="true" ma:fieldsID="b2309f5116cf8d5bab44f87576b28789" ns3:_="" ns4:_="">
    <xsd:import namespace="c6bb7392-db91-43db-9b6a-d40b95d0671e"/>
    <xsd:import namespace="c78848ff-9278-4b5b-81db-3b67e3af0c37"/>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bb7392-db91-43db-9b6a-d40b95d0671e"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8848ff-9278-4b5b-81db-3b67e3af0c37"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Shared With Details" ma:internalName="SharedWithDetails" ma:readOnly="true">
      <xsd:simpleType>
        <xsd:restriction base="dms:Note">
          <xsd:maxLength value="255"/>
        </xsd:restriction>
      </xsd:simpleType>
    </xsd:element>
    <xsd:element name="SharingHintHash" ma:index="11"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6bb7392-db91-43db-9b6a-d40b95d067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C54BE70-97EF-43E3-807B-70C460B874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bb7392-db91-43db-9b6a-d40b95d0671e"/>
    <ds:schemaRef ds:uri="c78848ff-9278-4b5b-81db-3b67e3af0c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EF378BC-F4D0-4510-B4EC-07B6EFE18CF8}">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c78848ff-9278-4b5b-81db-3b67e3af0c37"/>
    <ds:schemaRef ds:uri="c6bb7392-db91-43db-9b6a-d40b95d0671e"/>
    <ds:schemaRef ds:uri="http://www.w3.org/XML/1998/namespace"/>
    <ds:schemaRef ds:uri="http://purl.org/dc/dcmitype/"/>
  </ds:schemaRefs>
</ds:datastoreItem>
</file>

<file path=customXml/itemProps3.xml><?xml version="1.0" encoding="utf-8"?>
<ds:datastoreItem xmlns:ds="http://schemas.openxmlformats.org/officeDocument/2006/customXml" ds:itemID="{BD9C238D-4D5C-4783-820B-4854DCE45D4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12300</TotalTime>
  <Words>5071</Words>
  <Application>Microsoft Office PowerPoint</Application>
  <PresentationFormat>Widescreen</PresentationFormat>
  <Paragraphs>475</Paragraphs>
  <Slides>54</Slides>
  <Notes>54</Notes>
  <HiddenSlides>0</HiddenSlides>
  <MMClips>8</MMClips>
  <ScaleCrop>false</ScaleCrop>
  <HeadingPairs>
    <vt:vector size="6" baseType="variant">
      <vt:variant>
        <vt:lpstr>Caratteri utilizzati</vt:lpstr>
      </vt:variant>
      <vt:variant>
        <vt:i4>13</vt:i4>
      </vt:variant>
      <vt:variant>
        <vt:lpstr>Tema</vt:lpstr>
      </vt:variant>
      <vt:variant>
        <vt:i4>1</vt:i4>
      </vt:variant>
      <vt:variant>
        <vt:lpstr>Titoli diapositive</vt:lpstr>
      </vt:variant>
      <vt:variant>
        <vt:i4>54</vt:i4>
      </vt:variant>
    </vt:vector>
  </HeadingPairs>
  <TitlesOfParts>
    <vt:vector size="68" baseType="lpstr">
      <vt:lpstr>AcmeFont</vt:lpstr>
      <vt:lpstr>Arial</vt:lpstr>
      <vt:lpstr>Arial Narrow</vt:lpstr>
      <vt:lpstr>Calibri</vt:lpstr>
      <vt:lpstr>Cambria Math</vt:lpstr>
      <vt:lpstr>Courier New</vt:lpstr>
      <vt:lpstr>Gill Sans MT</vt:lpstr>
      <vt:lpstr>Montserrat Bold</vt:lpstr>
      <vt:lpstr>Tahoma</vt:lpstr>
      <vt:lpstr>Times New Roman</vt:lpstr>
      <vt:lpstr>Trebuchet MS</vt:lpstr>
      <vt:lpstr>Wingdings</vt:lpstr>
      <vt:lpstr>Wingdings 2</vt:lpstr>
      <vt:lpstr>elenco puntato</vt:lpstr>
      <vt:lpstr> Artificial Intelligence as a driver for Innovation in Digital Health  Francesco Pugliese, Central Directorate for Methodology and Design of Statistical Processes, Istat   Roma | xx May 2026 | La Sapienza   </vt:lpstr>
      <vt:lpstr>Difference between AI and ML        </vt:lpstr>
      <vt:lpstr>MACHINE LEARNING ENGINEER         </vt:lpstr>
      <vt:lpstr>WHAT IS CONSCIOUSNESS? </vt:lpstr>
      <vt:lpstr>How Thoughts can change the Brain  </vt:lpstr>
      <vt:lpstr>HUMAN BRAIN VS CONSCIOUSNESS   </vt:lpstr>
      <vt:lpstr>MACHINE LEARNING VS CONSCIOUSNESS     </vt:lpstr>
      <vt:lpstr>MACHINE LEARNING LIMITS    </vt:lpstr>
      <vt:lpstr>MACHINE LEARNING BREAKTHROUGHTS    </vt:lpstr>
      <vt:lpstr>Traditional programming vs Machine Learning        </vt:lpstr>
      <vt:lpstr> Types of Machine Learning         </vt:lpstr>
      <vt:lpstr>A quick history of Machine Learning        </vt:lpstr>
      <vt:lpstr>ARTIFICIAL NEURAL NETWORKS    </vt:lpstr>
      <vt:lpstr>One traditional application ANN: Evolutionary robotics     </vt:lpstr>
      <vt:lpstr>EXPERIMENTAL  SETUP      </vt:lpstr>
      <vt:lpstr>Evolutionary robotics     </vt:lpstr>
      <vt:lpstr>EXPERIMENTAL  SETUP N.1       </vt:lpstr>
      <vt:lpstr>Emergence of Leadership in Robots      </vt:lpstr>
      <vt:lpstr>MAY Robotics help to understand social and psychological problems?        </vt:lpstr>
      <vt:lpstr>DEEP LEARNING: Neural Networks become more effective         </vt:lpstr>
      <vt:lpstr>DEEP LEARNING: a cutting-edge approach to Computer Vision and NLP        </vt:lpstr>
      <vt:lpstr>Deep Learning is Machine Learning         </vt:lpstr>
      <vt:lpstr>Why Deep Learning over-performed traditional statistics models?    </vt:lpstr>
      <vt:lpstr>Computer Vision: Where does Traditional Statistics fail?     </vt:lpstr>
      <vt:lpstr>Why does Computer Vision matter so much?      </vt:lpstr>
      <vt:lpstr>Why does Computer Vision matter so much?      </vt:lpstr>
      <vt:lpstr>Why does Computer Vision matter so much?      </vt:lpstr>
      <vt:lpstr>Why does Computer Vision matter so much?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The Innovation of Transformers       </vt:lpstr>
      <vt:lpstr>The increasing amount of Data Dilemma        </vt:lpstr>
      <vt:lpstr>What are Foundation Models?         </vt:lpstr>
      <vt:lpstr>AI 2.0 and Industry 4.0          </vt:lpstr>
      <vt:lpstr>AI 2.0 and Industry 4.0          </vt:lpstr>
      <vt:lpstr>Use Case 1: AI for Lung Cancer Detection</vt:lpstr>
      <vt:lpstr>Use Case 1: AI for Lung Cancer Detection</vt:lpstr>
      <vt:lpstr>Use Case 1: AI for Lung Cancer Detection</vt:lpstr>
      <vt:lpstr>Use Case 2: AI for the automatic classification of Causes of Death</vt:lpstr>
      <vt:lpstr>Use Case 2: AI for the automatic classification of Causes of Death</vt:lpstr>
      <vt:lpstr>Use Case 2: AI for the automatic classification of Causes of Death</vt:lpstr>
      <vt:lpstr>Use Case 3: AI for the automatic classification of Causes of Death</vt:lpstr>
      <vt:lpstr>Use Case 2: AI for the automatic classification of Causes of Death</vt:lpstr>
      <vt:lpstr>Use Case 2: AI for the automatic classification of Causes of Death</vt:lpstr>
      <vt:lpstr>Use Case 2: AI for the automatic classification of Causes of Death</vt:lpstr>
      <vt:lpstr>Use Case 2: AI for the automatic classification of Causes of Death</vt:lpstr>
      <vt:lpstr>References</vt:lpstr>
      <vt:lpstr>References</vt:lpstr>
      <vt:lpstr>References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PresentazioneStandard</dc:title>
  <dc:creator>Bruna Tabanella</dc:creator>
  <cp:lastModifiedBy>Francesco Pugliese</cp:lastModifiedBy>
  <cp:revision>966</cp:revision>
  <dcterms:created xsi:type="dcterms:W3CDTF">2020-06-26T06:32:12Z</dcterms:created>
  <dcterms:modified xsi:type="dcterms:W3CDTF">2026-05-12T08:22:01Z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0x0101000363DC0D574C2C4BAADE7BDE2CC7A3EA</vt:lpwstr>
  </property>
  <property fmtid="{D5CDD505-2E9C-101B-9397-08002B2CF9AE}" pid="3" name="_dlc_DocIdItemGuid">
    <vt:lpwstr>11205160-d5cd-44f2-bf0d-d055913f1cd1</vt:lpwstr>
  </property>
</Properties>
</file>