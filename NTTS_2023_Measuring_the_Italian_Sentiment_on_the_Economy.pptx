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notesMasterIdLst>
    <p:notesMasterId r:id="rId17"/>
  </p:notesMasterIdLst>
  <p:handoutMasterIdLst>
    <p:handoutMasterId r:id="rId18"/>
  </p:handoutMasterIdLst>
  <p:sldIdLst>
    <p:sldId id="293" r:id="rId2"/>
    <p:sldId id="287" r:id="rId3"/>
    <p:sldId id="259" r:id="rId4"/>
    <p:sldId id="289" r:id="rId5"/>
    <p:sldId id="296" r:id="rId6"/>
    <p:sldId id="295" r:id="rId7"/>
    <p:sldId id="273" r:id="rId8"/>
    <p:sldId id="281" r:id="rId9"/>
    <p:sldId id="294" r:id="rId10"/>
    <p:sldId id="261" r:id="rId11"/>
    <p:sldId id="286" r:id="rId12"/>
    <p:sldId id="277" r:id="rId13"/>
    <p:sldId id="263" r:id="rId14"/>
    <p:sldId id="279" r:id="rId15"/>
    <p:sldId id="264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C2F3"/>
    <a:srgbClr val="F2B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737" autoAdjust="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>
        <p:guide pos="3840"/>
        <p:guide orient="horz" pos="21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D23A2370-531F-956B-78DD-F1E1649265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18D14D2-8410-9BD4-2CB0-5D8D5BBA01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F38410-EED7-44CB-A859-965CADD162EB}" type="datetimeFigureOut">
              <a:rPr lang="it-IT" smtClean="0"/>
              <a:t>10/11/2025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2F8464A-C58B-FD66-285D-49F415455F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B0C0B26-56D2-E34D-60AB-E6732310AB0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61134-76EC-4F4B-8007-7F9EA282E2A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70200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6D264-6E96-4E3F-B5B9-9C70725EC55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C2EC5-7EC3-4746-BCB3-FF534DC1F46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97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C2EC5-7EC3-4746-BCB3-FF534DC1F4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52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C2EC5-7EC3-4746-BCB3-FF534DC1F4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37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Capture a persistent decline in the sentiment following the imposition of lockdown on 7th March 2020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Highlights three macro-periods with different levels of sentiment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Is always negative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C2EC5-7EC3-4746-BCB3-FF534DC1F4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64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C2EC5-7EC3-4746-BCB3-FF534DC1F4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455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C2EC5-7EC3-4746-BCB3-FF534DC1F46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61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To </a:t>
            </a:r>
            <a:r>
              <a:rPr lang="it-IT" dirty="0" err="1"/>
              <a:t>find</a:t>
            </a:r>
            <a:r>
              <a:rPr lang="it-IT" dirty="0"/>
              <a:t> </a:t>
            </a:r>
            <a:r>
              <a:rPr lang="it-IT" dirty="0" err="1"/>
              <a:t>furhter</a:t>
            </a:r>
            <a:r>
              <a:rPr lang="it-IT" dirty="0"/>
              <a:t> </a:t>
            </a:r>
            <a:r>
              <a:rPr lang="it-IT" dirty="0" err="1"/>
              <a:t>confirmation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evidence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look </a:t>
            </a:r>
            <a:r>
              <a:rPr lang="it-IT" dirty="0" err="1"/>
              <a:t>at</a:t>
            </a:r>
            <a:r>
              <a:rPr lang="it-IT" dirty="0"/>
              <a:t> the minimum and maximum points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C2EC5-7EC3-4746-BCB3-FF534DC1F46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71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383EAF-3A45-6FB8-B04E-CA58F8ACB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57CD978-1D44-019F-26EE-87E42D1CF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FBF59AC-07E2-7244-6618-D343CD95C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DCB7-242E-460E-8FCE-39F39AE11BA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71B070-D4B1-AE20-694B-6647EBAF7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0F1AE2-8ACA-D011-0359-62033B28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7E39-D25A-4840-9114-7359EE4DC7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9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3B077D-E2F2-9B81-2B14-7509866D9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428F05-6DEC-5A17-94CF-38936DA61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BC66AF-40C9-5850-EAFC-31347C7D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DCB7-242E-460E-8FCE-39F39AE11BA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F741EF-EDFC-41E3-A5B0-C486E81CC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374BF21-E94F-6FB0-BA4C-7AFA55A53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7E39-D25A-4840-9114-7359EE4DC7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83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F0F60B-E969-9C8D-92B2-0C916CD4A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6A4C47A-EB36-52BA-AF91-AD47BE7CA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FD30E9F-8B70-725F-8C57-B8CAC1A67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DCB7-242E-460E-8FCE-39F39AE11BA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0D390B9-F7C4-B756-C85F-54976BDB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016CF4-7170-6852-B201-7BCB1C578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7E39-D25A-4840-9114-7359EE4DC7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90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850D14-E4A7-A8D9-3657-471A49763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D4B50A-5C7A-2A99-82FA-CB36086A5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ED33992-02FC-FD97-3178-EE3E5A33D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76FA66F-7C75-B067-2BB1-98C9C9C4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DCB7-242E-460E-8FCE-39F39AE11BA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A2F0893-B613-6E18-B54D-F5F152FA3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D5704E9-4EEB-63F8-1412-4BB4B0E67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7E39-D25A-4840-9114-7359EE4DC7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48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B5CF19-6360-9631-5C01-8996C0E4D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5A72AA0-78AB-8941-A919-07B3F5486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EE37E17-F639-1246-0428-D3043E823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8FDD472-9A6B-BDB7-B2E1-73DBC82C81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E221B05-78F6-F752-F4B2-C5EE5354C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0E13DDB-30AB-78C4-4657-6F1F0ADDD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DCB7-242E-460E-8FCE-39F39AE11BA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3C60687-D9F4-B4B6-A395-9C424A398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99FFB8F-ABD9-C3C9-8D04-2BAD1637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7E39-D25A-4840-9114-7359EE4DC7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7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5EDB84-5678-55A5-DDED-778AEAD93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8E4D307-B0FD-E886-810A-AAC95A156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DCB7-242E-460E-8FCE-39F39AE11BA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7DAF1BF-6AC6-C9FB-2261-0D3999BC0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8CF7B57-B5D8-6F02-C8B6-033DA6C84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7E39-D25A-4840-9114-7359EE4DC7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94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A7D7277-ABBD-061C-F87F-3C4311519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DCB7-242E-460E-8FCE-39F39AE11BA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6305EBB-ECA5-EF47-0648-84826FBB4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13657D5-5140-02B3-BC76-68AB163F8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7E39-D25A-4840-9114-7359EE4DC7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28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39F223-5204-106C-628B-0BBE30FF3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30DA35-C212-3F88-72E5-38FDA4059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C7FCAFC-C5E6-51A3-9823-076C1389D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F00E8B4-F3B5-03A7-EE99-F17D8FA99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DCB7-242E-460E-8FCE-39F39AE11BA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A50B786-D347-C8F4-2519-EDDD54F6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C48E87B-B0FD-C671-5259-46F4B956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7E39-D25A-4840-9114-7359EE4DC7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7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BA8EBB-8B36-A358-9B26-F59873110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B74BBC8-93E4-31AD-1FF9-DA661A42A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544D416-0FB3-2F06-EBD4-40464ABF2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7D6D416-E426-33A8-A8C7-8BB2436F9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DCB7-242E-460E-8FCE-39F39AE11BA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38AA63D-B218-EB26-1603-29982A9AF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3A2D12B-3D43-F26F-856E-8BE021AE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7E39-D25A-4840-9114-7359EE4DC7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50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2ECD66-B1D3-3DA7-D716-2BBABBF9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6AD0734-66EF-8D99-215E-BA54D716B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E46701D-A774-9699-4146-A7A860434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DCB7-242E-460E-8FCE-39F39AE11BA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2D0EC4D-9B0E-5653-36D2-DF7D3FA95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798905F-49FE-C705-B670-ED4EEF79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7E39-D25A-4840-9114-7359EE4DC7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67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51A6BBB-B0EB-D7E5-ADE5-A0AA8FAA6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93DA1A2-466C-53B8-ED4B-1FD5F4878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9C9794A-402E-AAB3-3AEA-79CAB7E7A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DCB7-242E-460E-8FCE-39F39AE11BA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D0FC7D2-F7C7-9CE3-D2AD-31DE10F0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5755AAC-C546-00F6-59C7-136E241E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7E39-D25A-4840-9114-7359EE4DC7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079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A645052-15CE-9396-57CE-794B8EDAE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38EF31E-18B2-03DC-940E-C1667D69B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363A11-221D-D220-4FF9-CA93B5E974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11DCB7-242E-460E-8FCE-39F39AE11BA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F6847F8-87EA-0002-97E4-A4F26B5CCC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230E1E-DEB3-6066-A7DB-EA0D7D2EA7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07E39-D25A-4840-9114-7359EE4DC7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26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A84C49E2-0920-F6C0-D73E-75F509A24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3137095"/>
            <a:ext cx="9231410" cy="1413943"/>
          </a:xfrm>
        </p:spPr>
        <p:txBody>
          <a:bodyPr anchor="b">
            <a:normAutofit/>
          </a:bodyPr>
          <a:lstStyle/>
          <a:p>
            <a:pPr algn="l"/>
            <a:r>
              <a:rPr lang="en-GB" sz="3600" b="1" dirty="0"/>
              <a:t>Measuring the </a:t>
            </a:r>
            <a:br>
              <a:rPr lang="en-GB" sz="3600" b="1" dirty="0"/>
            </a:br>
            <a:r>
              <a:rPr lang="en-GB" sz="3600" b="1"/>
              <a:t>Italian Sentiment </a:t>
            </a:r>
            <a:r>
              <a:rPr lang="en-GB" sz="3600" b="1" dirty="0"/>
              <a:t/>
            </a:r>
            <a:br>
              <a:rPr lang="en-GB" sz="3600" b="1" dirty="0"/>
            </a:br>
            <a:r>
              <a:rPr lang="en-GB" sz="3600" b="1" dirty="0"/>
              <a:t>on </a:t>
            </a:r>
            <a:r>
              <a:rPr lang="en-GB" sz="3600" b="1"/>
              <a:t>the Economy</a:t>
            </a:r>
            <a:endParaRPr lang="en-GB" sz="3600" b="1" dirty="0"/>
          </a:p>
        </p:txBody>
      </p:sp>
      <p:sp>
        <p:nvSpPr>
          <p:cNvPr id="5" name="Sottotitolo 4">
            <a:extLst>
              <a:ext uri="{FF2B5EF4-FFF2-40B4-BE49-F238E27FC236}">
                <a16:creationId xmlns:a16="http://schemas.microsoft.com/office/drawing/2014/main" id="{38F1B693-DF74-F66D-894D-603F5A0CA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8762649" cy="493683"/>
          </a:xfrm>
        </p:spPr>
        <p:txBody>
          <a:bodyPr anchor="t">
            <a:normAutofit/>
          </a:bodyPr>
          <a:lstStyle/>
          <a:p>
            <a:pPr algn="l"/>
            <a:r>
              <a:rPr lang="en-GB" sz="2800" u="sng" dirty="0"/>
              <a:t>An application of Deep Learning </a:t>
            </a:r>
            <a:r>
              <a:rPr lang="en-GB" sz="2800" u="sng"/>
              <a:t>to Sentiment </a:t>
            </a:r>
            <a:r>
              <a:rPr lang="en-GB" sz="2800" u="sng" dirty="0"/>
              <a:t>A</a:t>
            </a:r>
            <a:r>
              <a:rPr lang="en-GB" sz="2800" u="sng"/>
              <a:t>nalysis</a:t>
            </a:r>
            <a:endParaRPr lang="en-GB" sz="2800" u="sng" dirty="0"/>
          </a:p>
          <a:p>
            <a:pPr algn="l"/>
            <a:endParaRPr lang="en-GB" sz="28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DE92E31-E4BD-8FA7-BFB3-A7D19F7B0C26}"/>
              </a:ext>
            </a:extLst>
          </p:cNvPr>
          <p:cNvSpPr txBox="1"/>
          <p:nvPr/>
        </p:nvSpPr>
        <p:spPr>
          <a:xfrm>
            <a:off x="1285241" y="5185216"/>
            <a:ext cx="100163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/>
              <a:t>Authors: </a:t>
            </a:r>
            <a:r>
              <a:rPr lang="en-US" sz="2000" u="sng"/>
              <a:t>Mauro Bruno</a:t>
            </a:r>
            <a:r>
              <a:rPr lang="en-US" sz="2000"/>
              <a:t>, Elena Catanese, Francesco Pugliese, Luca Stefanelli</a:t>
            </a:r>
            <a:endParaRPr lang="en-US" sz="20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CDC9A99-A2C8-78D6-DE3D-3D17897B1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49" y="899584"/>
            <a:ext cx="550545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727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E550AC46-4045-7DEB-94A9-B8A08BAD2793}"/>
              </a:ext>
            </a:extLst>
          </p:cNvPr>
          <p:cNvSpPr/>
          <p:nvPr/>
        </p:nvSpPr>
        <p:spPr>
          <a:xfrm>
            <a:off x="6558455" y="451945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C18DA32-2CF0-D30B-47C4-9933BD7DD5DD}"/>
              </a:ext>
            </a:extLst>
          </p:cNvPr>
          <p:cNvSpPr txBox="1"/>
          <p:nvPr/>
        </p:nvSpPr>
        <p:spPr>
          <a:xfrm>
            <a:off x="5345016" y="1547367"/>
            <a:ext cx="6101254" cy="369024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propose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statistical Index that measures the sentiment about economy in Italy using Twitter data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CA7A133B-2A91-B09B-C303-6FC8C6081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624" y="198281"/>
            <a:ext cx="10515600" cy="1172730"/>
          </a:xfrm>
        </p:spPr>
        <p:txBody>
          <a:bodyPr/>
          <a:lstStyle/>
          <a:p>
            <a:r>
              <a:rPr lang="en-US" b="1"/>
              <a:t>Objective</a:t>
            </a:r>
            <a:endParaRPr lang="en-US" b="1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AB604F5-DCB3-E5A4-4956-793F372D4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51" y="3072809"/>
            <a:ext cx="5643596" cy="303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54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8C2BC0-F031-5BBD-EDA8-B0479B2A2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72730"/>
          </a:xfrm>
        </p:spPr>
        <p:txBody>
          <a:bodyPr/>
          <a:lstStyle/>
          <a:p>
            <a:r>
              <a:rPr lang="en-US" b="1" dirty="0"/>
              <a:t>Existing research in the field: the SMEI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5B0B2DC-8E2B-5A57-EB73-23AC4D8B0603}"/>
              </a:ext>
            </a:extLst>
          </p:cNvPr>
          <p:cNvSpPr/>
          <p:nvPr/>
        </p:nvSpPr>
        <p:spPr>
          <a:xfrm>
            <a:off x="838200" y="1947042"/>
            <a:ext cx="10457793" cy="33731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Social Mood on Economy Index (SMEI) is developed by ISTAT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Measures the Italian sentiment on economy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Extracts the sentiment from Twitter data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sentiment analysis is conducted using a lexicon-based, unsupervised, approach</a:t>
            </a:r>
          </a:p>
        </p:txBody>
      </p:sp>
    </p:spTree>
    <p:extLst>
      <p:ext uri="{BB962C8B-B14F-4D97-AF65-F5344CB8AC3E}">
        <p14:creationId xmlns:p14="http://schemas.microsoft.com/office/powerpoint/2010/main" val="3198643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EA5F5965-EA84-E6BC-F2DB-3AD29CD1E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45659"/>
            <a:ext cx="4651630" cy="28068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ISTAT’s SMEI </a:t>
            </a:r>
            <a:br>
              <a:rPr lang="en-US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January-May 2020: </a:t>
            </a:r>
            <a:br>
              <a:rPr lang="en-US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the Covid outbreak in Italy</a:t>
            </a:r>
          </a:p>
        </p:txBody>
      </p:sp>
      <p:pic>
        <p:nvPicPr>
          <p:cNvPr id="5" name="Segnaposto contenuto 7">
            <a:extLst>
              <a:ext uri="{FF2B5EF4-FFF2-40B4-BE49-F238E27FC236}">
                <a16:creationId xmlns:a16="http://schemas.microsoft.com/office/drawing/2014/main" id="{04B66597-7CED-E7CF-C14B-524C7A742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630" y="291760"/>
            <a:ext cx="7043546" cy="60222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9555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466C80-02C7-D114-370E-FCF1C0287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Materials and Methods: BiLSTM</a:t>
            </a:r>
            <a:endParaRPr lang="en-US" b="1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FCD2CD2-D81C-E0CB-B180-391F0CD27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84" y="4417763"/>
            <a:ext cx="6137822" cy="231141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BBC4DE3A-CAEA-7753-42C0-0BC7E1AA3D4D}"/>
              </a:ext>
            </a:extLst>
          </p:cNvPr>
          <p:cNvSpPr txBox="1"/>
          <p:nvPr/>
        </p:nvSpPr>
        <p:spPr>
          <a:xfrm>
            <a:off x="1075362" y="1536919"/>
            <a:ext cx="10515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>
                <a:solidFill>
                  <a:prstClr val="black"/>
                </a:solidFill>
                <a:latin typeface="Calibri" panose="020F0502020204030204"/>
              </a:rPr>
              <a:t>Our classification model is a Bidirectional Long short-term memory (BiLSTM). LSTMs are a type of RNN able to process long sequences of data whereas BiLSTM are able to understand the left context and right context of sequences.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>
              <a:solidFill>
                <a:prstClr val="black"/>
              </a:solidFill>
              <a:latin typeface="Calibri" panose="020F0502020204030204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>
                <a:solidFill>
                  <a:prstClr val="black"/>
                </a:solidFill>
                <a:latin typeface="Calibri" panose="020F0502020204030204"/>
              </a:rPr>
              <a:t>A LSTM memory cell is composed of 4 units exactly: an input gate, an output gate, a forget gate and a self-recurrent neuron.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3372C08-A9C8-A984-9989-1B14DCF53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8369" y="4568547"/>
            <a:ext cx="3531647" cy="2009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6258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466C80-02C7-D114-370E-FCF1C0287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Materials and Methods: FastText</a:t>
            </a:r>
            <a:endParaRPr lang="en-US" b="1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BC4DE3A-CAEA-7753-42C0-0BC7E1AA3D4D}"/>
              </a:ext>
            </a:extLst>
          </p:cNvPr>
          <p:cNvSpPr txBox="1"/>
          <p:nvPr/>
        </p:nvSpPr>
        <p:spPr>
          <a:xfrm>
            <a:off x="667820" y="1536919"/>
            <a:ext cx="1092314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>
                <a:solidFill>
                  <a:prstClr val="black"/>
                </a:solidFill>
                <a:latin typeface="Calibri" panose="020F0502020204030204"/>
              </a:rPr>
              <a:t>Our Word Embeddings Model is FastText which is an evolution of Word2Vec.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>
                <a:solidFill>
                  <a:prstClr val="black"/>
                </a:solidFill>
                <a:latin typeface="Calibri" panose="020F0502020204030204"/>
              </a:rPr>
              <a:t>FastText enables to quickly train models on large corpora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>
                <a:solidFill>
                  <a:prstClr val="black"/>
                </a:solidFill>
                <a:latin typeface="Calibri" panose="020F0502020204030204"/>
              </a:rPr>
              <a:t>FastText make use of hierarchical soft-max based which is able to noticeably drop computational complexity and can be trained on more than one billion words in less than ten minutes using a standard multicore CPU. </a:t>
            </a:r>
            <a:endParaRPr lang="it-IT" sz="2800">
              <a:solidFill>
                <a:prstClr val="black"/>
              </a:solidFill>
              <a:latin typeface="Calibri" panose="020F0502020204030204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magine 7" descr="Immagine che contiene testo&#10;&#10;Descrizione generata automaticamente">
            <a:extLst>
              <a:ext uri="{FF2B5EF4-FFF2-40B4-BE49-F238E27FC236}">
                <a16:creationId xmlns:a16="http://schemas.microsoft.com/office/drawing/2014/main" id="{BB1DBCC2-3120-22C8-99C9-4D136CA2A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691" y="4142477"/>
            <a:ext cx="4697109" cy="281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455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466C80-02C7-D114-370E-FCF1C0287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a new Index?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04A2FF46-B66A-0B94-26A3-2A583E740A2C}"/>
              </a:ext>
            </a:extLst>
          </p:cNvPr>
          <p:cNvSpPr/>
          <p:nvPr/>
        </p:nvSpPr>
        <p:spPr>
          <a:xfrm>
            <a:off x="838200" y="1947042"/>
            <a:ext cx="10457793" cy="395499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ISTAT’s Index (SMEI) needed a revision to deal with new events (Covid pandemic)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proposed </a:t>
            </a:r>
            <a:r>
              <a:rPr lang="en-GB" sz="2800" dirty="0">
                <a:solidFill>
                  <a:schemeClr val="tx1"/>
                </a:solidFill>
                <a:latin typeface="Calibri" panose="020F0502020204030204"/>
              </a:rPr>
              <a:t>model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may have a higher adaptability to new information</a:t>
            </a:r>
          </a:p>
          <a:p>
            <a:pPr marL="228600" indent="-2286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GB" sz="2800" dirty="0">
                <a:solidFill>
                  <a:schemeClr val="tx1"/>
                </a:solidFill>
                <a:latin typeface="Calibri" panose="020F0502020204030204"/>
              </a:rPr>
              <a:t>The proposed model is a neural network that has been trained on a set of labelled Tweets that do not contain references to the pandemic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7300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4FD2CAB5-07F2-92E0-E595-7FB6455A86EF}"/>
              </a:ext>
            </a:extLst>
          </p:cNvPr>
          <p:cNvSpPr txBox="1">
            <a:spLocks/>
          </p:cNvSpPr>
          <p:nvPr/>
        </p:nvSpPr>
        <p:spPr>
          <a:xfrm>
            <a:off x="394858" y="963507"/>
            <a:ext cx="3646759" cy="493098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The proposed Index: </a:t>
            </a:r>
          </a:p>
          <a:p>
            <a:pPr algn="ctr"/>
            <a:r>
              <a:rPr lang="en-US" b="1" dirty="0"/>
              <a:t>DL-SMEI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7BE5C853-F0E8-22F7-608D-A832C6DD4A42}"/>
                  </a:ext>
                </a:extLst>
              </p:cNvPr>
              <p:cNvSpPr/>
              <p:nvPr/>
            </p:nvSpPr>
            <p:spPr>
              <a:xfrm>
                <a:off x="4836072" y="3935849"/>
                <a:ext cx="5917324" cy="204272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𝐷𝐿</m:t>
                      </m:r>
                      <m:r>
                        <a:rPr lang="en-US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𝑆𝑀𝐸𝐼</m:t>
                      </m:r>
                      <m:r>
                        <a:rPr lang="en-US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7BE5C853-F0E8-22F7-608D-A832C6DD4A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072" y="3935849"/>
                <a:ext cx="5917324" cy="20427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ttangolo 6">
            <a:extLst>
              <a:ext uri="{FF2B5EF4-FFF2-40B4-BE49-F238E27FC236}">
                <a16:creationId xmlns:a16="http://schemas.microsoft.com/office/drawing/2014/main" id="{8743A0A9-7DEC-561D-581A-AB19E7C1261F}"/>
              </a:ext>
            </a:extLst>
          </p:cNvPr>
          <p:cNvSpPr/>
          <p:nvPr/>
        </p:nvSpPr>
        <p:spPr>
          <a:xfrm>
            <a:off x="4235668" y="513920"/>
            <a:ext cx="7118131" cy="303875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Computed daily using the sentiment predicted by the model on a set of tweets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600" dirty="0">
                <a:solidFill>
                  <a:prstClr val="black"/>
                </a:solidFill>
                <a:latin typeface="Calibri" panose="020F0502020204030204"/>
              </a:rPr>
              <a:t>The sentiment is predicted using a neural network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indent="-2286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set of tweets is the same used by ISTAT for the SMEI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Computed for the first half of 2020</a:t>
            </a:r>
          </a:p>
        </p:txBody>
      </p:sp>
    </p:spTree>
    <p:extLst>
      <p:ext uri="{BB962C8B-B14F-4D97-AF65-F5344CB8AC3E}">
        <p14:creationId xmlns:p14="http://schemas.microsoft.com/office/powerpoint/2010/main" val="404299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8C2BC0-F031-5BBD-EDA8-B0479B2A2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073"/>
            <a:ext cx="10515600" cy="1325563"/>
          </a:xfrm>
        </p:spPr>
        <p:txBody>
          <a:bodyPr/>
          <a:lstStyle/>
          <a:p>
            <a:r>
              <a:rPr lang="en-US" b="1" dirty="0">
                <a:latin typeface="Verdana Pro Cond Light" panose="020B0306030504040204" pitchFamily="34" charset="0"/>
              </a:rPr>
              <a:t>The proposed Index (DL-SMEI)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366BC692-E5C3-9C47-A936-397E86B4E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69" y="1681015"/>
            <a:ext cx="11645462" cy="363599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69000"/>
              </a:prstClr>
            </a:outerShdw>
          </a:effectLst>
        </p:spPr>
      </p:pic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B7367086-932C-15DC-8E39-C6992614F79A}"/>
              </a:ext>
            </a:extLst>
          </p:cNvPr>
          <p:cNvCxnSpPr>
            <a:cxnSpLocks/>
          </p:cNvCxnSpPr>
          <p:nvPr/>
        </p:nvCxnSpPr>
        <p:spPr>
          <a:xfrm>
            <a:off x="5717628" y="1831920"/>
            <a:ext cx="0" cy="278212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4BC8C19-948C-5AA2-9775-F1079C940678}"/>
              </a:ext>
            </a:extLst>
          </p:cNvPr>
          <p:cNvSpPr txBox="1"/>
          <p:nvPr/>
        </p:nvSpPr>
        <p:spPr>
          <a:xfrm>
            <a:off x="1932707" y="5531110"/>
            <a:ext cx="2026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-0.157</a:t>
            </a:r>
            <a:endParaRPr lang="en-GB" sz="320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54A55E0-021D-D433-2BFF-15665CBBA29D}"/>
              </a:ext>
            </a:extLst>
          </p:cNvPr>
          <p:cNvSpPr txBox="1"/>
          <p:nvPr/>
        </p:nvSpPr>
        <p:spPr>
          <a:xfrm>
            <a:off x="6338873" y="5531108"/>
            <a:ext cx="2026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-0.260</a:t>
            </a:r>
            <a:endParaRPr lang="en-GB" sz="320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E513466-75DA-E32A-0357-22FE2D41A91E}"/>
              </a:ext>
            </a:extLst>
          </p:cNvPr>
          <p:cNvSpPr txBox="1"/>
          <p:nvPr/>
        </p:nvSpPr>
        <p:spPr>
          <a:xfrm>
            <a:off x="9327573" y="5531108"/>
            <a:ext cx="2026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-0.190</a:t>
            </a:r>
            <a:endParaRPr lang="en-GB" sz="32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A5CB396-1E93-DAEB-3515-B51AABAE1FBB}"/>
              </a:ext>
            </a:extLst>
          </p:cNvPr>
          <p:cNvSpPr txBox="1"/>
          <p:nvPr/>
        </p:nvSpPr>
        <p:spPr>
          <a:xfrm>
            <a:off x="6424452" y="1852940"/>
            <a:ext cx="1618586" cy="95410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+ 10.3% </a:t>
            </a:r>
            <a:r>
              <a:rPr lang="it-IT" sz="2800" dirty="0" err="1">
                <a:solidFill>
                  <a:schemeClr val="bg1"/>
                </a:solidFill>
              </a:rPr>
              <a:t>negatives</a:t>
            </a:r>
            <a:endParaRPr lang="en-GB" sz="2800" dirty="0">
              <a:solidFill>
                <a:schemeClr val="bg1"/>
              </a:solidFill>
            </a:endParaRPr>
          </a:p>
        </p:txBody>
      </p: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649326F7-FFEC-81C7-834F-44C49E4544A8}"/>
              </a:ext>
            </a:extLst>
          </p:cNvPr>
          <p:cNvCxnSpPr>
            <a:cxnSpLocks/>
          </p:cNvCxnSpPr>
          <p:nvPr/>
        </p:nvCxnSpPr>
        <p:spPr>
          <a:xfrm>
            <a:off x="8981089" y="1831920"/>
            <a:ext cx="0" cy="278212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3EF92848-EBB1-E0B3-4780-537F51E5E8BB}"/>
              </a:ext>
            </a:extLst>
          </p:cNvPr>
          <p:cNvCxnSpPr>
            <a:cxnSpLocks/>
          </p:cNvCxnSpPr>
          <p:nvPr/>
        </p:nvCxnSpPr>
        <p:spPr>
          <a:xfrm>
            <a:off x="5717628" y="5358137"/>
            <a:ext cx="0" cy="90580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643585BB-2668-D448-0A4D-099863545951}"/>
              </a:ext>
            </a:extLst>
          </p:cNvPr>
          <p:cNvCxnSpPr>
            <a:cxnSpLocks/>
          </p:cNvCxnSpPr>
          <p:nvPr/>
        </p:nvCxnSpPr>
        <p:spPr>
          <a:xfrm>
            <a:off x="8986345" y="5317007"/>
            <a:ext cx="0" cy="94693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63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egnaposto contenuto 10">
            <a:extLst>
              <a:ext uri="{FF2B5EF4-FFF2-40B4-BE49-F238E27FC236}">
                <a16:creationId xmlns:a16="http://schemas.microsoft.com/office/drawing/2014/main" id="{CABC55B4-8351-E9F3-E765-F2B1385ED30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491" y="283206"/>
            <a:ext cx="3810000" cy="1905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Segnaposto contenuto 12">
            <a:extLst>
              <a:ext uri="{FF2B5EF4-FFF2-40B4-BE49-F238E27FC236}">
                <a16:creationId xmlns:a16="http://schemas.microsoft.com/office/drawing/2014/main" id="{081FA3EE-CE47-C45A-680F-EA0B259980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3048794"/>
            <a:ext cx="3810000" cy="1905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5206DB3F-14A3-4769-ACC4-28DAA3B6D5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491" y="4690576"/>
            <a:ext cx="3810000" cy="1905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F4B86926-EE2B-A2B9-8106-78F94021BB79}"/>
              </a:ext>
            </a:extLst>
          </p:cNvPr>
          <p:cNvSpPr txBox="1"/>
          <p:nvPr/>
        </p:nvSpPr>
        <p:spPr>
          <a:xfrm>
            <a:off x="1856509" y="1015671"/>
            <a:ext cx="3809999" cy="578882"/>
          </a:xfrm>
          <a:prstGeom prst="roundRect">
            <a:avLst/>
          </a:prstGeom>
          <a:noFill/>
          <a:ln w="19050">
            <a:solidFill>
              <a:srgbClr val="91C2F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1</a:t>
            </a:r>
            <a:r>
              <a:rPr lang="it-IT" sz="2800" baseline="30000" dirty="0"/>
              <a:t>st</a:t>
            </a:r>
            <a:r>
              <a:rPr lang="it-IT" sz="2800" dirty="0"/>
              <a:t> </a:t>
            </a:r>
            <a:r>
              <a:rPr lang="it-IT" sz="2800" dirty="0" err="1"/>
              <a:t>January</a:t>
            </a:r>
            <a:r>
              <a:rPr lang="it-IT" sz="2800" dirty="0"/>
              <a:t> – 7</a:t>
            </a:r>
            <a:r>
              <a:rPr lang="it-IT" sz="2800" baseline="30000" dirty="0"/>
              <a:t>th</a:t>
            </a:r>
            <a:r>
              <a:rPr lang="it-IT" sz="2800" dirty="0"/>
              <a:t> March</a:t>
            </a:r>
            <a:endParaRPr lang="en-GB" sz="28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B876AD0-9063-A5F8-5C2F-A68AE7E719D3}"/>
              </a:ext>
            </a:extLst>
          </p:cNvPr>
          <p:cNvSpPr txBox="1"/>
          <p:nvPr/>
        </p:nvSpPr>
        <p:spPr>
          <a:xfrm>
            <a:off x="1856509" y="3103047"/>
            <a:ext cx="3810000" cy="578882"/>
          </a:xfrm>
          <a:prstGeom prst="roundRect">
            <a:avLst/>
          </a:prstGeom>
          <a:noFill/>
          <a:ln w="19050">
            <a:solidFill>
              <a:srgbClr val="91C2F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8</a:t>
            </a:r>
            <a:r>
              <a:rPr lang="it-IT" sz="2800" baseline="30000" dirty="0"/>
              <a:t>th</a:t>
            </a:r>
            <a:r>
              <a:rPr lang="it-IT" sz="2800" dirty="0"/>
              <a:t> March – 21</a:t>
            </a:r>
            <a:r>
              <a:rPr lang="it-IT" sz="2800" baseline="30000" dirty="0"/>
              <a:t>st</a:t>
            </a:r>
            <a:r>
              <a:rPr lang="it-IT" sz="2800" dirty="0"/>
              <a:t> April</a:t>
            </a:r>
            <a:endParaRPr lang="en-GB" sz="2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03E905E-A823-2370-8D62-65449219A714}"/>
              </a:ext>
            </a:extLst>
          </p:cNvPr>
          <p:cNvSpPr txBox="1"/>
          <p:nvPr/>
        </p:nvSpPr>
        <p:spPr>
          <a:xfrm>
            <a:off x="1856510" y="5088137"/>
            <a:ext cx="3810000" cy="578882"/>
          </a:xfrm>
          <a:prstGeom prst="roundRect">
            <a:avLst/>
          </a:prstGeom>
          <a:noFill/>
          <a:ln w="19050">
            <a:solidFill>
              <a:srgbClr val="91C2F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22</a:t>
            </a:r>
            <a:r>
              <a:rPr lang="it-IT" sz="2800" baseline="30000" dirty="0"/>
              <a:t>nd</a:t>
            </a:r>
            <a:r>
              <a:rPr lang="it-IT" sz="2800" dirty="0"/>
              <a:t> April – 31</a:t>
            </a:r>
            <a:r>
              <a:rPr lang="it-IT" sz="2800" baseline="30000" dirty="0"/>
              <a:t>st</a:t>
            </a:r>
            <a:r>
              <a:rPr lang="it-IT" sz="2800" dirty="0"/>
              <a:t> </a:t>
            </a:r>
            <a:r>
              <a:rPr lang="it-IT" sz="2800" dirty="0" err="1"/>
              <a:t>May</a:t>
            </a:r>
            <a:endParaRPr lang="en-GB" sz="2800" dirty="0"/>
          </a:p>
        </p:txBody>
      </p:sp>
      <p:sp>
        <p:nvSpPr>
          <p:cNvPr id="3" name="Freccia a destra 2">
            <a:extLst>
              <a:ext uri="{FF2B5EF4-FFF2-40B4-BE49-F238E27FC236}">
                <a16:creationId xmlns:a16="http://schemas.microsoft.com/office/drawing/2014/main" id="{882C9C44-200B-1056-BF1D-89AEA85A2900}"/>
              </a:ext>
            </a:extLst>
          </p:cNvPr>
          <p:cNvSpPr/>
          <p:nvPr/>
        </p:nvSpPr>
        <p:spPr>
          <a:xfrm>
            <a:off x="325582" y="3103047"/>
            <a:ext cx="1101436" cy="5788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153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olo 1">
            <a:extLst>
              <a:ext uri="{FF2B5EF4-FFF2-40B4-BE49-F238E27FC236}">
                <a16:creationId xmlns:a16="http://schemas.microsoft.com/office/drawing/2014/main" id="{AC535419-DA45-302E-F865-3FB7E8036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6756"/>
            <a:ext cx="12192000" cy="765507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4000" b="1" dirty="0"/>
              <a:t>Focus on second period (</a:t>
            </a:r>
            <a:r>
              <a:rPr lang="it-IT" sz="4000" b="1" dirty="0"/>
              <a:t>8</a:t>
            </a:r>
            <a:r>
              <a:rPr lang="it-IT" sz="4000" b="1" baseline="30000" dirty="0"/>
              <a:t>th</a:t>
            </a:r>
            <a:r>
              <a:rPr lang="it-IT" sz="4000" b="1" dirty="0"/>
              <a:t> March – 21</a:t>
            </a:r>
            <a:r>
              <a:rPr lang="it-IT" sz="4000" b="1" baseline="30000" dirty="0"/>
              <a:t>st</a:t>
            </a:r>
            <a:r>
              <a:rPr lang="it-IT" sz="4000" b="1" dirty="0"/>
              <a:t> April)</a:t>
            </a:r>
            <a:r>
              <a:rPr lang="en-US" sz="4000" b="1" dirty="0"/>
              <a:t>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825D873-162B-BCA8-CAFA-BA6E4EC7F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319" y="1669836"/>
            <a:ext cx="5157787" cy="563251"/>
          </a:xfrm>
          <a:prstGeom prst="roundRect">
            <a:avLst/>
          </a:prstGeom>
          <a:noFill/>
          <a:ln w="25400">
            <a:solidFill>
              <a:srgbClr val="92D050"/>
            </a:solidFill>
          </a:ln>
        </p:spPr>
        <p:txBody>
          <a:bodyPr>
            <a:normAutofit lnSpcReduction="10000"/>
          </a:bodyPr>
          <a:lstStyle/>
          <a:p>
            <a:pPr algn="ctr"/>
            <a:r>
              <a:rPr lang="it-IT" sz="3200" b="0" dirty="0">
                <a:solidFill>
                  <a:srgbClr val="92D050"/>
                </a:solidFill>
              </a:rPr>
              <a:t>Positive words</a:t>
            </a:r>
            <a:endParaRPr lang="en-GB" sz="3200" b="0" dirty="0">
              <a:solidFill>
                <a:srgbClr val="92D050"/>
              </a:solidFill>
            </a:endParaRP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ABF576B9-0987-D48C-64CC-78B3889724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04" y="2443076"/>
            <a:ext cx="5293016" cy="274508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5CB7CEC-133A-3A8D-A050-2DF1DE41F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5490" y="1669837"/>
            <a:ext cx="5183188" cy="563251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txBody>
          <a:bodyPr vert="horz" lIns="91440" tIns="45720" rIns="91440" bIns="45720" rtlCol="0" anchor="b">
            <a:normAutofit lnSpcReduction="10000"/>
          </a:bodyPr>
          <a:lstStyle/>
          <a:p>
            <a:pPr algn="ctr"/>
            <a:r>
              <a:rPr lang="it-IT" sz="3200" b="0" dirty="0">
                <a:solidFill>
                  <a:srgbClr val="FF0000"/>
                </a:solidFill>
              </a:rPr>
              <a:t>Negative words</a:t>
            </a:r>
            <a:endParaRPr lang="en-GB" sz="3200" b="0" dirty="0">
              <a:solidFill>
                <a:srgbClr val="FF0000"/>
              </a:solidFill>
            </a:endParaRPr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2976904D-78C2-3440-06DB-712D3BFA955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847" y="2443076"/>
            <a:ext cx="4433310" cy="229922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492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8C2BC0-F031-5BBD-EDA8-B0479B2A2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Maximum and Minimum points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E822C2-0960-A425-033B-C27573942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690689"/>
            <a:ext cx="11430000" cy="356872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Connettore 5">
            <a:extLst>
              <a:ext uri="{FF2B5EF4-FFF2-40B4-BE49-F238E27FC236}">
                <a16:creationId xmlns:a16="http://schemas.microsoft.com/office/drawing/2014/main" id="{9D0BB5FB-525D-7C15-E579-9D4C27E496BB}"/>
              </a:ext>
            </a:extLst>
          </p:cNvPr>
          <p:cNvSpPr/>
          <p:nvPr/>
        </p:nvSpPr>
        <p:spPr>
          <a:xfrm>
            <a:off x="5257800" y="1495761"/>
            <a:ext cx="671945" cy="675940"/>
          </a:xfrm>
          <a:prstGeom prst="flowChartConnector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onnettore 6">
            <a:extLst>
              <a:ext uri="{FF2B5EF4-FFF2-40B4-BE49-F238E27FC236}">
                <a16:creationId xmlns:a16="http://schemas.microsoft.com/office/drawing/2014/main" id="{324BE8B9-2303-B09A-126D-1189270EF206}"/>
              </a:ext>
            </a:extLst>
          </p:cNvPr>
          <p:cNvSpPr/>
          <p:nvPr/>
        </p:nvSpPr>
        <p:spPr>
          <a:xfrm>
            <a:off x="7882161" y="4083353"/>
            <a:ext cx="671945" cy="675940"/>
          </a:xfrm>
          <a:prstGeom prst="flowChartConnector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nettore 7">
            <a:extLst>
              <a:ext uri="{FF2B5EF4-FFF2-40B4-BE49-F238E27FC236}">
                <a16:creationId xmlns:a16="http://schemas.microsoft.com/office/drawing/2014/main" id="{E3728B44-328F-0A1E-5BBD-0A1B00BC0164}"/>
              </a:ext>
            </a:extLst>
          </p:cNvPr>
          <p:cNvSpPr/>
          <p:nvPr/>
        </p:nvSpPr>
        <p:spPr>
          <a:xfrm>
            <a:off x="685800" y="1495761"/>
            <a:ext cx="671945" cy="675940"/>
          </a:xfrm>
          <a:prstGeom prst="flowChartConnector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96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2B9BD5-84FE-48C5-A68E-207D015CF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319" y="344273"/>
            <a:ext cx="10515600" cy="1325563"/>
          </a:xfrm>
        </p:spPr>
        <p:txBody>
          <a:bodyPr/>
          <a:lstStyle/>
          <a:p>
            <a:r>
              <a:rPr lang="en-US" b="1" dirty="0"/>
              <a:t>Second Maximum on the 6</a:t>
            </a:r>
            <a:r>
              <a:rPr lang="en-US" b="1" baseline="30000" dirty="0"/>
              <a:t>th </a:t>
            </a:r>
            <a:r>
              <a:rPr lang="en-US" b="1" dirty="0"/>
              <a:t>March</a:t>
            </a:r>
          </a:p>
        </p:txBody>
      </p:sp>
      <p:sp>
        <p:nvSpPr>
          <p:cNvPr id="11" name="Segnaposto testo 2">
            <a:extLst>
              <a:ext uri="{FF2B5EF4-FFF2-40B4-BE49-F238E27FC236}">
                <a16:creationId xmlns:a16="http://schemas.microsoft.com/office/drawing/2014/main" id="{F20798B0-41D0-60FE-1853-B1128600E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319" y="1669836"/>
            <a:ext cx="5157787" cy="563251"/>
          </a:xfrm>
          <a:prstGeom prst="roundRect">
            <a:avLst/>
          </a:prstGeom>
          <a:noFill/>
          <a:ln w="25400">
            <a:solidFill>
              <a:srgbClr val="92D050"/>
            </a:solidFill>
          </a:ln>
        </p:spPr>
        <p:txBody>
          <a:bodyPr>
            <a:normAutofit lnSpcReduction="10000"/>
          </a:bodyPr>
          <a:lstStyle/>
          <a:p>
            <a:pPr algn="ctr"/>
            <a:r>
              <a:rPr lang="it-IT" sz="3200" b="0" dirty="0">
                <a:solidFill>
                  <a:srgbClr val="92D050"/>
                </a:solidFill>
              </a:rPr>
              <a:t>Positive words</a:t>
            </a:r>
            <a:endParaRPr lang="en-GB" sz="3200" b="0" dirty="0">
              <a:solidFill>
                <a:srgbClr val="92D050"/>
              </a:solidFill>
            </a:endParaRPr>
          </a:p>
        </p:txBody>
      </p:sp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6362F733-B57F-98BD-10A6-E4287AC37F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16" y="2458335"/>
            <a:ext cx="5263592" cy="27298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8C3C72FB-23B9-C510-1EAB-7A4E3E316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5490" y="1669837"/>
            <a:ext cx="5183188" cy="563251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txBody>
          <a:bodyPr vert="horz" lIns="91440" tIns="45720" rIns="91440" bIns="45720" rtlCol="0" anchor="b">
            <a:normAutofit lnSpcReduction="10000"/>
          </a:bodyPr>
          <a:lstStyle/>
          <a:p>
            <a:pPr algn="ctr"/>
            <a:r>
              <a:rPr lang="it-IT" sz="3200" b="0" dirty="0">
                <a:solidFill>
                  <a:srgbClr val="FF0000"/>
                </a:solidFill>
              </a:rPr>
              <a:t>Negative words</a:t>
            </a:r>
            <a:endParaRPr lang="en-GB" sz="3200" b="0" dirty="0">
              <a:solidFill>
                <a:srgbClr val="FF0000"/>
              </a:solidFill>
            </a:endParaRPr>
          </a:p>
        </p:txBody>
      </p:sp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14816F5C-7F13-0168-F6B8-89A822DD7BA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139" y="3197757"/>
            <a:ext cx="4433310" cy="22992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634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253F6E-8925-3C20-7EC5-C438C7F9A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0500"/>
            <a:ext cx="10515600" cy="1325563"/>
          </a:xfrm>
        </p:spPr>
        <p:txBody>
          <a:bodyPr/>
          <a:lstStyle/>
          <a:p>
            <a:r>
              <a:rPr lang="it-IT" b="1" u="sng"/>
              <a:t>Limitations</a:t>
            </a:r>
            <a:endParaRPr lang="en-GB" b="1" u="sng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2A5B571-9955-16EB-2BDF-D508446A7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67" y="708106"/>
            <a:ext cx="10515600" cy="2939220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it-IT" sz="3200" dirty="0" err="1">
                <a:solidFill>
                  <a:schemeClr val="tx1"/>
                </a:solidFill>
              </a:rPr>
              <a:t>Misclassification</a:t>
            </a:r>
            <a:r>
              <a:rPr lang="it-IT" sz="3200" dirty="0">
                <a:solidFill>
                  <a:schemeClr val="tx1"/>
                </a:solidFill>
                <a:ea typeface="Microsoft JhengHei UI" panose="020B0604030504040204" pitchFamily="34" charset="-120"/>
              </a:rPr>
              <a:t> of Covid: </a:t>
            </a:r>
            <a:r>
              <a:rPr lang="it-IT" sz="3200" dirty="0" err="1">
                <a:solidFill>
                  <a:schemeClr val="tx1"/>
                </a:solidFill>
                <a:ea typeface="Microsoft JhengHei UI" panose="020B0604030504040204" pitchFamily="34" charset="-120"/>
              </a:rPr>
              <a:t>updated</a:t>
            </a:r>
            <a:r>
              <a:rPr lang="it-IT" sz="3200" dirty="0">
                <a:solidFill>
                  <a:schemeClr val="tx1"/>
                </a:solidFill>
                <a:ea typeface="Microsoft JhengHei UI" panose="020B0604030504040204" pitchFamily="34" charset="-120"/>
              </a:rPr>
              <a:t> training set </a:t>
            </a:r>
            <a:r>
              <a:rPr lang="it-IT" sz="3200" dirty="0" err="1">
                <a:solidFill>
                  <a:schemeClr val="tx1"/>
                </a:solidFill>
                <a:ea typeface="Microsoft JhengHei UI" panose="020B0604030504040204" pitchFamily="34" charset="-120"/>
              </a:rPr>
              <a:t>may</a:t>
            </a:r>
            <a:r>
              <a:rPr lang="it-IT" sz="3200" dirty="0">
                <a:solidFill>
                  <a:schemeClr val="tx1"/>
                </a:solidFill>
                <a:ea typeface="Microsoft JhengHei UI" panose="020B0604030504040204" pitchFamily="34" charset="-120"/>
              </a:rPr>
              <a:t> </a:t>
            </a:r>
            <a:r>
              <a:rPr lang="it-IT" sz="3200" err="1">
                <a:solidFill>
                  <a:schemeClr val="tx1"/>
                </a:solidFill>
                <a:ea typeface="Microsoft JhengHei UI" panose="020B0604030504040204" pitchFamily="34" charset="-120"/>
              </a:rPr>
              <a:t>increase</a:t>
            </a:r>
            <a:r>
              <a:rPr lang="it-IT" sz="3200">
                <a:solidFill>
                  <a:schemeClr val="tx1"/>
                </a:solidFill>
                <a:ea typeface="Microsoft JhengHei UI" panose="020B0604030504040204" pitchFamily="34" charset="-120"/>
              </a:rPr>
              <a:t> accuracy</a:t>
            </a:r>
            <a:endParaRPr lang="en-GB" sz="3200">
              <a:solidFill>
                <a:schemeClr val="tx1"/>
              </a:solidFill>
              <a:ea typeface="Microsoft JhengHei UI" panose="020B0604030504040204" pitchFamily="34" charset="-12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it-IT" sz="3200">
                <a:solidFill>
                  <a:schemeClr val="tx1"/>
                </a:solidFill>
                <a:ea typeface="Microsoft JhengHei UI" panose="020B0604030504040204" pitchFamily="34" charset="-120"/>
              </a:rPr>
              <a:t>Unrepresentativeness </a:t>
            </a:r>
            <a:r>
              <a:rPr lang="it-IT" sz="3200" dirty="0">
                <a:solidFill>
                  <a:schemeClr val="tx1"/>
                </a:solidFill>
                <a:ea typeface="Microsoft JhengHei UI" panose="020B0604030504040204" pitchFamily="34" charset="-120"/>
              </a:rPr>
              <a:t>of Social Media data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it-IT" sz="3200" dirty="0" err="1">
                <a:solidFill>
                  <a:schemeClr val="tx1"/>
                </a:solidFill>
                <a:ea typeface="Microsoft JhengHei UI" panose="020B0604030504040204" pitchFamily="34" charset="-120"/>
              </a:rPr>
              <a:t>Difficult</a:t>
            </a:r>
            <a:r>
              <a:rPr lang="it-IT" sz="3200" dirty="0">
                <a:solidFill>
                  <a:schemeClr val="tx1"/>
                </a:solidFill>
                <a:ea typeface="Microsoft JhengHei UI" panose="020B0604030504040204" pitchFamily="34" charset="-120"/>
              </a:rPr>
              <a:t> to </a:t>
            </a:r>
            <a:r>
              <a:rPr lang="it-IT" sz="3200" dirty="0" err="1">
                <a:solidFill>
                  <a:schemeClr val="tx1"/>
                </a:solidFill>
                <a:ea typeface="Microsoft JhengHei UI" panose="020B0604030504040204" pitchFamily="34" charset="-120"/>
              </a:rPr>
              <a:t>evaluate</a:t>
            </a:r>
            <a:r>
              <a:rPr lang="it-IT" sz="3200" dirty="0">
                <a:solidFill>
                  <a:schemeClr val="tx1"/>
                </a:solidFill>
                <a:ea typeface="Microsoft JhengHei UI" panose="020B0604030504040204" pitchFamily="34" charset="-120"/>
              </a:rPr>
              <a:t> the </a:t>
            </a:r>
            <a:r>
              <a:rPr lang="it-IT" sz="3200" dirty="0" err="1">
                <a:solidFill>
                  <a:schemeClr val="tx1"/>
                </a:solidFill>
                <a:ea typeface="Microsoft JhengHei UI" panose="020B0604030504040204" pitchFamily="34" charset="-120"/>
              </a:rPr>
              <a:t>accuracy</a:t>
            </a:r>
            <a:r>
              <a:rPr lang="it-IT" sz="3200" dirty="0">
                <a:solidFill>
                  <a:schemeClr val="tx1"/>
                </a:solidFill>
                <a:ea typeface="Microsoft JhengHei UI" panose="020B0604030504040204" pitchFamily="34" charset="-120"/>
              </a:rPr>
              <a:t> of the Index: </a:t>
            </a:r>
            <a:r>
              <a:rPr lang="it-IT" sz="3200" dirty="0" err="1">
                <a:solidFill>
                  <a:schemeClr val="tx1"/>
                </a:solidFill>
                <a:ea typeface="Microsoft JhengHei UI" panose="020B0604030504040204" pitchFamily="34" charset="-120"/>
              </a:rPr>
              <a:t>need</a:t>
            </a:r>
            <a:r>
              <a:rPr lang="it-IT" sz="3200" dirty="0">
                <a:solidFill>
                  <a:schemeClr val="tx1"/>
                </a:solidFill>
                <a:ea typeface="Microsoft JhengHei UI" panose="020B0604030504040204" pitchFamily="34" charset="-120"/>
              </a:rPr>
              <a:t> of a </a:t>
            </a:r>
            <a:r>
              <a:rPr lang="it-IT" sz="3200" dirty="0" err="1">
                <a:solidFill>
                  <a:schemeClr val="tx1"/>
                </a:solidFill>
                <a:ea typeface="Microsoft JhengHei UI" panose="020B0604030504040204" pitchFamily="34" charset="-120"/>
              </a:rPr>
              <a:t>reference</a:t>
            </a:r>
            <a:r>
              <a:rPr lang="it-IT" sz="3200" dirty="0">
                <a:solidFill>
                  <a:schemeClr val="tx1"/>
                </a:solidFill>
                <a:ea typeface="Microsoft JhengHei UI" panose="020B0604030504040204" pitchFamily="34" charset="-120"/>
              </a:rPr>
              <a:t> </a:t>
            </a:r>
            <a:r>
              <a:rPr lang="it-IT" sz="3200" dirty="0" err="1">
                <a:solidFill>
                  <a:schemeClr val="tx1"/>
                </a:solidFill>
                <a:ea typeface="Microsoft JhengHei UI" panose="020B0604030504040204" pitchFamily="34" charset="-120"/>
              </a:rPr>
              <a:t>measure</a:t>
            </a:r>
            <a:endParaRPr lang="it-IT" sz="3200" dirty="0">
              <a:solidFill>
                <a:schemeClr val="tx1"/>
              </a:solidFill>
              <a:ea typeface="Microsoft JhengHei UI" panose="020B0604030504040204" pitchFamily="34" charset="-120"/>
            </a:endParaRP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210DF639-277A-014A-F75D-E371ACDEAFF4}"/>
              </a:ext>
            </a:extLst>
          </p:cNvPr>
          <p:cNvSpPr txBox="1">
            <a:spLocks/>
          </p:cNvSpPr>
          <p:nvPr/>
        </p:nvSpPr>
        <p:spPr>
          <a:xfrm>
            <a:off x="838200" y="36473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/>
              <a:t>Future Directions</a:t>
            </a:r>
            <a:endParaRPr lang="en-GB" b="1" u="sng" dirty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6DD11B87-88B3-6C08-2697-296D6762FD4E}"/>
              </a:ext>
            </a:extLst>
          </p:cNvPr>
          <p:cNvSpPr txBox="1">
            <a:spLocks/>
          </p:cNvSpPr>
          <p:nvPr/>
        </p:nvSpPr>
        <p:spPr>
          <a:xfrm>
            <a:off x="702067" y="4091781"/>
            <a:ext cx="10515600" cy="266744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it-IT" sz="3200">
                <a:solidFill>
                  <a:schemeClr val="tx1"/>
                </a:solidFill>
                <a:ea typeface="Microsoft JhengHei UI" panose="020B0604030504040204" pitchFamily="34" charset="-120"/>
              </a:rPr>
              <a:t>Label a more accurate Istat's training set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it-IT" sz="3200">
                <a:solidFill>
                  <a:schemeClr val="tx1"/>
                </a:solidFill>
                <a:ea typeface="Microsoft JhengHei UI" panose="020B0604030504040204" pitchFamily="34" charset="-120"/>
              </a:rPr>
              <a:t>Adopt more powerful and "state-of-art" models in Sentimen Analysis such as Bert and its derivations. </a:t>
            </a:r>
            <a:endParaRPr lang="en-GB" sz="3200">
              <a:solidFill>
                <a:schemeClr val="tx1"/>
              </a:solidFill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5099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33196B-E8A8-EAA7-353B-7379D3F97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Conclusion</a:t>
            </a:r>
            <a:endParaRPr lang="en-GB" b="1" dirty="0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F0F2C31C-B53F-AC2B-9DE5-6022291D3728}"/>
              </a:ext>
            </a:extLst>
          </p:cNvPr>
          <p:cNvSpPr txBox="1">
            <a:spLocks/>
          </p:cNvSpPr>
          <p:nvPr/>
        </p:nvSpPr>
        <p:spPr>
          <a:xfrm>
            <a:off x="838200" y="1900894"/>
            <a:ext cx="10515600" cy="363975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it-IT" sz="3200" dirty="0">
                <a:solidFill>
                  <a:schemeClr val="tx1"/>
                </a:solidFill>
              </a:rPr>
              <a:t>The Index </a:t>
            </a:r>
            <a:r>
              <a:rPr lang="it-IT" sz="3200" dirty="0" err="1">
                <a:solidFill>
                  <a:schemeClr val="tx1"/>
                </a:solidFill>
              </a:rPr>
              <a:t>is</a:t>
            </a:r>
            <a:r>
              <a:rPr lang="it-IT" sz="3200" dirty="0">
                <a:solidFill>
                  <a:schemeClr val="tx1"/>
                </a:solidFill>
              </a:rPr>
              <a:t> </a:t>
            </a:r>
            <a:r>
              <a:rPr lang="it-IT" sz="3200" dirty="0" err="1">
                <a:solidFill>
                  <a:schemeClr val="tx1"/>
                </a:solidFill>
              </a:rPr>
              <a:t>able</a:t>
            </a:r>
            <a:r>
              <a:rPr lang="it-IT" sz="3200" dirty="0">
                <a:solidFill>
                  <a:schemeClr val="tx1"/>
                </a:solidFill>
              </a:rPr>
              <a:t> to </a:t>
            </a:r>
            <a:r>
              <a:rPr lang="it-IT" sz="3200" dirty="0" err="1">
                <a:solidFill>
                  <a:schemeClr val="tx1"/>
                </a:solidFill>
              </a:rPr>
              <a:t>capture</a:t>
            </a:r>
            <a:r>
              <a:rPr lang="it-IT" sz="3200" dirty="0">
                <a:solidFill>
                  <a:schemeClr val="tx1"/>
                </a:solidFill>
              </a:rPr>
              <a:t> a </a:t>
            </a:r>
            <a:r>
              <a:rPr lang="it-IT" sz="3200" dirty="0" err="1">
                <a:solidFill>
                  <a:schemeClr val="tx1"/>
                </a:solidFill>
              </a:rPr>
              <a:t>decline</a:t>
            </a:r>
            <a:r>
              <a:rPr lang="it-IT" sz="3200" dirty="0">
                <a:solidFill>
                  <a:schemeClr val="tx1"/>
                </a:solidFill>
              </a:rPr>
              <a:t> in the sentiment following the Covid </a:t>
            </a:r>
            <a:r>
              <a:rPr lang="it-IT" sz="3200" dirty="0" err="1">
                <a:solidFill>
                  <a:schemeClr val="tx1"/>
                </a:solidFill>
              </a:rPr>
              <a:t>outbreak</a:t>
            </a:r>
            <a:r>
              <a:rPr lang="it-IT" sz="3200" dirty="0">
                <a:solidFill>
                  <a:schemeClr val="tx1"/>
                </a:solidFill>
              </a:rPr>
              <a:t> in </a:t>
            </a:r>
            <a:r>
              <a:rPr lang="it-IT" sz="3200" dirty="0" err="1">
                <a:solidFill>
                  <a:schemeClr val="tx1"/>
                </a:solidFill>
              </a:rPr>
              <a:t>Italy</a:t>
            </a:r>
            <a:endParaRPr lang="it-IT" sz="3200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it-IT" sz="3200" dirty="0" err="1">
                <a:solidFill>
                  <a:schemeClr val="tx1"/>
                </a:solidFill>
              </a:rPr>
              <a:t>It</a:t>
            </a:r>
            <a:r>
              <a:rPr lang="it-IT" sz="3200" dirty="0">
                <a:solidFill>
                  <a:schemeClr val="tx1"/>
                </a:solidFill>
              </a:rPr>
              <a:t> </a:t>
            </a:r>
            <a:r>
              <a:rPr lang="it-IT" sz="3200" dirty="0" err="1">
                <a:solidFill>
                  <a:schemeClr val="tx1"/>
                </a:solidFill>
              </a:rPr>
              <a:t>is</a:t>
            </a:r>
            <a:r>
              <a:rPr lang="it-IT" sz="3200" dirty="0">
                <a:solidFill>
                  <a:schemeClr val="tx1"/>
                </a:solidFill>
              </a:rPr>
              <a:t> a </a:t>
            </a:r>
            <a:r>
              <a:rPr lang="it-IT" sz="3200" dirty="0" err="1">
                <a:solidFill>
                  <a:schemeClr val="tx1"/>
                </a:solidFill>
              </a:rPr>
              <a:t>timely</a:t>
            </a:r>
            <a:r>
              <a:rPr lang="it-IT" sz="3200" dirty="0">
                <a:solidFill>
                  <a:schemeClr val="tx1"/>
                </a:solidFill>
              </a:rPr>
              <a:t> </a:t>
            </a:r>
            <a:r>
              <a:rPr lang="it-IT" sz="3200" dirty="0" err="1">
                <a:solidFill>
                  <a:schemeClr val="tx1"/>
                </a:solidFill>
              </a:rPr>
              <a:t>indicator</a:t>
            </a:r>
            <a:r>
              <a:rPr lang="it-IT" sz="3200" dirty="0">
                <a:solidFill>
                  <a:schemeClr val="tx1"/>
                </a:solidFill>
              </a:rPr>
              <a:t> of the public opinion on social media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it-IT" sz="3200" dirty="0">
                <a:solidFill>
                  <a:schemeClr val="tx1"/>
                </a:solidFill>
              </a:rPr>
              <a:t>Deep learning </a:t>
            </a:r>
            <a:r>
              <a:rPr lang="it-IT" sz="3200" dirty="0" err="1">
                <a:solidFill>
                  <a:schemeClr val="tx1"/>
                </a:solidFill>
              </a:rPr>
              <a:t>is</a:t>
            </a:r>
            <a:r>
              <a:rPr lang="it-IT" sz="3200" dirty="0">
                <a:solidFill>
                  <a:schemeClr val="tx1"/>
                </a:solidFill>
              </a:rPr>
              <a:t> a </a:t>
            </a:r>
            <a:r>
              <a:rPr lang="it-IT" sz="3200" dirty="0" err="1">
                <a:solidFill>
                  <a:schemeClr val="tx1"/>
                </a:solidFill>
              </a:rPr>
              <a:t>powerful</a:t>
            </a:r>
            <a:r>
              <a:rPr lang="it-IT" sz="3200" dirty="0">
                <a:solidFill>
                  <a:schemeClr val="tx1"/>
                </a:solidFill>
              </a:rPr>
              <a:t> tool </a:t>
            </a:r>
            <a:r>
              <a:rPr lang="it-IT" sz="3200" dirty="0" err="1">
                <a:solidFill>
                  <a:schemeClr val="tx1"/>
                </a:solidFill>
              </a:rPr>
              <a:t>that</a:t>
            </a:r>
            <a:r>
              <a:rPr lang="it-IT" sz="3200" dirty="0">
                <a:solidFill>
                  <a:schemeClr val="tx1"/>
                </a:solidFill>
              </a:rPr>
              <a:t> can be </a:t>
            </a:r>
            <a:r>
              <a:rPr lang="it-IT" sz="3200" dirty="0" err="1">
                <a:solidFill>
                  <a:schemeClr val="tx1"/>
                </a:solidFill>
              </a:rPr>
              <a:t>useful</a:t>
            </a:r>
            <a:r>
              <a:rPr lang="it-IT" sz="3200" dirty="0">
                <a:solidFill>
                  <a:schemeClr val="tx1"/>
                </a:solidFill>
              </a:rPr>
              <a:t> </a:t>
            </a:r>
            <a:r>
              <a:rPr lang="it-IT" sz="3200" dirty="0" err="1">
                <a:solidFill>
                  <a:schemeClr val="tx1"/>
                </a:solidFill>
              </a:rPr>
              <a:t>also</a:t>
            </a:r>
            <a:r>
              <a:rPr lang="it-IT" sz="3200" dirty="0">
                <a:solidFill>
                  <a:schemeClr val="tx1"/>
                </a:solidFill>
              </a:rPr>
              <a:t> in Official (</a:t>
            </a:r>
            <a:r>
              <a:rPr lang="it-IT" sz="3200" dirty="0" err="1">
                <a:solidFill>
                  <a:schemeClr val="tx1"/>
                </a:solidFill>
              </a:rPr>
              <a:t>experimental</a:t>
            </a:r>
            <a:r>
              <a:rPr lang="it-IT" sz="3200" dirty="0">
                <a:solidFill>
                  <a:schemeClr val="tx1"/>
                </a:solidFill>
              </a:rPr>
              <a:t>) </a:t>
            </a:r>
            <a:r>
              <a:rPr lang="it-IT" sz="3200" dirty="0" err="1">
                <a:solidFill>
                  <a:schemeClr val="tx1"/>
                </a:solidFill>
              </a:rPr>
              <a:t>Statistics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3949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1252</TotalTime>
  <Words>588</Words>
  <Application>Microsoft Office PowerPoint</Application>
  <PresentationFormat>Widescreen</PresentationFormat>
  <Paragraphs>66</Paragraphs>
  <Slides>15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3" baseType="lpstr">
      <vt:lpstr>Microsoft JhengHei UI</vt:lpstr>
      <vt:lpstr>Arial</vt:lpstr>
      <vt:lpstr>Calibri</vt:lpstr>
      <vt:lpstr>Calibri Light</vt:lpstr>
      <vt:lpstr>Cambria Math</vt:lpstr>
      <vt:lpstr>Verdana Pro Cond Light</vt:lpstr>
      <vt:lpstr>Wingdings</vt:lpstr>
      <vt:lpstr>Tema di Office</vt:lpstr>
      <vt:lpstr>Measuring the  Italian Sentiment  on the Economy</vt:lpstr>
      <vt:lpstr>Objective</vt:lpstr>
      <vt:lpstr>Existing research in the field: the SMEI</vt:lpstr>
      <vt:lpstr>ISTAT’s SMEI  January-May 2020:   the Covid outbreak in Italy</vt:lpstr>
      <vt:lpstr>Materials and Methods: BiLSTM</vt:lpstr>
      <vt:lpstr>Materials and Methods: FastText</vt:lpstr>
      <vt:lpstr>Why a new Index?</vt:lpstr>
      <vt:lpstr>Presentazione standard di PowerPoint</vt:lpstr>
      <vt:lpstr>The proposed Index (DL-SMEI)</vt:lpstr>
      <vt:lpstr>Presentazione standard di PowerPoint</vt:lpstr>
      <vt:lpstr>Focus on second period (8th March – 21st April) </vt:lpstr>
      <vt:lpstr>Maximum and Minimum points</vt:lpstr>
      <vt:lpstr>Second Maximum on the 6th March</vt:lpstr>
      <vt:lpstr>Limitations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LUCA STEFANELLI</dc:creator>
  <cp:lastModifiedBy>Francesco</cp:lastModifiedBy>
  <cp:revision>64</cp:revision>
  <cp:lastPrinted>2022-10-18T15:25:09Z</cp:lastPrinted>
  <dcterms:created xsi:type="dcterms:W3CDTF">2022-10-18T14:51:43Z</dcterms:created>
  <dcterms:modified xsi:type="dcterms:W3CDTF">2025-11-10T19:24:54Z</dcterms:modified>
</cp:coreProperties>
</file>